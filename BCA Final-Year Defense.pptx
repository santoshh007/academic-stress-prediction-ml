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Aptos Bold" charset="1" panose="020B0004020202020204"/>
      <p:regular r:id="rId26"/>
    </p:embeddedFont>
    <p:embeddedFont>
      <p:font typeface="Brixton Bold" charset="1" panose="00000000000000000000"/>
      <p:regular r:id="rId27"/>
    </p:embeddedFont>
    <p:embeddedFont>
      <p:font typeface="Aptos" charset="1" panose="020B0004020202020204"/>
      <p:regular r:id="rId28"/>
    </p:embeddedFont>
    <p:embeddedFont>
      <p:font typeface="Arimo Bold" charset="1" panose="020B0704020202020204"/>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notesMasters/notesMaster1.xml" Type="http://schemas.openxmlformats.org/officeDocument/2006/relationships/notesMaster"/><Relationship Id="rId24" Target="theme/theme2.xml" Type="http://schemas.openxmlformats.org/officeDocument/2006/relationships/theme"/><Relationship Id="rId25" Target="notesSlides/notesSlide1.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notesSlides/notesSlide2.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notesSlides/notesSlide6.xml" Type="http://schemas.openxmlformats.org/officeDocument/2006/relationships/notesSlide"/><Relationship Id="rId35" Target="notesSlides/notesSlide7.xml" Type="http://schemas.openxmlformats.org/officeDocument/2006/relationships/notesSlide"/><Relationship Id="rId36" Target="notesSlides/notesSlide8.xml" Type="http://schemas.openxmlformats.org/officeDocument/2006/relationships/notesSlide"/><Relationship Id="rId37" Target="notesSlides/notesSlide9.xml" Type="http://schemas.openxmlformats.org/officeDocument/2006/relationships/notesSlide"/><Relationship Id="rId38" Target="notesSlides/notesSlide10.xml" Type="http://schemas.openxmlformats.org/officeDocument/2006/relationships/notesSlide"/><Relationship Id="rId39" Target="notesSlides/notesSlide11.xml" Type="http://schemas.openxmlformats.org/officeDocument/2006/relationships/notesSlide"/><Relationship Id="rId4" Target="theme/theme1.xml" Type="http://schemas.openxmlformats.org/officeDocument/2006/relationships/theme"/><Relationship Id="rId40" Target="notesSlides/notesSlide12.xml" Type="http://schemas.openxmlformats.org/officeDocument/2006/relationships/notesSlide"/><Relationship Id="rId41" Target="notesSlides/notesSlide13.xml" Type="http://schemas.openxmlformats.org/officeDocument/2006/relationships/notesSlide"/><Relationship Id="rId42" Target="notesSlides/notesSlide14.xml" Type="http://schemas.openxmlformats.org/officeDocument/2006/relationships/notesSlide"/><Relationship Id="rId43" Target="notesSlides/notesSlide15.xml" Type="http://schemas.openxmlformats.org/officeDocument/2006/relationships/notesSlide"/><Relationship Id="rId44" Target="notesSlides/notesSlide16.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morning, respected supervisors, faculty members, and guests. We are Santosh Shrestha and Saroj Lamichhane. Today we present our BCA final-year project, titled 'Machine Learning-Based Prediction of Academic Stress Among Undergraduate Students in Nepal.' This work was carried out under the supervision of Mr. Sulav Shrestha at Xavier International College, Tribhuvan University."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presentation has eight parts: the context and problem, our research question, objectives, methodology, data and pipeline, models and results, the synthetic validation experiment, explainability and the Streamlit prototype, and finally our conclusions and future work."</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"Academic stress is a significant and measurable challenge among undergraduate students. Students face pressures from academic workload, examinations, financial concerns, career uncertainty, and personal responsibilities. Prolonged stress can affect performance, sleep, and mental health.</a:t>
            </a:r>
          </a:p>
          <a:p>
            <a:r>
              <a:rPr lang="en-US"/>
              <a:t/>
            </a:r>
          </a:p>
          <a:p>
            <a:r>
              <a:rPr lang="en-US"/>
              <a:t>In this study, we collected 39 genuine survey responses from undergraduate students in Nepal. Each respondent answered ten stress-assessment questions on a five-point scale, along with questions about demographics, academic habits, lifestyle, and psychosocial factors.</a:t>
            </a:r>
          </a:p>
          <a:p>
            <a:r>
              <a:rPr lang="en-US"/>
              <a:t/>
            </a:r>
          </a:p>
          <a:p>
            <a:r>
              <a:rPr lang="en-US"/>
              <a:t>Our goal was to investigate whether this kind of routinely collected student information can be used to predict academic stress levels — and to be honest about what such a small sample can and cannot tell us."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central research question is this: Can routinely collected student information predict academic stress reliably, without learning patterns that fail outside the training sample?</a:t>
            </a:r>
          </a:p>
          <a:p>
            <a:r>
              <a:rPr lang="en-US"/>
              <a:t/>
            </a:r>
          </a:p>
          <a:p>
            <a:r>
              <a:rPr lang="en-US"/>
              <a:t>This second part is important. It's not enough to build a model that fits the training data well. We need to know whether it actually generalizes to new students. That's the question our project was designed to answer rigorously."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had seven specific objectives:</a:t>
            </a:r>
          </a:p>
          <a:p>
            <a:r>
              <a:rPr lang="en-US"/>
              <a:t/>
            </a:r>
          </a:p>
          <a:p>
            <a:r>
              <a:rPr lang="en-US"/>
              <a:t>First, construct a reproducible academic stress target from the ten stress questions.</a:t>
            </a:r>
          </a:p>
          <a:p>
            <a:r>
              <a:rPr lang="en-US"/>
              <a:t/>
            </a:r>
          </a:p>
          <a:p>
            <a:r>
              <a:rPr lang="en-US"/>
              <a:t>Second, prepare leakage-safe features so that no information from the target leaks into the predictors.</a:t>
            </a:r>
          </a:p>
          <a:p>
            <a:r>
              <a:rPr lang="en-US"/>
              <a:t/>
            </a:r>
          </a:p>
          <a:p>
            <a:r>
              <a:rPr lang="en-US"/>
              <a:t>Third, compare seven classification models plus a Dummy baseline.</a:t>
            </a:r>
          </a:p>
          <a:p>
            <a:r>
              <a:rPr lang="en-US"/>
              <a:t/>
            </a:r>
          </a:p>
          <a:p>
            <a:r>
              <a:rPr lang="en-US"/>
              <a:t>Fourth, evaluate generalization using five-fold cross-validation and a held-out test set.</a:t>
            </a:r>
          </a:p>
          <a:p>
            <a:r>
              <a:rPr lang="en-US"/>
              <a:t/>
            </a:r>
          </a:p>
          <a:p>
            <a:r>
              <a:rPr lang="en-US"/>
              <a:t>Fifth, test held-out generalization to see how the model performs on unseen students.</a:t>
            </a:r>
          </a:p>
          <a:p>
            <a:r>
              <a:rPr lang="en-US"/>
              <a:t/>
            </a:r>
          </a:p>
          <a:p>
            <a:r>
              <a:rPr lang="en-US"/>
              <a:t>Sixth, explain predictions using SHAP and analyze errors.</a:t>
            </a:r>
          </a:p>
          <a:p>
            <a:r>
              <a:rPr lang="en-US"/>
              <a:t/>
            </a:r>
          </a:p>
          <a:p>
            <a:r>
              <a:rPr lang="en-US"/>
              <a:t>And seventh, deliver an interactive Streamlit research prototype.</a:t>
            </a:r>
          </a:p>
          <a:p>
            <a:r>
              <a:rPr lang="en-US"/>
              <a:t/>
            </a:r>
          </a:p>
          <a:p>
            <a:r>
              <a:rPr lang="en-US"/>
              <a:t>Together, these objectives form a complete machine learning research workflow."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followed an Agile and iterative development approach over 16 weeks. The workflow moved from planning and survey design, to data preparation, model training, evaluation, explainability, and finally the prototype.</a:t>
            </a:r>
          </a:p>
          <a:p>
            <a:r>
              <a:rPr lang="en-US"/>
              <a:t/>
            </a:r>
          </a:p>
          <a:p>
            <a:r>
              <a:rPr lang="en-US"/>
              <a:t>After the primary 16-week pipeline was complete, we also ran a supplementary synthetic validation experiment. That experiment is what we'll talk about later — it was a diagnostic step to check whether our pipeline itself was correct."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real dataset contains 39 genuine responses, 32 cleaned columns, and 37 final model features.</a:t>
            </a:r>
          </a:p>
          <a:p>
            <a:r>
              <a:rPr lang="en-US"/>
              <a:t/>
            </a:r>
          </a:p>
          <a:p>
            <a:r>
              <a:rPr lang="en-US"/>
              <a:t>Notice this number: the feature-to-sample ratio is approximately 0.95. This is a red flag in machine learning. It means we have almost as many features as we have observations. This is the central limitation of our study — and it drives everything else we'll present.</a:t>
            </a:r>
          </a:p>
          <a:p>
            <a:r>
              <a:rPr lang="en-US"/>
              <a:t/>
            </a:r>
          </a:p>
          <a:p>
            <a:r>
              <a:rPr lang="en-US"/>
              <a:t>Our survey covered demographics, academics, lifestyle, and psychosocial factors. The ten stress questions were scored on a 1-to-5 scale. We reverse-scored four positively worded questions so that all ten questions point in the same direction — higher score means more stress.</a:t>
            </a:r>
          </a:p>
          <a:p>
            <a:r>
              <a:rPr lang="en-US"/>
              <a:t/>
            </a:r>
          </a:p>
          <a:p>
            <a:r>
              <a:rPr lang="en-US"/>
              <a:t>The target was constructed before any modeling, to prevent outcome leakage."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preprocessing pipeline is intentionally leakage-safe. This is one of the most important design principles in machine learning, and we want to emphasize it.</a:t>
            </a:r>
          </a:p>
          <a:p>
            <a:r>
              <a:rPr lang="en-US"/>
              <a:t/>
            </a:r>
          </a:p>
          <a:p>
            <a:r>
              <a:rPr lang="en-US"/>
              <a:t>The pipeline starts with the anonymous survey, constructs the target, applies ordinal and one-hot encoding, splits the data into training and test sets, then fits the scaler only on the training data, and finally evaluates on held-out data.</a:t>
            </a:r>
          </a:p>
          <a:p>
            <a:r>
              <a:rPr lang="en-US"/>
              <a:t/>
            </a:r>
          </a:p>
          <a:p>
            <a:r>
              <a:rPr lang="en-US"/>
              <a:t>The key point is this: the test set never informs feature preparation or model fitting. If we had fit the scaler on the full dataset, we would have leaked test information into training. We didn't do that — all learned transformations are fit on training folds only."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compared seven classifiers: Logistic Regression, Decision Tree, Random Forest, XGBoost — which is a gradient boosting implementation — Support Vector Machine, K-Nearest Neighbours, and Naive Bayes. We also included a Dummy baseline, which always predicts the majority class. This gives us a lower bound — any real model should clearly beat it.</a:t>
            </a:r>
          </a:p>
          <a:p>
            <a:r>
              <a:rPr lang="en-US"/>
              <a:t/>
            </a:r>
          </a:p>
          <a:p>
            <a:r>
              <a:rPr lang="en-US"/>
              <a:t>Based on our cross-validation results, the Decision Tree was selected as the final model. It had the highest five-fold cross-validation Macro F1 score. That's the model we carried forward into further analysis and the Streamlit prototype."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 we show the cross-validation results for the Decision Tree and the Dummy baseline.</a:t>
            </a:r>
          </a:p>
          <a:p>
            <a:r>
              <a:rPr lang="en-US"/>
              <a:t/>
            </a:r>
          </a:p>
          <a:p>
            <a:r>
              <a:rPr lang="en-US"/>
              <a:t>The Decision Tree achieved a five-fold CV Macro F1 of 0.562. The Dummy baseline achieved 0.184.</a:t>
            </a:r>
          </a:p>
          <a:p>
            <a:r>
              <a:rPr lang="en-US"/>
              <a:t/>
            </a:r>
          </a:p>
          <a:p>
            <a:r>
              <a:rPr lang="en-US"/>
              <a:t>So the Decision Tree clearly outperformed the baseline — 0.562 versus 0.184. This is our strongest cross-validation result. But cross-validation alone is not enough. We need to check held-out performance.</a:t>
            </a:r>
          </a:p>
          <a:p>
            <a:r>
              <a:rPr lang="en-US"/>
              <a:t/>
            </a:r>
          </a:p>
          <a:p>
            <a:r>
              <a:rPr lang="en-US"/>
              <a:t>We only show two models on this slide because only the selected model and the baseline were evaluated on the held-out test set. This is deliberate — evaluating many models on the same small test set would risk overfitting to the test split."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 here is the honest finding of our real-data experiment.</a:t>
            </a:r>
          </a:p>
          <a:p>
            <a:r>
              <a:rPr lang="en-US"/>
              <a:t/>
            </a:r>
          </a:p>
          <a:p>
            <a:r>
              <a:rPr lang="en-US"/>
              <a:t>The Decision Tree achieved CV Macro F1 of 0.562. But when we evaluated it on the held-out test set of eight observations, the Macro F1 dropped to 0.267.</a:t>
            </a:r>
          </a:p>
          <a:p>
            <a:r>
              <a:rPr lang="en-US"/>
              <a:t/>
            </a:r>
          </a:p>
          <a:p>
            <a:r>
              <a:rPr lang="en-US"/>
              <a:t>This is a substantial generalization gap. It indicates overfitting — the model learned patterns in the training data that do not transfer to unseen students.</a:t>
            </a:r>
          </a:p>
          <a:p>
            <a:r>
              <a:rPr lang="en-US"/>
              <a:t/>
            </a:r>
          </a:p>
          <a:p>
            <a:r>
              <a:rPr lang="en-US"/>
              <a:t>With 31 training samples and 37 features, this is not surprising. The model has more degrees of freedom than data to constrain them. This finding drove our next experiment."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test whether we could reduce overfitting, we constrained the Decision Tree with maximum depth of 3 and minimum samples per leaf of 3.</a:t>
            </a:r>
          </a:p>
          <a:p>
            <a:r>
              <a:rPr lang="en-US"/>
              <a:t/>
            </a:r>
          </a:p>
          <a:p>
            <a:r>
              <a:rPr lang="en-US"/>
              <a:t>On the same held-out test set, accuracy improved by 0.125, and Macro F1 improved by 0.090.</a:t>
            </a:r>
          </a:p>
          <a:p>
            <a:r>
              <a:rPr lang="en-US"/>
              <a:t/>
            </a:r>
          </a:p>
          <a:p>
            <a:r>
              <a:rPr lang="en-US"/>
              <a:t>So the constraint helped. But we want to be careful — the test set has only eight observations. A single prediction changes accuracy by 12.5 percentage points. So this improvement is real on this split, but it should be treated as preliminary, not as proof that constrained trees are always better."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"Now the key diagnostic experiment. We wanted to know: was our poor real-data generalization because of methodology, or because of sample size?</a:t>
            </a:r>
          </a:p>
          <a:p>
            <a:r>
              <a:rPr lang="en-US"/>
              <a:t/>
            </a:r>
          </a:p>
          <a:p>
            <a:r>
              <a:rPr lang="en-US"/>
              <a:t>To answer this, we ran the identical pipeline — the same preprocessing, the same seven models, the same evaluation — on a synthetic dataset of 1,000 rows generated by a Large Language Model.</a:t>
            </a:r>
          </a:p>
          <a:p>
            <a:r>
              <a:rPr lang="en-US"/>
              <a:t/>
            </a:r>
          </a:p>
          <a:p>
            <a:r>
              <a:rPr lang="en-US"/>
              <a:t>The results are striking. On real data, the mean F1 across models was 0.366. On synthetic data, the mean F1 rose to 0.701. That's a 34-point improvement.</a:t>
            </a:r>
          </a:p>
          <a:p>
            <a:r>
              <a:rPr lang="en-US"/>
              <a:t/>
            </a:r>
          </a:p>
          <a:p>
            <a:r>
              <a:rPr lang="en-US"/>
              <a:t>The best model on synthetic data was Random Forest, with F1 = 0.744. Interestingly, the best model on real data was Decision Tree — this suggests that model ranking is also sensitive to sample size.</a:t>
            </a:r>
          </a:p>
          <a:p>
            <a:r>
              <a:rPr lang="en-US"/>
              <a:t/>
            </a:r>
          </a:p>
          <a:p>
            <a:r>
              <a:rPr lang="en-US"/>
              <a:t>The conclusion is clear: the pipeline is methodologically correct. Sample size, not methodology, is the primary constraint.</a:t>
            </a:r>
          </a:p>
          <a:p>
            <a:r>
              <a:rPr lang="en-US"/>
              <a:t/>
            </a:r>
          </a:p>
          <a:p>
            <a:r>
              <a:rPr lang="en-US"/>
              <a:t>We must emphasize: the synthetic data is LLM-generated. It's used only for pipeline validation. We make no claims about real students from this experiment."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"Next, we used SHAP to understand which features the Decision Tree was using.</a:t>
            </a:r>
          </a:p>
          <a:p>
            <a:r>
              <a:rPr lang="en-US"/>
              <a:t/>
            </a:r>
          </a:p>
          <a:p>
            <a:r>
              <a:rPr lang="en-US"/>
              <a:t>The top features by mean absolute SHAP value were: academic life satisfaction, social support, gender, academic performance, and CGPA.</a:t>
            </a:r>
          </a:p>
          <a:p>
            <a:r>
              <a:rPr lang="en-US"/>
              <a:t/>
            </a:r>
          </a:p>
          <a:p>
            <a:r>
              <a:rPr lang="en-US"/>
              <a:t>However, we treat these as exploratory, not causal. Some features — like 'university Sudurpaschim' — may appear important just because the sample has very few students from that category. We don't claim SHAP reveals causal relationships.</a:t>
            </a:r>
          </a:p>
          <a:p>
            <a:r>
              <a:rPr lang="en-US"/>
              <a:t/>
            </a:r>
          </a:p>
          <a:p>
            <a:r>
              <a:rPr lang="en-US"/>
              <a:t>On error analysis: the model made six errors on the eight held-out observations. Importantly, all six errors were between adjacent classes — either Low↔Moderate or Moderate↔High. We never confused Low with High. This suggests the model's class ordering is meaningful, even though its accuracy is weak.</a:t>
            </a:r>
          </a:p>
          <a:p>
            <a:r>
              <a:rPr lang="en-US"/>
              <a:t/>
            </a:r>
          </a:p>
          <a:p>
            <a:r>
              <a:rPr lang="en-US"/>
              <a:t>But we also found the model was overconfident — mean confidence on incorrect predictions was 0.945. This is another sign of overfitting."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"Finally, we delivered a Streamlit research prototype. This is the practical output of the project.</a:t>
            </a:r>
          </a:p>
          <a:p>
            <a:r>
              <a:rPr lang="en-US"/>
              <a:t/>
            </a:r>
          </a:p>
          <a:p>
            <a:r>
              <a:rPr lang="en-US"/>
              <a:t>Users enter 21 pieces of information — demographics, academic habits, lifestyle, and psychosocial factors. The application loads the trained Decision Tree and the fitted scaler, and returns a predicted stress level: Low, Moderate, or High.</a:t>
            </a:r>
          </a:p>
          <a:p>
            <a:r>
              <a:rPr lang="en-US"/>
              <a:t/>
            </a:r>
          </a:p>
          <a:p>
            <a:r>
              <a:rPr lang="en-US"/>
              <a:t>The prototype also generates personalized stress-reduction suggestions based on the user's specific answers. It displays the Nepal Mental Health Helpline number, and it can store anonymous responses in a local SQLite database for future research.</a:t>
            </a:r>
          </a:p>
          <a:p>
            <a:r>
              <a:rPr lang="en-US"/>
              <a:t/>
            </a:r>
          </a:p>
          <a:p>
            <a:r>
              <a:rPr lang="en-US"/>
              <a:t>Critically, the prototype is a research demonstration — not a diagnostic tool. Every screen displays a warning that the model is unreliable and not intended for clinical or high-stakes decisions. This is deliberate."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conclude:</a:t>
            </a:r>
          </a:p>
          <a:p>
            <a:r>
              <a:rPr lang="en-US"/>
              <a:t/>
            </a:r>
          </a:p>
          <a:p>
            <a:r>
              <a:rPr lang="en-US"/>
              <a:t>Our final selected model is the Decision Tree classifier, trained on 39 genuine responses. We built an end-to-end, leakage-safe pipeline from survey data through to a working Streamlit prototype.</a:t>
            </a:r>
          </a:p>
          <a:p>
            <a:r>
              <a:rPr lang="en-US"/>
              <a:t/>
            </a:r>
          </a:p>
          <a:p>
            <a:r>
              <a:rPr lang="en-US"/>
              <a:t>The real-data experiment showed weak held-out generalization: CV F1 of 0.562, held-out F1 of 0.267. Constraining the tree improved held-out F1 to 0.357.</a:t>
            </a:r>
          </a:p>
          <a:p>
            <a:r>
              <a:rPr lang="en-US"/>
              <a:t/>
            </a:r>
          </a:p>
          <a:p>
            <a:r>
              <a:rPr lang="en-US"/>
              <a:t>The synthetic validation experiment demonstrated that with 10 times more data, the same pipeline achieves F1 above 0.70. This confirms that sample size, not methodology, is the primary constraint.</a:t>
            </a:r>
          </a:p>
          <a:p>
            <a:r>
              <a:rPr lang="en-US"/>
              <a:t/>
            </a:r>
          </a:p>
          <a:p>
            <a:r>
              <a:rPr lang="en-US"/>
              <a:t>For future work, our priority is to collect 300–500 genuine responses and re-run the pipeline. We also plan to deploy the Streamlit prototype publicly to accelerate data collection.</a:t>
            </a:r>
          </a:p>
          <a:p>
            <a:r>
              <a:rPr lang="en-US"/>
              <a:t/>
            </a:r>
          </a:p>
          <a:p>
            <a:r>
              <a:rPr lang="en-US"/>
              <a:t>Thank you. We're happy to take questions."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953750" y="0"/>
            <a:ext cx="7334250" cy="10287000"/>
          </a:xfrm>
          <a:custGeom>
            <a:avLst/>
            <a:gdLst/>
            <a:ahLst/>
            <a:cxnLst/>
            <a:rect r="r" b="b" t="t" l="l"/>
            <a:pathLst>
              <a:path h="10287000" w="7334250">
                <a:moveTo>
                  <a:pt x="0" y="0"/>
                </a:moveTo>
                <a:lnTo>
                  <a:pt x="7334250" y="0"/>
                </a:lnTo>
                <a:lnTo>
                  <a:pt x="7334250" y="10287000"/>
                </a:lnTo>
                <a:lnTo>
                  <a:pt x="0" y="10287000"/>
                </a:lnTo>
                <a:lnTo>
                  <a:pt x="0" y="0"/>
                </a:lnTo>
                <a:close/>
              </a:path>
            </a:pathLst>
          </a:custGeom>
          <a:blipFill>
            <a:blip r:embed="rId3"/>
            <a:stretch>
              <a:fillRect l="0" t="-32" r="0" b="-32"/>
            </a:stretch>
          </a:blipFill>
          <a:ln cap="sq">
            <a:noFill/>
            <a:prstDash val="solid"/>
            <a:miter/>
          </a:ln>
        </p:spPr>
      </p:sp>
      <p:grpSp>
        <p:nvGrpSpPr>
          <p:cNvPr name="Group 3" id="3"/>
          <p:cNvGrpSpPr/>
          <p:nvPr/>
        </p:nvGrpSpPr>
        <p:grpSpPr>
          <a:xfrm rot="0">
            <a:off x="10001250" y="0"/>
            <a:ext cx="8286750" cy="10287000"/>
            <a:chOff x="0" y="0"/>
            <a:chExt cx="11049000" cy="13716000"/>
          </a:xfrm>
        </p:grpSpPr>
        <p:sp>
          <p:nvSpPr>
            <p:cNvPr name="Freeform 4" id="4"/>
            <p:cNvSpPr/>
            <p:nvPr/>
          </p:nvSpPr>
          <p:spPr>
            <a:xfrm flipH="false" flipV="false" rot="0">
              <a:off x="0" y="0"/>
              <a:ext cx="11049000" cy="13716000"/>
            </a:xfrm>
            <a:custGeom>
              <a:avLst/>
              <a:gdLst/>
              <a:ahLst/>
              <a:cxnLst/>
              <a:rect r="r" b="b" t="t" l="l"/>
              <a:pathLst>
                <a:path h="13716000" w="11049000">
                  <a:moveTo>
                    <a:pt x="0" y="0"/>
                  </a:moveTo>
                  <a:lnTo>
                    <a:pt x="11049000" y="0"/>
                  </a:lnTo>
                  <a:lnTo>
                    <a:pt x="11049000" y="13716000"/>
                  </a:lnTo>
                  <a:lnTo>
                    <a:pt x="0" y="13716000"/>
                  </a:lnTo>
                  <a:close/>
                </a:path>
              </a:pathLst>
            </a:custGeom>
            <a:solidFill>
              <a:srgbClr val="1F4E79">
                <a:alpha val="17647"/>
              </a:srgbClr>
            </a:solidFill>
            <a:ln cap="sq">
              <a:noFill/>
              <a:prstDash val="solid"/>
              <a:miter/>
            </a:ln>
          </p:spPr>
        </p:sp>
        <p:sp>
          <p:nvSpPr>
            <p:cNvPr name="TextBox 5" id="5"/>
            <p:cNvSpPr txBox="true"/>
            <p:nvPr/>
          </p:nvSpPr>
          <p:spPr>
            <a:xfrm>
              <a:off x="0" y="-38100"/>
              <a:ext cx="11049000" cy="13754100"/>
            </a:xfrm>
            <a:prstGeom prst="rect">
              <a:avLst/>
            </a:prstGeom>
          </p:spPr>
          <p:txBody>
            <a:bodyPr anchor="ctr" rtlCol="false" tIns="50800" lIns="50800" bIns="50800" rIns="50800"/>
            <a:lstStyle/>
            <a:p>
              <a:pPr algn="l">
                <a:lnSpc>
                  <a:spcPts val="1679"/>
                </a:lnSpc>
              </a:pPr>
            </a:p>
          </p:txBody>
        </p:sp>
      </p:grpSp>
      <p:grpSp>
        <p:nvGrpSpPr>
          <p:cNvPr name="Group 6" id="6"/>
          <p:cNvGrpSpPr/>
          <p:nvPr/>
        </p:nvGrpSpPr>
        <p:grpSpPr>
          <a:xfrm rot="0">
            <a:off x="0" y="0"/>
            <a:ext cx="190500" cy="10287000"/>
            <a:chOff x="0" y="0"/>
            <a:chExt cx="254000" cy="13716000"/>
          </a:xfrm>
        </p:grpSpPr>
        <p:sp>
          <p:nvSpPr>
            <p:cNvPr name="Freeform 7" id="7"/>
            <p:cNvSpPr/>
            <p:nvPr/>
          </p:nvSpPr>
          <p:spPr>
            <a:xfrm flipH="false" flipV="false" rot="0">
              <a:off x="0" y="0"/>
              <a:ext cx="254000" cy="13716000"/>
            </a:xfrm>
            <a:custGeom>
              <a:avLst/>
              <a:gdLst/>
              <a:ahLst/>
              <a:cxnLst/>
              <a:rect r="r" b="b" t="t" l="l"/>
              <a:pathLst>
                <a:path h="13716000" w="254000">
                  <a:moveTo>
                    <a:pt x="0" y="0"/>
                  </a:moveTo>
                  <a:lnTo>
                    <a:pt x="254000" y="0"/>
                  </a:lnTo>
                  <a:lnTo>
                    <a:pt x="254000" y="13716000"/>
                  </a:lnTo>
                  <a:lnTo>
                    <a:pt x="0" y="13716000"/>
                  </a:lnTo>
                  <a:close/>
                </a:path>
              </a:pathLst>
            </a:custGeom>
            <a:solidFill>
              <a:srgbClr val="1F4E79"/>
            </a:solidFill>
            <a:ln cap="sq">
              <a:noFill/>
              <a:prstDash val="solid"/>
              <a:miter/>
            </a:ln>
          </p:spPr>
        </p:sp>
        <p:sp>
          <p:nvSpPr>
            <p:cNvPr name="TextBox 8" id="8"/>
            <p:cNvSpPr txBox="true"/>
            <p:nvPr/>
          </p:nvSpPr>
          <p:spPr>
            <a:xfrm>
              <a:off x="0" y="-38100"/>
              <a:ext cx="254000" cy="13754100"/>
            </a:xfrm>
            <a:prstGeom prst="rect">
              <a:avLst/>
            </a:prstGeom>
          </p:spPr>
          <p:txBody>
            <a:bodyPr anchor="ctr" rtlCol="false" tIns="50800" lIns="50800" bIns="50800" rIns="50800"/>
            <a:lstStyle/>
            <a:p>
              <a:pPr algn="l">
                <a:lnSpc>
                  <a:spcPts val="1679"/>
                </a:lnSpc>
              </a:pPr>
            </a:p>
          </p:txBody>
        </p:sp>
      </p:grpSp>
      <p:sp>
        <p:nvSpPr>
          <p:cNvPr name="TextBox 9" id="9"/>
          <p:cNvSpPr txBox="true"/>
          <p:nvPr/>
        </p:nvSpPr>
        <p:spPr>
          <a:xfrm rot="0">
            <a:off x="914400" y="914400"/>
            <a:ext cx="8572500" cy="306705"/>
          </a:xfrm>
          <a:prstGeom prst="rect">
            <a:avLst/>
          </a:prstGeom>
        </p:spPr>
        <p:txBody>
          <a:bodyPr anchor="t" rtlCol="false" tIns="0" lIns="0" bIns="0" rIns="0">
            <a:spAutoFit/>
          </a:bodyPr>
          <a:lstStyle/>
          <a:p>
            <a:pPr algn="l">
              <a:lnSpc>
                <a:spcPts val="2520"/>
              </a:lnSpc>
            </a:pPr>
            <a:r>
              <a:rPr lang="en-US" sz="1800" spc="144" b="true">
                <a:solidFill>
                  <a:srgbClr val="1F4E79"/>
                </a:solidFill>
                <a:latin typeface="Aptos Bold"/>
                <a:ea typeface="Aptos Bold"/>
                <a:cs typeface="Aptos Bold"/>
                <a:sym typeface="Aptos Bold"/>
              </a:rPr>
              <a:t>BACHELOR OF COMPUTER APPLICATION</a:t>
            </a:r>
          </a:p>
        </p:txBody>
      </p:sp>
      <p:sp>
        <p:nvSpPr>
          <p:cNvPr name="TextBox 10" id="10"/>
          <p:cNvSpPr txBox="true"/>
          <p:nvPr/>
        </p:nvSpPr>
        <p:spPr>
          <a:xfrm rot="0">
            <a:off x="914400" y="2000250"/>
            <a:ext cx="9620250" cy="1422182"/>
          </a:xfrm>
          <a:prstGeom prst="rect">
            <a:avLst/>
          </a:prstGeom>
        </p:spPr>
        <p:txBody>
          <a:bodyPr anchor="t" rtlCol="false" tIns="0" lIns="0" bIns="0" rIns="0">
            <a:spAutoFit/>
          </a:bodyPr>
          <a:lstStyle/>
          <a:p>
            <a:pPr algn="l">
              <a:lnSpc>
                <a:spcPts val="5407"/>
              </a:lnSpc>
            </a:pPr>
            <a:r>
              <a:rPr lang="en-US" sz="5150" b="true">
                <a:solidFill>
                  <a:srgbClr val="1F4E79"/>
                </a:solidFill>
                <a:latin typeface="Brixton Bold"/>
                <a:ea typeface="Brixton Bold"/>
                <a:cs typeface="Brixton Bold"/>
                <a:sym typeface="Brixton Bold"/>
              </a:rPr>
              <a:t>Machine Learning-Based Prediction of Academic Stress</a:t>
            </a:r>
          </a:p>
        </p:txBody>
      </p:sp>
      <p:sp>
        <p:nvSpPr>
          <p:cNvPr name="TextBox 11" id="11"/>
          <p:cNvSpPr txBox="true"/>
          <p:nvPr/>
        </p:nvSpPr>
        <p:spPr>
          <a:xfrm rot="0">
            <a:off x="914400" y="4867275"/>
            <a:ext cx="8572500" cy="418147"/>
          </a:xfrm>
          <a:prstGeom prst="rect">
            <a:avLst/>
          </a:prstGeom>
        </p:spPr>
        <p:txBody>
          <a:bodyPr anchor="t" rtlCol="false" tIns="0" lIns="0" bIns="0" rIns="0">
            <a:spAutoFit/>
          </a:bodyPr>
          <a:lstStyle/>
          <a:p>
            <a:pPr algn="l">
              <a:lnSpc>
                <a:spcPts val="3442"/>
              </a:lnSpc>
            </a:pPr>
            <a:r>
              <a:rPr lang="en-US" sz="2550">
                <a:solidFill>
                  <a:srgbClr val="17212B"/>
                </a:solidFill>
                <a:latin typeface="Aptos"/>
                <a:ea typeface="Aptos"/>
                <a:cs typeface="Aptos"/>
                <a:sym typeface="Aptos"/>
              </a:rPr>
              <a:t>Among Undergraduate Students in Nepal</a:t>
            </a:r>
          </a:p>
        </p:txBody>
      </p:sp>
      <p:sp>
        <p:nvSpPr>
          <p:cNvPr name="TextBox 12" id="12"/>
          <p:cNvSpPr txBox="true"/>
          <p:nvPr/>
        </p:nvSpPr>
        <p:spPr>
          <a:xfrm rot="0">
            <a:off x="914400" y="6638925"/>
            <a:ext cx="8572500" cy="366713"/>
          </a:xfrm>
          <a:prstGeom prst="rect">
            <a:avLst/>
          </a:prstGeom>
        </p:spPr>
        <p:txBody>
          <a:bodyPr anchor="t" rtlCol="false" tIns="0" lIns="0" bIns="0" rIns="0">
            <a:spAutoFit/>
          </a:bodyPr>
          <a:lstStyle/>
          <a:p>
            <a:pPr algn="l">
              <a:lnSpc>
                <a:spcPts val="3037"/>
              </a:lnSpc>
            </a:pPr>
            <a:r>
              <a:rPr lang="en-US" sz="2250" b="true">
                <a:solidFill>
                  <a:srgbClr val="17212B"/>
                </a:solidFill>
                <a:latin typeface="Aptos Bold"/>
                <a:ea typeface="Aptos Bold"/>
                <a:cs typeface="Aptos Bold"/>
                <a:sym typeface="Aptos Bold"/>
              </a:rPr>
              <a:t>Santosh Shrestha  •  Saroj Lamichhane</a:t>
            </a:r>
          </a:p>
        </p:txBody>
      </p:sp>
      <p:sp>
        <p:nvSpPr>
          <p:cNvPr name="TextBox 13" id="13"/>
          <p:cNvSpPr txBox="true"/>
          <p:nvPr/>
        </p:nvSpPr>
        <p:spPr>
          <a:xfrm rot="0">
            <a:off x="914400" y="7210425"/>
            <a:ext cx="8572500" cy="908685"/>
          </a:xfrm>
          <a:prstGeom prst="rect">
            <a:avLst/>
          </a:prstGeom>
        </p:spPr>
        <p:txBody>
          <a:bodyPr anchor="t" rtlCol="false" tIns="0" lIns="0" bIns="0" rIns="0">
            <a:spAutoFit/>
          </a:bodyPr>
          <a:lstStyle/>
          <a:p>
            <a:pPr algn="l">
              <a:lnSpc>
                <a:spcPts val="2430"/>
              </a:lnSpc>
            </a:pPr>
            <a:r>
              <a:rPr lang="en-US" sz="1800">
                <a:solidFill>
                  <a:srgbClr val="17212B"/>
                </a:solidFill>
                <a:latin typeface="Aptos"/>
                <a:ea typeface="Aptos"/>
                <a:cs typeface="Aptos"/>
                <a:sym typeface="Aptos"/>
              </a:rPr>
              <a:t>Xavier International College, Tribhuvan University, Nepal</a:t>
            </a:r>
          </a:p>
          <a:p>
            <a:pPr algn="l">
              <a:lnSpc>
                <a:spcPts val="2430"/>
              </a:lnSpc>
            </a:pPr>
            <a:r>
              <a:rPr lang="en-US" sz="1800">
                <a:solidFill>
                  <a:srgbClr val="17212B"/>
                </a:solidFill>
                <a:latin typeface="Aptos"/>
                <a:ea typeface="Aptos"/>
                <a:cs typeface="Aptos"/>
                <a:sym typeface="Aptos"/>
              </a:rPr>
              <a:t>BCA Final-Year Research Project</a:t>
            </a:r>
          </a:p>
          <a:p>
            <a:pPr algn="l">
              <a:lnSpc>
                <a:spcPts val="2430"/>
              </a:lnSpc>
            </a:pPr>
            <a:r>
              <a:rPr lang="en-US" sz="1800">
                <a:solidFill>
                  <a:srgbClr val="17212B"/>
                </a:solidFill>
                <a:latin typeface="Aptos"/>
                <a:ea typeface="Aptos"/>
                <a:cs typeface="Aptos"/>
                <a:sym typeface="Aptos"/>
              </a:rPr>
              <a:t>Supervisor: Sulav Shrestha</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14400" y="476250"/>
            <a:ext cx="16459200" cy="733425"/>
            <a:chOff x="0" y="0"/>
            <a:chExt cx="21945600" cy="977900"/>
          </a:xfrm>
        </p:grpSpPr>
        <p:sp>
          <p:nvSpPr>
            <p:cNvPr name="TextBox 3" id="3"/>
            <p:cNvSpPr txBox="true"/>
            <p:nvPr/>
          </p:nvSpPr>
          <p:spPr>
            <a:xfrm rot="0">
              <a:off x="0" y="38100"/>
              <a:ext cx="1016000" cy="363220"/>
            </a:xfrm>
            <a:prstGeom prst="rect">
              <a:avLst/>
            </a:prstGeom>
          </p:spPr>
          <p:txBody>
            <a:bodyPr anchor="t" rtlCol="false" tIns="0" lIns="0" bIns="0" rIns="0">
              <a:spAutoFit/>
            </a:bodyPr>
            <a:lstStyle/>
            <a:p>
              <a:pPr algn="l">
                <a:lnSpc>
                  <a:spcPts val="2310"/>
                </a:lnSpc>
              </a:pPr>
              <a:r>
                <a:rPr lang="en-US" sz="1650" spc="132" b="true">
                  <a:solidFill>
                    <a:srgbClr val="1F4E79"/>
                  </a:solidFill>
                  <a:latin typeface="Aptos Bold"/>
                  <a:ea typeface="Aptos Bold"/>
                  <a:cs typeface="Aptos Bold"/>
                  <a:sym typeface="Aptos Bold"/>
                </a:rPr>
                <a:t>01</a:t>
              </a:r>
            </a:p>
          </p:txBody>
        </p:sp>
        <p:sp>
          <p:nvSpPr>
            <p:cNvPr name="TextBox 4" id="4"/>
            <p:cNvSpPr txBox="true"/>
            <p:nvPr/>
          </p:nvSpPr>
          <p:spPr>
            <a:xfrm rot="0">
              <a:off x="1066800" y="28575"/>
              <a:ext cx="19050000" cy="668655"/>
            </a:xfrm>
            <a:prstGeom prst="rect">
              <a:avLst/>
            </a:prstGeom>
          </p:spPr>
          <p:txBody>
            <a:bodyPr anchor="t" rtlCol="false" tIns="0" lIns="0" bIns="0" rIns="0">
              <a:spAutoFit/>
            </a:bodyPr>
            <a:lstStyle/>
            <a:p>
              <a:pPr algn="l">
                <a:lnSpc>
                  <a:spcPts val="3622"/>
                </a:lnSpc>
              </a:pPr>
              <a:r>
                <a:rPr lang="en-US" sz="3450" b="true">
                  <a:solidFill>
                    <a:srgbClr val="1F4E79"/>
                  </a:solidFill>
                  <a:latin typeface="Arimo Bold"/>
                  <a:ea typeface="Arimo Bold"/>
                  <a:cs typeface="Arimo Bold"/>
                  <a:sym typeface="Arimo Bold"/>
                </a:rPr>
                <a:t>Agenda</a:t>
              </a:r>
            </a:p>
          </p:txBody>
        </p:sp>
        <p:sp>
          <p:nvSpPr>
            <p:cNvPr name="AutoShape 5" id="5"/>
            <p:cNvSpPr/>
            <p:nvPr/>
          </p:nvSpPr>
          <p:spPr>
            <a:xfrm>
              <a:off x="0" y="965200"/>
              <a:ext cx="21945600" cy="0"/>
            </a:xfrm>
            <a:prstGeom prst="line">
              <a:avLst/>
            </a:prstGeom>
            <a:ln cap="flat" w="25400">
              <a:solidFill>
                <a:srgbClr val="D9E1E8"/>
              </a:solidFill>
              <a:prstDash val="solid"/>
              <a:headEnd type="none" len="sm" w="sm"/>
              <a:tailEnd type="none" len="sm" w="sm"/>
            </a:ln>
          </p:spPr>
        </p:sp>
      </p:grpSp>
      <p:grpSp>
        <p:nvGrpSpPr>
          <p:cNvPr name="Group 6" id="6"/>
          <p:cNvGrpSpPr/>
          <p:nvPr/>
        </p:nvGrpSpPr>
        <p:grpSpPr>
          <a:xfrm rot="0">
            <a:off x="723900" y="1952625"/>
            <a:ext cx="3619500" cy="2047875"/>
            <a:chOff x="0" y="0"/>
            <a:chExt cx="4826000" cy="2730500"/>
          </a:xfrm>
        </p:grpSpPr>
        <p:sp>
          <p:nvSpPr>
            <p:cNvPr name="Freeform 7" id="7"/>
            <p:cNvSpPr/>
            <p:nvPr/>
          </p:nvSpPr>
          <p:spPr>
            <a:xfrm flipH="false" flipV="false" rot="0">
              <a:off x="0" y="0"/>
              <a:ext cx="4826000" cy="2730500"/>
            </a:xfrm>
            <a:custGeom>
              <a:avLst/>
              <a:gdLst/>
              <a:ahLst/>
              <a:cxnLst/>
              <a:rect r="r" b="b" t="t" l="l"/>
              <a:pathLst>
                <a:path h="2730500" w="4826000">
                  <a:moveTo>
                    <a:pt x="0" y="0"/>
                  </a:moveTo>
                  <a:lnTo>
                    <a:pt x="4826000" y="0"/>
                  </a:lnTo>
                  <a:lnTo>
                    <a:pt x="4826000" y="2730500"/>
                  </a:lnTo>
                  <a:lnTo>
                    <a:pt x="0" y="2730500"/>
                  </a:lnTo>
                  <a:close/>
                </a:path>
              </a:pathLst>
            </a:custGeom>
            <a:solidFill>
              <a:srgbClr val="EEF3F7"/>
            </a:solidFill>
            <a:ln cap="sq">
              <a:noFill/>
              <a:prstDash val="solid"/>
              <a:miter/>
            </a:ln>
          </p:spPr>
        </p:sp>
        <p:sp>
          <p:nvSpPr>
            <p:cNvPr name="TextBox 8" id="8"/>
            <p:cNvSpPr txBox="true"/>
            <p:nvPr/>
          </p:nvSpPr>
          <p:spPr>
            <a:xfrm>
              <a:off x="0" y="-38100"/>
              <a:ext cx="4826000" cy="2768600"/>
            </a:xfrm>
            <a:prstGeom prst="rect">
              <a:avLst/>
            </a:prstGeom>
          </p:spPr>
          <p:txBody>
            <a:bodyPr anchor="ctr" rtlCol="false" tIns="50800" lIns="50800" bIns="50800" rIns="50800"/>
            <a:lstStyle/>
            <a:p>
              <a:pPr algn="l">
                <a:lnSpc>
                  <a:spcPts val="1679"/>
                </a:lnSpc>
              </a:pPr>
            </a:p>
          </p:txBody>
        </p:sp>
      </p:grpSp>
      <p:grpSp>
        <p:nvGrpSpPr>
          <p:cNvPr name="Group 9" id="9"/>
          <p:cNvGrpSpPr/>
          <p:nvPr/>
        </p:nvGrpSpPr>
        <p:grpSpPr>
          <a:xfrm rot="0">
            <a:off x="4819650" y="1952625"/>
            <a:ext cx="3619500" cy="2047875"/>
            <a:chOff x="0" y="0"/>
            <a:chExt cx="4826000" cy="2730500"/>
          </a:xfrm>
        </p:grpSpPr>
        <p:sp>
          <p:nvSpPr>
            <p:cNvPr name="Freeform 10" id="10"/>
            <p:cNvSpPr/>
            <p:nvPr/>
          </p:nvSpPr>
          <p:spPr>
            <a:xfrm flipH="false" flipV="false" rot="0">
              <a:off x="0" y="0"/>
              <a:ext cx="4826000" cy="2730500"/>
            </a:xfrm>
            <a:custGeom>
              <a:avLst/>
              <a:gdLst/>
              <a:ahLst/>
              <a:cxnLst/>
              <a:rect r="r" b="b" t="t" l="l"/>
              <a:pathLst>
                <a:path h="2730500" w="4826000">
                  <a:moveTo>
                    <a:pt x="0" y="0"/>
                  </a:moveTo>
                  <a:lnTo>
                    <a:pt x="4826000" y="0"/>
                  </a:lnTo>
                  <a:lnTo>
                    <a:pt x="4826000" y="2730500"/>
                  </a:lnTo>
                  <a:lnTo>
                    <a:pt x="0" y="2730500"/>
                  </a:lnTo>
                  <a:close/>
                </a:path>
              </a:pathLst>
            </a:custGeom>
            <a:solidFill>
              <a:srgbClr val="EEF3F7"/>
            </a:solidFill>
            <a:ln cap="sq">
              <a:noFill/>
              <a:prstDash val="solid"/>
              <a:miter/>
            </a:ln>
          </p:spPr>
        </p:sp>
        <p:sp>
          <p:nvSpPr>
            <p:cNvPr name="TextBox 11" id="11"/>
            <p:cNvSpPr txBox="true"/>
            <p:nvPr/>
          </p:nvSpPr>
          <p:spPr>
            <a:xfrm>
              <a:off x="0" y="-38100"/>
              <a:ext cx="4826000" cy="2768600"/>
            </a:xfrm>
            <a:prstGeom prst="rect">
              <a:avLst/>
            </a:prstGeom>
          </p:spPr>
          <p:txBody>
            <a:bodyPr anchor="ctr" rtlCol="false" tIns="50800" lIns="50800" bIns="50800" rIns="50800"/>
            <a:lstStyle/>
            <a:p>
              <a:pPr algn="l">
                <a:lnSpc>
                  <a:spcPts val="1679"/>
                </a:lnSpc>
              </a:pPr>
            </a:p>
          </p:txBody>
        </p:sp>
      </p:grpSp>
      <p:grpSp>
        <p:nvGrpSpPr>
          <p:cNvPr name="Group 12" id="12"/>
          <p:cNvGrpSpPr/>
          <p:nvPr/>
        </p:nvGrpSpPr>
        <p:grpSpPr>
          <a:xfrm rot="0">
            <a:off x="8915400" y="1952625"/>
            <a:ext cx="3619500" cy="2047875"/>
            <a:chOff x="0" y="0"/>
            <a:chExt cx="4826000" cy="2730500"/>
          </a:xfrm>
        </p:grpSpPr>
        <p:sp>
          <p:nvSpPr>
            <p:cNvPr name="Freeform 13" id="13"/>
            <p:cNvSpPr/>
            <p:nvPr/>
          </p:nvSpPr>
          <p:spPr>
            <a:xfrm flipH="false" flipV="false" rot="0">
              <a:off x="0" y="0"/>
              <a:ext cx="4826000" cy="2730500"/>
            </a:xfrm>
            <a:custGeom>
              <a:avLst/>
              <a:gdLst/>
              <a:ahLst/>
              <a:cxnLst/>
              <a:rect r="r" b="b" t="t" l="l"/>
              <a:pathLst>
                <a:path h="2730500" w="4826000">
                  <a:moveTo>
                    <a:pt x="0" y="0"/>
                  </a:moveTo>
                  <a:lnTo>
                    <a:pt x="4826000" y="0"/>
                  </a:lnTo>
                  <a:lnTo>
                    <a:pt x="4826000" y="2730500"/>
                  </a:lnTo>
                  <a:lnTo>
                    <a:pt x="0" y="2730500"/>
                  </a:lnTo>
                  <a:close/>
                </a:path>
              </a:pathLst>
            </a:custGeom>
            <a:solidFill>
              <a:srgbClr val="EEF3F7"/>
            </a:solidFill>
            <a:ln cap="sq">
              <a:noFill/>
              <a:prstDash val="solid"/>
              <a:miter/>
            </a:ln>
          </p:spPr>
        </p:sp>
        <p:sp>
          <p:nvSpPr>
            <p:cNvPr name="TextBox 14" id="14"/>
            <p:cNvSpPr txBox="true"/>
            <p:nvPr/>
          </p:nvSpPr>
          <p:spPr>
            <a:xfrm>
              <a:off x="0" y="-38100"/>
              <a:ext cx="4826000" cy="2768600"/>
            </a:xfrm>
            <a:prstGeom prst="rect">
              <a:avLst/>
            </a:prstGeom>
          </p:spPr>
          <p:txBody>
            <a:bodyPr anchor="ctr" rtlCol="false" tIns="50800" lIns="50800" bIns="50800" rIns="50800"/>
            <a:lstStyle/>
            <a:p>
              <a:pPr algn="l">
                <a:lnSpc>
                  <a:spcPts val="1679"/>
                </a:lnSpc>
              </a:pPr>
            </a:p>
          </p:txBody>
        </p:sp>
      </p:grpSp>
      <p:grpSp>
        <p:nvGrpSpPr>
          <p:cNvPr name="Group 15" id="15"/>
          <p:cNvGrpSpPr/>
          <p:nvPr/>
        </p:nvGrpSpPr>
        <p:grpSpPr>
          <a:xfrm rot="0">
            <a:off x="13011150" y="1952625"/>
            <a:ext cx="3619500" cy="2047875"/>
            <a:chOff x="0" y="0"/>
            <a:chExt cx="4826000" cy="2730500"/>
          </a:xfrm>
        </p:grpSpPr>
        <p:sp>
          <p:nvSpPr>
            <p:cNvPr name="Freeform 16" id="16"/>
            <p:cNvSpPr/>
            <p:nvPr/>
          </p:nvSpPr>
          <p:spPr>
            <a:xfrm flipH="false" flipV="false" rot="0">
              <a:off x="0" y="0"/>
              <a:ext cx="4826000" cy="2730500"/>
            </a:xfrm>
            <a:custGeom>
              <a:avLst/>
              <a:gdLst/>
              <a:ahLst/>
              <a:cxnLst/>
              <a:rect r="r" b="b" t="t" l="l"/>
              <a:pathLst>
                <a:path h="2730500" w="4826000">
                  <a:moveTo>
                    <a:pt x="0" y="0"/>
                  </a:moveTo>
                  <a:lnTo>
                    <a:pt x="4826000" y="0"/>
                  </a:lnTo>
                  <a:lnTo>
                    <a:pt x="4826000" y="2730500"/>
                  </a:lnTo>
                  <a:lnTo>
                    <a:pt x="0" y="2730500"/>
                  </a:lnTo>
                  <a:close/>
                </a:path>
              </a:pathLst>
            </a:custGeom>
            <a:solidFill>
              <a:srgbClr val="EEF3F7"/>
            </a:solidFill>
            <a:ln cap="sq">
              <a:noFill/>
              <a:prstDash val="solid"/>
              <a:miter/>
            </a:ln>
          </p:spPr>
        </p:sp>
        <p:sp>
          <p:nvSpPr>
            <p:cNvPr name="TextBox 17" id="17"/>
            <p:cNvSpPr txBox="true"/>
            <p:nvPr/>
          </p:nvSpPr>
          <p:spPr>
            <a:xfrm>
              <a:off x="0" y="-38100"/>
              <a:ext cx="4826000" cy="2768600"/>
            </a:xfrm>
            <a:prstGeom prst="rect">
              <a:avLst/>
            </a:prstGeom>
          </p:spPr>
          <p:txBody>
            <a:bodyPr anchor="ctr" rtlCol="false" tIns="50800" lIns="50800" bIns="50800" rIns="50800"/>
            <a:lstStyle/>
            <a:p>
              <a:pPr algn="l">
                <a:lnSpc>
                  <a:spcPts val="1679"/>
                </a:lnSpc>
              </a:pPr>
            </a:p>
          </p:txBody>
        </p:sp>
      </p:grpSp>
      <p:grpSp>
        <p:nvGrpSpPr>
          <p:cNvPr name="Group 18" id="18"/>
          <p:cNvGrpSpPr/>
          <p:nvPr/>
        </p:nvGrpSpPr>
        <p:grpSpPr>
          <a:xfrm rot="0">
            <a:off x="723900" y="4810125"/>
            <a:ext cx="3619500" cy="2047875"/>
            <a:chOff x="0" y="0"/>
            <a:chExt cx="4826000" cy="2730500"/>
          </a:xfrm>
        </p:grpSpPr>
        <p:sp>
          <p:nvSpPr>
            <p:cNvPr name="Freeform 19" id="19"/>
            <p:cNvSpPr/>
            <p:nvPr/>
          </p:nvSpPr>
          <p:spPr>
            <a:xfrm flipH="false" flipV="false" rot="0">
              <a:off x="0" y="0"/>
              <a:ext cx="4826000" cy="2730500"/>
            </a:xfrm>
            <a:custGeom>
              <a:avLst/>
              <a:gdLst/>
              <a:ahLst/>
              <a:cxnLst/>
              <a:rect r="r" b="b" t="t" l="l"/>
              <a:pathLst>
                <a:path h="2730500" w="4826000">
                  <a:moveTo>
                    <a:pt x="0" y="0"/>
                  </a:moveTo>
                  <a:lnTo>
                    <a:pt x="4826000" y="0"/>
                  </a:lnTo>
                  <a:lnTo>
                    <a:pt x="4826000" y="2730500"/>
                  </a:lnTo>
                  <a:lnTo>
                    <a:pt x="0" y="2730500"/>
                  </a:lnTo>
                  <a:close/>
                </a:path>
              </a:pathLst>
            </a:custGeom>
            <a:solidFill>
              <a:srgbClr val="EEF3F7"/>
            </a:solidFill>
            <a:ln cap="sq">
              <a:noFill/>
              <a:prstDash val="solid"/>
              <a:miter/>
            </a:ln>
          </p:spPr>
        </p:sp>
        <p:sp>
          <p:nvSpPr>
            <p:cNvPr name="TextBox 20" id="20"/>
            <p:cNvSpPr txBox="true"/>
            <p:nvPr/>
          </p:nvSpPr>
          <p:spPr>
            <a:xfrm>
              <a:off x="0" y="-38100"/>
              <a:ext cx="4826000" cy="2768600"/>
            </a:xfrm>
            <a:prstGeom prst="rect">
              <a:avLst/>
            </a:prstGeom>
          </p:spPr>
          <p:txBody>
            <a:bodyPr anchor="ctr" rtlCol="false" tIns="50800" lIns="50800" bIns="50800" rIns="50800"/>
            <a:lstStyle/>
            <a:p>
              <a:pPr algn="l">
                <a:lnSpc>
                  <a:spcPts val="1679"/>
                </a:lnSpc>
              </a:pPr>
            </a:p>
          </p:txBody>
        </p:sp>
      </p:grpSp>
      <p:grpSp>
        <p:nvGrpSpPr>
          <p:cNvPr name="Group 21" id="21"/>
          <p:cNvGrpSpPr/>
          <p:nvPr/>
        </p:nvGrpSpPr>
        <p:grpSpPr>
          <a:xfrm rot="0">
            <a:off x="4819650" y="4810125"/>
            <a:ext cx="3619500" cy="2047875"/>
            <a:chOff x="0" y="0"/>
            <a:chExt cx="4826000" cy="2730500"/>
          </a:xfrm>
        </p:grpSpPr>
        <p:sp>
          <p:nvSpPr>
            <p:cNvPr name="Freeform 22" id="22"/>
            <p:cNvSpPr/>
            <p:nvPr/>
          </p:nvSpPr>
          <p:spPr>
            <a:xfrm flipH="false" flipV="false" rot="0">
              <a:off x="0" y="0"/>
              <a:ext cx="4826000" cy="2730500"/>
            </a:xfrm>
            <a:custGeom>
              <a:avLst/>
              <a:gdLst/>
              <a:ahLst/>
              <a:cxnLst/>
              <a:rect r="r" b="b" t="t" l="l"/>
              <a:pathLst>
                <a:path h="2730500" w="4826000">
                  <a:moveTo>
                    <a:pt x="0" y="0"/>
                  </a:moveTo>
                  <a:lnTo>
                    <a:pt x="4826000" y="0"/>
                  </a:lnTo>
                  <a:lnTo>
                    <a:pt x="4826000" y="2730500"/>
                  </a:lnTo>
                  <a:lnTo>
                    <a:pt x="0" y="2730500"/>
                  </a:lnTo>
                  <a:close/>
                </a:path>
              </a:pathLst>
            </a:custGeom>
            <a:solidFill>
              <a:srgbClr val="EDF6EE"/>
            </a:solidFill>
            <a:ln cap="sq">
              <a:noFill/>
              <a:prstDash val="solid"/>
              <a:miter/>
            </a:ln>
          </p:spPr>
        </p:sp>
        <p:sp>
          <p:nvSpPr>
            <p:cNvPr name="TextBox 23" id="23"/>
            <p:cNvSpPr txBox="true"/>
            <p:nvPr/>
          </p:nvSpPr>
          <p:spPr>
            <a:xfrm>
              <a:off x="0" y="-38100"/>
              <a:ext cx="4826000" cy="2768600"/>
            </a:xfrm>
            <a:prstGeom prst="rect">
              <a:avLst/>
            </a:prstGeom>
          </p:spPr>
          <p:txBody>
            <a:bodyPr anchor="ctr" rtlCol="false" tIns="50800" lIns="50800" bIns="50800" rIns="50800"/>
            <a:lstStyle/>
            <a:p>
              <a:pPr algn="l">
                <a:lnSpc>
                  <a:spcPts val="1679"/>
                </a:lnSpc>
              </a:pPr>
            </a:p>
          </p:txBody>
        </p:sp>
      </p:grpSp>
      <p:grpSp>
        <p:nvGrpSpPr>
          <p:cNvPr name="Group 24" id="24"/>
          <p:cNvGrpSpPr/>
          <p:nvPr/>
        </p:nvGrpSpPr>
        <p:grpSpPr>
          <a:xfrm rot="0">
            <a:off x="8915400" y="4810125"/>
            <a:ext cx="3619500" cy="2047875"/>
            <a:chOff x="0" y="0"/>
            <a:chExt cx="4826000" cy="2730500"/>
          </a:xfrm>
        </p:grpSpPr>
        <p:sp>
          <p:nvSpPr>
            <p:cNvPr name="Freeform 25" id="25"/>
            <p:cNvSpPr/>
            <p:nvPr/>
          </p:nvSpPr>
          <p:spPr>
            <a:xfrm flipH="false" flipV="false" rot="0">
              <a:off x="0" y="0"/>
              <a:ext cx="4826000" cy="2730500"/>
            </a:xfrm>
            <a:custGeom>
              <a:avLst/>
              <a:gdLst/>
              <a:ahLst/>
              <a:cxnLst/>
              <a:rect r="r" b="b" t="t" l="l"/>
              <a:pathLst>
                <a:path h="2730500" w="4826000">
                  <a:moveTo>
                    <a:pt x="0" y="0"/>
                  </a:moveTo>
                  <a:lnTo>
                    <a:pt x="4826000" y="0"/>
                  </a:lnTo>
                  <a:lnTo>
                    <a:pt x="4826000" y="2730500"/>
                  </a:lnTo>
                  <a:lnTo>
                    <a:pt x="0" y="2730500"/>
                  </a:lnTo>
                  <a:close/>
                </a:path>
              </a:pathLst>
            </a:custGeom>
            <a:solidFill>
              <a:srgbClr val="EDF6EE"/>
            </a:solidFill>
            <a:ln cap="sq">
              <a:noFill/>
              <a:prstDash val="solid"/>
              <a:miter/>
            </a:ln>
          </p:spPr>
        </p:sp>
        <p:sp>
          <p:nvSpPr>
            <p:cNvPr name="TextBox 26" id="26"/>
            <p:cNvSpPr txBox="true"/>
            <p:nvPr/>
          </p:nvSpPr>
          <p:spPr>
            <a:xfrm>
              <a:off x="0" y="-38100"/>
              <a:ext cx="4826000" cy="2768600"/>
            </a:xfrm>
            <a:prstGeom prst="rect">
              <a:avLst/>
            </a:prstGeom>
          </p:spPr>
          <p:txBody>
            <a:bodyPr anchor="ctr" rtlCol="false" tIns="50800" lIns="50800" bIns="50800" rIns="50800"/>
            <a:lstStyle/>
            <a:p>
              <a:pPr algn="l">
                <a:lnSpc>
                  <a:spcPts val="1679"/>
                </a:lnSpc>
              </a:pPr>
            </a:p>
          </p:txBody>
        </p:sp>
      </p:grpSp>
      <p:grpSp>
        <p:nvGrpSpPr>
          <p:cNvPr name="Group 27" id="27"/>
          <p:cNvGrpSpPr/>
          <p:nvPr/>
        </p:nvGrpSpPr>
        <p:grpSpPr>
          <a:xfrm rot="0">
            <a:off x="13011150" y="4810125"/>
            <a:ext cx="3619500" cy="2047875"/>
            <a:chOff x="0" y="0"/>
            <a:chExt cx="4826000" cy="2730500"/>
          </a:xfrm>
        </p:grpSpPr>
        <p:sp>
          <p:nvSpPr>
            <p:cNvPr name="Freeform 28" id="28"/>
            <p:cNvSpPr/>
            <p:nvPr/>
          </p:nvSpPr>
          <p:spPr>
            <a:xfrm flipH="false" flipV="false" rot="0">
              <a:off x="0" y="0"/>
              <a:ext cx="4826000" cy="2730500"/>
            </a:xfrm>
            <a:custGeom>
              <a:avLst/>
              <a:gdLst/>
              <a:ahLst/>
              <a:cxnLst/>
              <a:rect r="r" b="b" t="t" l="l"/>
              <a:pathLst>
                <a:path h="2730500" w="4826000">
                  <a:moveTo>
                    <a:pt x="0" y="0"/>
                  </a:moveTo>
                  <a:lnTo>
                    <a:pt x="4826000" y="0"/>
                  </a:lnTo>
                  <a:lnTo>
                    <a:pt x="4826000" y="2730500"/>
                  </a:lnTo>
                  <a:lnTo>
                    <a:pt x="0" y="2730500"/>
                  </a:lnTo>
                  <a:close/>
                </a:path>
              </a:pathLst>
            </a:custGeom>
            <a:solidFill>
              <a:srgbClr val="EDF6EE"/>
            </a:solidFill>
            <a:ln cap="sq">
              <a:noFill/>
              <a:prstDash val="solid"/>
              <a:miter/>
            </a:ln>
          </p:spPr>
        </p:sp>
        <p:sp>
          <p:nvSpPr>
            <p:cNvPr name="TextBox 29" id="29"/>
            <p:cNvSpPr txBox="true"/>
            <p:nvPr/>
          </p:nvSpPr>
          <p:spPr>
            <a:xfrm>
              <a:off x="0" y="-38100"/>
              <a:ext cx="4826000" cy="2768600"/>
            </a:xfrm>
            <a:prstGeom prst="rect">
              <a:avLst/>
            </a:prstGeom>
          </p:spPr>
          <p:txBody>
            <a:bodyPr anchor="ctr" rtlCol="false" tIns="50800" lIns="50800" bIns="50800" rIns="50800"/>
            <a:lstStyle/>
            <a:p>
              <a:pPr algn="l">
                <a:lnSpc>
                  <a:spcPts val="1679"/>
                </a:lnSpc>
              </a:pPr>
            </a:p>
          </p:txBody>
        </p:sp>
      </p:grpSp>
      <p:grpSp>
        <p:nvGrpSpPr>
          <p:cNvPr name="Group 30" id="30"/>
          <p:cNvGrpSpPr/>
          <p:nvPr/>
        </p:nvGrpSpPr>
        <p:grpSpPr>
          <a:xfrm rot="0">
            <a:off x="914400" y="2190750"/>
            <a:ext cx="3429000" cy="1195388"/>
            <a:chOff x="0" y="0"/>
            <a:chExt cx="4572000" cy="1593850"/>
          </a:xfrm>
        </p:grpSpPr>
        <p:sp>
          <p:nvSpPr>
            <p:cNvPr name="TextBox 31" id="31"/>
            <p:cNvSpPr txBox="true"/>
            <p:nvPr/>
          </p:nvSpPr>
          <p:spPr>
            <a:xfrm rot="0">
              <a:off x="0" y="38100"/>
              <a:ext cx="1143000" cy="746760"/>
            </a:xfrm>
            <a:prstGeom prst="rect">
              <a:avLst/>
            </a:prstGeom>
          </p:spPr>
          <p:txBody>
            <a:bodyPr anchor="t" rtlCol="false" tIns="0" lIns="0" bIns="0" rIns="0">
              <a:spAutoFit/>
            </a:bodyPr>
            <a:lstStyle/>
            <a:p>
              <a:pPr algn="l">
                <a:lnSpc>
                  <a:spcPts val="4095"/>
                </a:lnSpc>
              </a:pPr>
              <a:r>
                <a:rPr lang="en-US" sz="3900" b="true">
                  <a:solidFill>
                    <a:srgbClr val="1F4E79"/>
                  </a:solidFill>
                  <a:latin typeface="Arimo Bold"/>
                  <a:ea typeface="Arimo Bold"/>
                  <a:cs typeface="Arimo Bold"/>
                  <a:sym typeface="Arimo Bold"/>
                </a:rPr>
                <a:t>01</a:t>
              </a:r>
            </a:p>
          </p:txBody>
        </p:sp>
        <p:sp>
          <p:nvSpPr>
            <p:cNvPr name="TextBox 32" id="32"/>
            <p:cNvSpPr txBox="true"/>
            <p:nvPr/>
          </p:nvSpPr>
          <p:spPr>
            <a:xfrm rot="0">
              <a:off x="0" y="1114425"/>
              <a:ext cx="4572000" cy="479425"/>
            </a:xfrm>
            <a:prstGeom prst="rect">
              <a:avLst/>
            </a:prstGeom>
          </p:spPr>
          <p:txBody>
            <a:bodyPr anchor="t" rtlCol="false" tIns="0" lIns="0" bIns="0" rIns="0">
              <a:spAutoFit/>
            </a:bodyPr>
            <a:lstStyle/>
            <a:p>
              <a:pPr algn="l">
                <a:lnSpc>
                  <a:spcPts val="3037"/>
                </a:lnSpc>
              </a:pPr>
              <a:r>
                <a:rPr lang="en-US" sz="2250" b="true">
                  <a:solidFill>
                    <a:srgbClr val="17212B"/>
                  </a:solidFill>
                  <a:latin typeface="Aptos Bold"/>
                  <a:ea typeface="Aptos Bold"/>
                  <a:cs typeface="Aptos Bold"/>
                  <a:sym typeface="Aptos Bold"/>
                </a:rPr>
                <a:t>Context</a:t>
              </a:r>
            </a:p>
          </p:txBody>
        </p:sp>
      </p:grpSp>
      <p:grpSp>
        <p:nvGrpSpPr>
          <p:cNvPr name="Group 33" id="33"/>
          <p:cNvGrpSpPr/>
          <p:nvPr/>
        </p:nvGrpSpPr>
        <p:grpSpPr>
          <a:xfrm rot="0">
            <a:off x="5010150" y="2190750"/>
            <a:ext cx="3429000" cy="1195388"/>
            <a:chOff x="0" y="0"/>
            <a:chExt cx="4572000" cy="1593850"/>
          </a:xfrm>
        </p:grpSpPr>
        <p:sp>
          <p:nvSpPr>
            <p:cNvPr name="TextBox 34" id="34"/>
            <p:cNvSpPr txBox="true"/>
            <p:nvPr/>
          </p:nvSpPr>
          <p:spPr>
            <a:xfrm rot="0">
              <a:off x="0" y="38100"/>
              <a:ext cx="1143000" cy="746760"/>
            </a:xfrm>
            <a:prstGeom prst="rect">
              <a:avLst/>
            </a:prstGeom>
          </p:spPr>
          <p:txBody>
            <a:bodyPr anchor="t" rtlCol="false" tIns="0" lIns="0" bIns="0" rIns="0">
              <a:spAutoFit/>
            </a:bodyPr>
            <a:lstStyle/>
            <a:p>
              <a:pPr algn="l">
                <a:lnSpc>
                  <a:spcPts val="4095"/>
                </a:lnSpc>
              </a:pPr>
              <a:r>
                <a:rPr lang="en-US" sz="3900" b="true">
                  <a:solidFill>
                    <a:srgbClr val="1F4E79"/>
                  </a:solidFill>
                  <a:latin typeface="Arimo Bold"/>
                  <a:ea typeface="Arimo Bold"/>
                  <a:cs typeface="Arimo Bold"/>
                  <a:sym typeface="Arimo Bold"/>
                </a:rPr>
                <a:t>02</a:t>
              </a:r>
            </a:p>
          </p:txBody>
        </p:sp>
        <p:sp>
          <p:nvSpPr>
            <p:cNvPr name="TextBox 35" id="35"/>
            <p:cNvSpPr txBox="true"/>
            <p:nvPr/>
          </p:nvSpPr>
          <p:spPr>
            <a:xfrm rot="0">
              <a:off x="0" y="1114425"/>
              <a:ext cx="4572000" cy="479425"/>
            </a:xfrm>
            <a:prstGeom prst="rect">
              <a:avLst/>
            </a:prstGeom>
          </p:spPr>
          <p:txBody>
            <a:bodyPr anchor="t" rtlCol="false" tIns="0" lIns="0" bIns="0" rIns="0">
              <a:spAutoFit/>
            </a:bodyPr>
            <a:lstStyle/>
            <a:p>
              <a:pPr algn="l">
                <a:lnSpc>
                  <a:spcPts val="3037"/>
                </a:lnSpc>
              </a:pPr>
              <a:r>
                <a:rPr lang="en-US" sz="2250" b="true">
                  <a:solidFill>
                    <a:srgbClr val="17212B"/>
                  </a:solidFill>
                  <a:latin typeface="Aptos Bold"/>
                  <a:ea typeface="Aptos Bold"/>
                  <a:cs typeface="Aptos Bold"/>
                  <a:sym typeface="Aptos Bold"/>
                </a:rPr>
                <a:t>Research question</a:t>
              </a:r>
            </a:p>
          </p:txBody>
        </p:sp>
      </p:grpSp>
      <p:grpSp>
        <p:nvGrpSpPr>
          <p:cNvPr name="Group 36" id="36"/>
          <p:cNvGrpSpPr/>
          <p:nvPr/>
        </p:nvGrpSpPr>
        <p:grpSpPr>
          <a:xfrm rot="0">
            <a:off x="9105900" y="2190750"/>
            <a:ext cx="3429000" cy="1195388"/>
            <a:chOff x="0" y="0"/>
            <a:chExt cx="4572000" cy="1593850"/>
          </a:xfrm>
        </p:grpSpPr>
        <p:sp>
          <p:nvSpPr>
            <p:cNvPr name="TextBox 37" id="37"/>
            <p:cNvSpPr txBox="true"/>
            <p:nvPr/>
          </p:nvSpPr>
          <p:spPr>
            <a:xfrm rot="0">
              <a:off x="0" y="38100"/>
              <a:ext cx="1143000" cy="746760"/>
            </a:xfrm>
            <a:prstGeom prst="rect">
              <a:avLst/>
            </a:prstGeom>
          </p:spPr>
          <p:txBody>
            <a:bodyPr anchor="t" rtlCol="false" tIns="0" lIns="0" bIns="0" rIns="0">
              <a:spAutoFit/>
            </a:bodyPr>
            <a:lstStyle/>
            <a:p>
              <a:pPr algn="l">
                <a:lnSpc>
                  <a:spcPts val="4095"/>
                </a:lnSpc>
              </a:pPr>
              <a:r>
                <a:rPr lang="en-US" sz="3900" b="true">
                  <a:solidFill>
                    <a:srgbClr val="1F4E79"/>
                  </a:solidFill>
                  <a:latin typeface="Arimo Bold"/>
                  <a:ea typeface="Arimo Bold"/>
                  <a:cs typeface="Arimo Bold"/>
                  <a:sym typeface="Arimo Bold"/>
                </a:rPr>
                <a:t>03</a:t>
              </a:r>
            </a:p>
          </p:txBody>
        </p:sp>
        <p:sp>
          <p:nvSpPr>
            <p:cNvPr name="TextBox 38" id="38"/>
            <p:cNvSpPr txBox="true"/>
            <p:nvPr/>
          </p:nvSpPr>
          <p:spPr>
            <a:xfrm rot="0">
              <a:off x="0" y="1114425"/>
              <a:ext cx="4572000" cy="479425"/>
            </a:xfrm>
            <a:prstGeom prst="rect">
              <a:avLst/>
            </a:prstGeom>
          </p:spPr>
          <p:txBody>
            <a:bodyPr anchor="t" rtlCol="false" tIns="0" lIns="0" bIns="0" rIns="0">
              <a:spAutoFit/>
            </a:bodyPr>
            <a:lstStyle/>
            <a:p>
              <a:pPr algn="l">
                <a:lnSpc>
                  <a:spcPts val="3037"/>
                </a:lnSpc>
              </a:pPr>
              <a:r>
                <a:rPr lang="en-US" sz="2250" b="true">
                  <a:solidFill>
                    <a:srgbClr val="17212B"/>
                  </a:solidFill>
                  <a:latin typeface="Aptos Bold"/>
                  <a:ea typeface="Aptos Bold"/>
                  <a:cs typeface="Aptos Bold"/>
                  <a:sym typeface="Aptos Bold"/>
                </a:rPr>
                <a:t>Objectives</a:t>
              </a:r>
            </a:p>
          </p:txBody>
        </p:sp>
      </p:grpSp>
      <p:grpSp>
        <p:nvGrpSpPr>
          <p:cNvPr name="Group 39" id="39"/>
          <p:cNvGrpSpPr/>
          <p:nvPr/>
        </p:nvGrpSpPr>
        <p:grpSpPr>
          <a:xfrm rot="0">
            <a:off x="13201650" y="2190750"/>
            <a:ext cx="3429000" cy="1195388"/>
            <a:chOff x="0" y="0"/>
            <a:chExt cx="4572000" cy="1593850"/>
          </a:xfrm>
        </p:grpSpPr>
        <p:sp>
          <p:nvSpPr>
            <p:cNvPr name="TextBox 40" id="40"/>
            <p:cNvSpPr txBox="true"/>
            <p:nvPr/>
          </p:nvSpPr>
          <p:spPr>
            <a:xfrm rot="0">
              <a:off x="0" y="38100"/>
              <a:ext cx="1143000" cy="746760"/>
            </a:xfrm>
            <a:prstGeom prst="rect">
              <a:avLst/>
            </a:prstGeom>
          </p:spPr>
          <p:txBody>
            <a:bodyPr anchor="t" rtlCol="false" tIns="0" lIns="0" bIns="0" rIns="0">
              <a:spAutoFit/>
            </a:bodyPr>
            <a:lstStyle/>
            <a:p>
              <a:pPr algn="l">
                <a:lnSpc>
                  <a:spcPts val="4095"/>
                </a:lnSpc>
              </a:pPr>
              <a:r>
                <a:rPr lang="en-US" sz="3900" b="true">
                  <a:solidFill>
                    <a:srgbClr val="1F4E79"/>
                  </a:solidFill>
                  <a:latin typeface="Arimo Bold"/>
                  <a:ea typeface="Arimo Bold"/>
                  <a:cs typeface="Arimo Bold"/>
                  <a:sym typeface="Arimo Bold"/>
                </a:rPr>
                <a:t>04</a:t>
              </a:r>
            </a:p>
          </p:txBody>
        </p:sp>
        <p:sp>
          <p:nvSpPr>
            <p:cNvPr name="TextBox 41" id="41"/>
            <p:cNvSpPr txBox="true"/>
            <p:nvPr/>
          </p:nvSpPr>
          <p:spPr>
            <a:xfrm rot="0">
              <a:off x="0" y="1114425"/>
              <a:ext cx="4572000" cy="479425"/>
            </a:xfrm>
            <a:prstGeom prst="rect">
              <a:avLst/>
            </a:prstGeom>
          </p:spPr>
          <p:txBody>
            <a:bodyPr anchor="t" rtlCol="false" tIns="0" lIns="0" bIns="0" rIns="0">
              <a:spAutoFit/>
            </a:bodyPr>
            <a:lstStyle/>
            <a:p>
              <a:pPr algn="l">
                <a:lnSpc>
                  <a:spcPts val="3037"/>
                </a:lnSpc>
              </a:pPr>
              <a:r>
                <a:rPr lang="en-US" sz="2250" b="true">
                  <a:solidFill>
                    <a:srgbClr val="17212B"/>
                  </a:solidFill>
                  <a:latin typeface="Aptos Bold"/>
                  <a:ea typeface="Aptos Bold"/>
                  <a:cs typeface="Aptos Bold"/>
                  <a:sym typeface="Aptos Bold"/>
                </a:rPr>
                <a:t>Methodology</a:t>
              </a:r>
            </a:p>
          </p:txBody>
        </p:sp>
      </p:grpSp>
      <p:grpSp>
        <p:nvGrpSpPr>
          <p:cNvPr name="Group 42" id="42"/>
          <p:cNvGrpSpPr/>
          <p:nvPr/>
        </p:nvGrpSpPr>
        <p:grpSpPr>
          <a:xfrm rot="0">
            <a:off x="914400" y="5048250"/>
            <a:ext cx="3429000" cy="1195388"/>
            <a:chOff x="0" y="0"/>
            <a:chExt cx="4572000" cy="1593850"/>
          </a:xfrm>
        </p:grpSpPr>
        <p:sp>
          <p:nvSpPr>
            <p:cNvPr name="TextBox 43" id="43"/>
            <p:cNvSpPr txBox="true"/>
            <p:nvPr/>
          </p:nvSpPr>
          <p:spPr>
            <a:xfrm rot="0">
              <a:off x="0" y="38100"/>
              <a:ext cx="1143000" cy="746760"/>
            </a:xfrm>
            <a:prstGeom prst="rect">
              <a:avLst/>
            </a:prstGeom>
          </p:spPr>
          <p:txBody>
            <a:bodyPr anchor="t" rtlCol="false" tIns="0" lIns="0" bIns="0" rIns="0">
              <a:spAutoFit/>
            </a:bodyPr>
            <a:lstStyle/>
            <a:p>
              <a:pPr algn="l">
                <a:lnSpc>
                  <a:spcPts val="4095"/>
                </a:lnSpc>
              </a:pPr>
              <a:r>
                <a:rPr lang="en-US" sz="3900" b="true">
                  <a:solidFill>
                    <a:srgbClr val="1F4E79"/>
                  </a:solidFill>
                  <a:latin typeface="Arimo Bold"/>
                  <a:ea typeface="Arimo Bold"/>
                  <a:cs typeface="Arimo Bold"/>
                  <a:sym typeface="Arimo Bold"/>
                </a:rPr>
                <a:t>05</a:t>
              </a:r>
            </a:p>
          </p:txBody>
        </p:sp>
        <p:sp>
          <p:nvSpPr>
            <p:cNvPr name="TextBox 44" id="44"/>
            <p:cNvSpPr txBox="true"/>
            <p:nvPr/>
          </p:nvSpPr>
          <p:spPr>
            <a:xfrm rot="0">
              <a:off x="0" y="1114425"/>
              <a:ext cx="4572000" cy="479425"/>
            </a:xfrm>
            <a:prstGeom prst="rect">
              <a:avLst/>
            </a:prstGeom>
          </p:spPr>
          <p:txBody>
            <a:bodyPr anchor="t" rtlCol="false" tIns="0" lIns="0" bIns="0" rIns="0">
              <a:spAutoFit/>
            </a:bodyPr>
            <a:lstStyle/>
            <a:p>
              <a:pPr algn="l">
                <a:lnSpc>
                  <a:spcPts val="3037"/>
                </a:lnSpc>
              </a:pPr>
              <a:r>
                <a:rPr lang="en-US" sz="2250" b="true">
                  <a:solidFill>
                    <a:srgbClr val="17212B"/>
                  </a:solidFill>
                  <a:latin typeface="Aptos Bold"/>
                  <a:ea typeface="Aptos Bold"/>
                  <a:cs typeface="Aptos Bold"/>
                  <a:sym typeface="Aptos Bold"/>
                </a:rPr>
                <a:t>Data &amp; pipeline</a:t>
              </a:r>
            </a:p>
          </p:txBody>
        </p:sp>
      </p:grpSp>
      <p:grpSp>
        <p:nvGrpSpPr>
          <p:cNvPr name="Group 45" id="45"/>
          <p:cNvGrpSpPr/>
          <p:nvPr/>
        </p:nvGrpSpPr>
        <p:grpSpPr>
          <a:xfrm rot="0">
            <a:off x="5010150" y="5048250"/>
            <a:ext cx="3429000" cy="1195388"/>
            <a:chOff x="0" y="0"/>
            <a:chExt cx="4572000" cy="1593850"/>
          </a:xfrm>
        </p:grpSpPr>
        <p:sp>
          <p:nvSpPr>
            <p:cNvPr name="TextBox 46" id="46"/>
            <p:cNvSpPr txBox="true"/>
            <p:nvPr/>
          </p:nvSpPr>
          <p:spPr>
            <a:xfrm rot="0">
              <a:off x="0" y="38100"/>
              <a:ext cx="1143000" cy="746760"/>
            </a:xfrm>
            <a:prstGeom prst="rect">
              <a:avLst/>
            </a:prstGeom>
          </p:spPr>
          <p:txBody>
            <a:bodyPr anchor="t" rtlCol="false" tIns="0" lIns="0" bIns="0" rIns="0">
              <a:spAutoFit/>
            </a:bodyPr>
            <a:lstStyle/>
            <a:p>
              <a:pPr algn="l">
                <a:lnSpc>
                  <a:spcPts val="4095"/>
                </a:lnSpc>
              </a:pPr>
              <a:r>
                <a:rPr lang="en-US" sz="3900" b="true">
                  <a:solidFill>
                    <a:srgbClr val="2E7D32"/>
                  </a:solidFill>
                  <a:latin typeface="Arimo Bold"/>
                  <a:ea typeface="Arimo Bold"/>
                  <a:cs typeface="Arimo Bold"/>
                  <a:sym typeface="Arimo Bold"/>
                </a:rPr>
                <a:t>06</a:t>
              </a:r>
            </a:p>
          </p:txBody>
        </p:sp>
        <p:sp>
          <p:nvSpPr>
            <p:cNvPr name="TextBox 47" id="47"/>
            <p:cNvSpPr txBox="true"/>
            <p:nvPr/>
          </p:nvSpPr>
          <p:spPr>
            <a:xfrm rot="0">
              <a:off x="0" y="1114425"/>
              <a:ext cx="4572000" cy="479425"/>
            </a:xfrm>
            <a:prstGeom prst="rect">
              <a:avLst/>
            </a:prstGeom>
          </p:spPr>
          <p:txBody>
            <a:bodyPr anchor="t" rtlCol="false" tIns="0" lIns="0" bIns="0" rIns="0">
              <a:spAutoFit/>
            </a:bodyPr>
            <a:lstStyle/>
            <a:p>
              <a:pPr algn="l">
                <a:lnSpc>
                  <a:spcPts val="3037"/>
                </a:lnSpc>
              </a:pPr>
              <a:r>
                <a:rPr lang="en-US" sz="2250" b="true">
                  <a:solidFill>
                    <a:srgbClr val="17212B"/>
                  </a:solidFill>
                  <a:latin typeface="Aptos Bold"/>
                  <a:ea typeface="Aptos Bold"/>
                  <a:cs typeface="Aptos Bold"/>
                  <a:sym typeface="Aptos Bold"/>
                </a:rPr>
                <a:t>Models &amp; results</a:t>
              </a:r>
            </a:p>
          </p:txBody>
        </p:sp>
      </p:grpSp>
      <p:grpSp>
        <p:nvGrpSpPr>
          <p:cNvPr name="Group 48" id="48"/>
          <p:cNvGrpSpPr/>
          <p:nvPr/>
        </p:nvGrpSpPr>
        <p:grpSpPr>
          <a:xfrm rot="0">
            <a:off x="9105900" y="5048250"/>
            <a:ext cx="3429000" cy="1195388"/>
            <a:chOff x="0" y="0"/>
            <a:chExt cx="4572000" cy="1593850"/>
          </a:xfrm>
        </p:grpSpPr>
        <p:sp>
          <p:nvSpPr>
            <p:cNvPr name="TextBox 49" id="49"/>
            <p:cNvSpPr txBox="true"/>
            <p:nvPr/>
          </p:nvSpPr>
          <p:spPr>
            <a:xfrm rot="0">
              <a:off x="0" y="38100"/>
              <a:ext cx="1143000" cy="746760"/>
            </a:xfrm>
            <a:prstGeom prst="rect">
              <a:avLst/>
            </a:prstGeom>
          </p:spPr>
          <p:txBody>
            <a:bodyPr anchor="t" rtlCol="false" tIns="0" lIns="0" bIns="0" rIns="0">
              <a:spAutoFit/>
            </a:bodyPr>
            <a:lstStyle/>
            <a:p>
              <a:pPr algn="l">
                <a:lnSpc>
                  <a:spcPts val="4095"/>
                </a:lnSpc>
              </a:pPr>
              <a:r>
                <a:rPr lang="en-US" sz="3900" b="true">
                  <a:solidFill>
                    <a:srgbClr val="2E7D32"/>
                  </a:solidFill>
                  <a:latin typeface="Arimo Bold"/>
                  <a:ea typeface="Arimo Bold"/>
                  <a:cs typeface="Arimo Bold"/>
                  <a:sym typeface="Arimo Bold"/>
                </a:rPr>
                <a:t>07</a:t>
              </a:r>
            </a:p>
          </p:txBody>
        </p:sp>
        <p:sp>
          <p:nvSpPr>
            <p:cNvPr name="TextBox 50" id="50"/>
            <p:cNvSpPr txBox="true"/>
            <p:nvPr/>
          </p:nvSpPr>
          <p:spPr>
            <a:xfrm rot="0">
              <a:off x="0" y="1114425"/>
              <a:ext cx="4572000" cy="479425"/>
            </a:xfrm>
            <a:prstGeom prst="rect">
              <a:avLst/>
            </a:prstGeom>
          </p:spPr>
          <p:txBody>
            <a:bodyPr anchor="t" rtlCol="false" tIns="0" lIns="0" bIns="0" rIns="0">
              <a:spAutoFit/>
            </a:bodyPr>
            <a:lstStyle/>
            <a:p>
              <a:pPr algn="l">
                <a:lnSpc>
                  <a:spcPts val="3037"/>
                </a:lnSpc>
              </a:pPr>
              <a:r>
                <a:rPr lang="en-US" sz="2250" b="true">
                  <a:solidFill>
                    <a:srgbClr val="17212B"/>
                  </a:solidFill>
                  <a:latin typeface="Aptos Bold"/>
                  <a:ea typeface="Aptos Bold"/>
                  <a:cs typeface="Aptos Bold"/>
                  <a:sym typeface="Aptos Bold"/>
                </a:rPr>
                <a:t>Prototype</a:t>
              </a:r>
            </a:p>
          </p:txBody>
        </p:sp>
      </p:grpSp>
      <p:grpSp>
        <p:nvGrpSpPr>
          <p:cNvPr name="Group 51" id="51"/>
          <p:cNvGrpSpPr/>
          <p:nvPr/>
        </p:nvGrpSpPr>
        <p:grpSpPr>
          <a:xfrm rot="0">
            <a:off x="13201650" y="5048250"/>
            <a:ext cx="3429000" cy="1195388"/>
            <a:chOff x="0" y="0"/>
            <a:chExt cx="4572000" cy="1593850"/>
          </a:xfrm>
        </p:grpSpPr>
        <p:sp>
          <p:nvSpPr>
            <p:cNvPr name="TextBox 52" id="52"/>
            <p:cNvSpPr txBox="true"/>
            <p:nvPr/>
          </p:nvSpPr>
          <p:spPr>
            <a:xfrm rot="0">
              <a:off x="0" y="38100"/>
              <a:ext cx="1143000" cy="746760"/>
            </a:xfrm>
            <a:prstGeom prst="rect">
              <a:avLst/>
            </a:prstGeom>
          </p:spPr>
          <p:txBody>
            <a:bodyPr anchor="t" rtlCol="false" tIns="0" lIns="0" bIns="0" rIns="0">
              <a:spAutoFit/>
            </a:bodyPr>
            <a:lstStyle/>
            <a:p>
              <a:pPr algn="l">
                <a:lnSpc>
                  <a:spcPts val="4095"/>
                </a:lnSpc>
              </a:pPr>
              <a:r>
                <a:rPr lang="en-US" sz="3900" b="true">
                  <a:solidFill>
                    <a:srgbClr val="2E7D32"/>
                  </a:solidFill>
                  <a:latin typeface="Arimo Bold"/>
                  <a:ea typeface="Arimo Bold"/>
                  <a:cs typeface="Arimo Bold"/>
                  <a:sym typeface="Arimo Bold"/>
                </a:rPr>
                <a:t>08</a:t>
              </a:r>
            </a:p>
          </p:txBody>
        </p:sp>
        <p:sp>
          <p:nvSpPr>
            <p:cNvPr name="TextBox 53" id="53"/>
            <p:cNvSpPr txBox="true"/>
            <p:nvPr/>
          </p:nvSpPr>
          <p:spPr>
            <a:xfrm rot="0">
              <a:off x="0" y="1114425"/>
              <a:ext cx="4572000" cy="479425"/>
            </a:xfrm>
            <a:prstGeom prst="rect">
              <a:avLst/>
            </a:prstGeom>
          </p:spPr>
          <p:txBody>
            <a:bodyPr anchor="t" rtlCol="false" tIns="0" lIns="0" bIns="0" rIns="0">
              <a:spAutoFit/>
            </a:bodyPr>
            <a:lstStyle/>
            <a:p>
              <a:pPr algn="l">
                <a:lnSpc>
                  <a:spcPts val="3037"/>
                </a:lnSpc>
              </a:pPr>
              <a:r>
                <a:rPr lang="en-US" sz="2250" b="true">
                  <a:solidFill>
                    <a:srgbClr val="17212B"/>
                  </a:solidFill>
                  <a:latin typeface="Aptos Bold"/>
                  <a:ea typeface="Aptos Bold"/>
                  <a:cs typeface="Aptos Bold"/>
                  <a:sym typeface="Aptos Bold"/>
                </a:rPr>
                <a:t>Conclusions</a:t>
              </a:r>
            </a:p>
          </p:txBody>
        </p:sp>
      </p:grpSp>
      <p:sp>
        <p:nvSpPr>
          <p:cNvPr name="TextBox 54" id="54"/>
          <p:cNvSpPr txBox="true"/>
          <p:nvPr/>
        </p:nvSpPr>
        <p:spPr>
          <a:xfrm rot="0">
            <a:off x="914400" y="9725025"/>
            <a:ext cx="13811250" cy="241935"/>
          </a:xfrm>
          <a:prstGeom prst="rect">
            <a:avLst/>
          </a:prstGeom>
        </p:spPr>
        <p:txBody>
          <a:bodyPr anchor="t" rtlCol="false" tIns="0" lIns="0" bIns="0" rIns="0">
            <a:spAutoFit/>
          </a:bodyPr>
          <a:lstStyle/>
          <a:p>
            <a:pPr algn="l">
              <a:lnSpc>
                <a:spcPts val="1889"/>
              </a:lnSpc>
            </a:pPr>
            <a:r>
              <a:rPr lang="en-US" sz="1350" spc="108" b="true">
                <a:solidFill>
                  <a:srgbClr val="1F4E79"/>
                </a:solidFill>
                <a:latin typeface="Arimo Bold"/>
                <a:ea typeface="Arimo Bold"/>
                <a:cs typeface="Arimo Bold"/>
                <a:sym typeface="Arimo Bold"/>
              </a:rPr>
              <a:t>BCA FINAL-YEAR DEFENSE  •  XAVIER INTERNATIONAL COLLEGE</a:t>
            </a:r>
          </a:p>
        </p:txBody>
      </p:sp>
      <p:sp>
        <p:nvSpPr>
          <p:cNvPr name="TextBox 55" id="55"/>
          <p:cNvSpPr txBox="true"/>
          <p:nvPr/>
        </p:nvSpPr>
        <p:spPr>
          <a:xfrm rot="0">
            <a:off x="16478250" y="9725025"/>
            <a:ext cx="857250" cy="241935"/>
          </a:xfrm>
          <a:prstGeom prst="rect">
            <a:avLst/>
          </a:prstGeom>
        </p:spPr>
        <p:txBody>
          <a:bodyPr anchor="t" rtlCol="false" tIns="0" lIns="0" bIns="0" rIns="0">
            <a:spAutoFit/>
          </a:bodyPr>
          <a:lstStyle/>
          <a:p>
            <a:pPr algn="r">
              <a:lnSpc>
                <a:spcPts val="1889"/>
              </a:lnSpc>
            </a:pPr>
            <a:r>
              <a:rPr lang="en-US" b="true" sz="1350" spc="108">
                <a:solidFill>
                  <a:srgbClr val="1F4E79"/>
                </a:solidFill>
                <a:latin typeface="Arimo Bold"/>
                <a:ea typeface="Arimo Bold"/>
                <a:cs typeface="Arimo Bold"/>
                <a:sym typeface="Arimo Bold"/>
              </a:rPr>
              <a:t>02</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14400" y="476250"/>
            <a:ext cx="16459200" cy="733425"/>
            <a:chOff x="0" y="0"/>
            <a:chExt cx="21945600" cy="977900"/>
          </a:xfrm>
        </p:grpSpPr>
        <p:sp>
          <p:nvSpPr>
            <p:cNvPr name="TextBox 3" id="3"/>
            <p:cNvSpPr txBox="true"/>
            <p:nvPr/>
          </p:nvSpPr>
          <p:spPr>
            <a:xfrm rot="0">
              <a:off x="0" y="38100"/>
              <a:ext cx="1016000" cy="363220"/>
            </a:xfrm>
            <a:prstGeom prst="rect">
              <a:avLst/>
            </a:prstGeom>
          </p:spPr>
          <p:txBody>
            <a:bodyPr anchor="t" rtlCol="false" tIns="0" lIns="0" bIns="0" rIns="0">
              <a:spAutoFit/>
            </a:bodyPr>
            <a:lstStyle/>
            <a:p>
              <a:pPr algn="l">
                <a:lnSpc>
                  <a:spcPts val="2310"/>
                </a:lnSpc>
              </a:pPr>
              <a:r>
                <a:rPr lang="en-US" sz="1650" spc="132" b="true">
                  <a:solidFill>
                    <a:srgbClr val="1F4E79"/>
                  </a:solidFill>
                  <a:latin typeface="Aptos Bold"/>
                  <a:ea typeface="Aptos Bold"/>
                  <a:cs typeface="Aptos Bold"/>
                  <a:sym typeface="Aptos Bold"/>
                </a:rPr>
                <a:t>02</a:t>
              </a:r>
            </a:p>
          </p:txBody>
        </p:sp>
        <p:sp>
          <p:nvSpPr>
            <p:cNvPr name="TextBox 4" id="4"/>
            <p:cNvSpPr txBox="true"/>
            <p:nvPr/>
          </p:nvSpPr>
          <p:spPr>
            <a:xfrm rot="0">
              <a:off x="1066800" y="28575"/>
              <a:ext cx="19050000" cy="668655"/>
            </a:xfrm>
            <a:prstGeom prst="rect">
              <a:avLst/>
            </a:prstGeom>
          </p:spPr>
          <p:txBody>
            <a:bodyPr anchor="t" rtlCol="false" tIns="0" lIns="0" bIns="0" rIns="0">
              <a:spAutoFit/>
            </a:bodyPr>
            <a:lstStyle/>
            <a:p>
              <a:pPr algn="l">
                <a:lnSpc>
                  <a:spcPts val="3622"/>
                </a:lnSpc>
              </a:pPr>
              <a:r>
                <a:rPr lang="en-US" sz="3450" b="true">
                  <a:solidFill>
                    <a:srgbClr val="1F4E79"/>
                  </a:solidFill>
                  <a:latin typeface="Arimo Bold"/>
                  <a:ea typeface="Arimo Bold"/>
                  <a:cs typeface="Arimo Bold"/>
                  <a:sym typeface="Arimo Bold"/>
                </a:rPr>
                <a:t>Introduction and Background</a:t>
              </a:r>
            </a:p>
          </p:txBody>
        </p:sp>
        <p:sp>
          <p:nvSpPr>
            <p:cNvPr name="AutoShape 5" id="5"/>
            <p:cNvSpPr/>
            <p:nvPr/>
          </p:nvSpPr>
          <p:spPr>
            <a:xfrm>
              <a:off x="0" y="965200"/>
              <a:ext cx="21945600" cy="0"/>
            </a:xfrm>
            <a:prstGeom prst="line">
              <a:avLst/>
            </a:prstGeom>
            <a:ln cap="flat" w="25400">
              <a:solidFill>
                <a:srgbClr val="D9E1E8"/>
              </a:solidFill>
              <a:prstDash val="solid"/>
              <a:headEnd type="none" len="sm" w="sm"/>
              <a:tailEnd type="none" len="sm" w="sm"/>
            </a:ln>
          </p:spPr>
        </p:sp>
      </p:grpSp>
      <p:grpSp>
        <p:nvGrpSpPr>
          <p:cNvPr name="Group 6" id="6"/>
          <p:cNvGrpSpPr/>
          <p:nvPr/>
        </p:nvGrpSpPr>
        <p:grpSpPr>
          <a:xfrm rot="0">
            <a:off x="11811000" y="1714500"/>
            <a:ext cx="5334000" cy="5715000"/>
            <a:chOff x="0" y="0"/>
            <a:chExt cx="7112000" cy="7620000"/>
          </a:xfrm>
        </p:grpSpPr>
        <p:sp>
          <p:nvSpPr>
            <p:cNvPr name="Freeform 7" id="7"/>
            <p:cNvSpPr/>
            <p:nvPr/>
          </p:nvSpPr>
          <p:spPr>
            <a:xfrm flipH="false" flipV="false" rot="0">
              <a:off x="0" y="0"/>
              <a:ext cx="7112000" cy="7620000"/>
            </a:xfrm>
            <a:custGeom>
              <a:avLst/>
              <a:gdLst/>
              <a:ahLst/>
              <a:cxnLst/>
              <a:rect r="r" b="b" t="t" l="l"/>
              <a:pathLst>
                <a:path h="7620000" w="7112000">
                  <a:moveTo>
                    <a:pt x="0" y="0"/>
                  </a:moveTo>
                  <a:lnTo>
                    <a:pt x="7112000" y="0"/>
                  </a:lnTo>
                  <a:lnTo>
                    <a:pt x="7112000" y="7620000"/>
                  </a:lnTo>
                  <a:lnTo>
                    <a:pt x="0" y="7620000"/>
                  </a:lnTo>
                  <a:close/>
                </a:path>
              </a:pathLst>
            </a:custGeom>
            <a:solidFill>
              <a:srgbClr val="EEF3F7"/>
            </a:solidFill>
            <a:ln cap="sq">
              <a:noFill/>
              <a:prstDash val="solid"/>
              <a:miter/>
            </a:ln>
          </p:spPr>
        </p:sp>
        <p:sp>
          <p:nvSpPr>
            <p:cNvPr name="TextBox 8" id="8"/>
            <p:cNvSpPr txBox="true"/>
            <p:nvPr/>
          </p:nvSpPr>
          <p:spPr>
            <a:xfrm>
              <a:off x="0" y="-38100"/>
              <a:ext cx="7112000" cy="7658100"/>
            </a:xfrm>
            <a:prstGeom prst="rect">
              <a:avLst/>
            </a:prstGeom>
          </p:spPr>
          <p:txBody>
            <a:bodyPr anchor="ctr" rtlCol="false" tIns="50800" lIns="50800" bIns="50800" rIns="50800"/>
            <a:lstStyle/>
            <a:p>
              <a:pPr algn="l">
                <a:lnSpc>
                  <a:spcPts val="1679"/>
                </a:lnSpc>
              </a:pPr>
            </a:p>
          </p:txBody>
        </p:sp>
      </p:grpSp>
      <p:sp>
        <p:nvSpPr>
          <p:cNvPr name="TextBox 9" id="9"/>
          <p:cNvSpPr txBox="true"/>
          <p:nvPr/>
        </p:nvSpPr>
        <p:spPr>
          <a:xfrm rot="0">
            <a:off x="914400" y="2143125"/>
            <a:ext cx="10668000" cy="1606867"/>
          </a:xfrm>
          <a:prstGeom prst="rect">
            <a:avLst/>
          </a:prstGeom>
        </p:spPr>
        <p:txBody>
          <a:bodyPr anchor="t" rtlCol="false" tIns="0" lIns="0" bIns="0" rIns="0">
            <a:spAutoFit/>
          </a:bodyPr>
          <a:lstStyle/>
          <a:p>
            <a:pPr algn="l">
              <a:lnSpc>
                <a:spcPts val="6142"/>
              </a:lnSpc>
            </a:pPr>
            <a:r>
              <a:rPr lang="en-US" sz="5850" b="true">
                <a:solidFill>
                  <a:srgbClr val="1F4E79"/>
                </a:solidFill>
                <a:latin typeface="Arimo Bold"/>
                <a:ea typeface="Arimo Bold"/>
                <a:cs typeface="Arimo Bold"/>
                <a:sym typeface="Arimo Bold"/>
              </a:rPr>
              <a:t>Academic stress is measurable.</a:t>
            </a:r>
          </a:p>
        </p:txBody>
      </p:sp>
      <p:sp>
        <p:nvSpPr>
          <p:cNvPr name="TextBox 10" id="10"/>
          <p:cNvSpPr txBox="true"/>
          <p:nvPr/>
        </p:nvSpPr>
        <p:spPr>
          <a:xfrm rot="0">
            <a:off x="914400" y="3867150"/>
            <a:ext cx="9334500" cy="1275398"/>
          </a:xfrm>
          <a:prstGeom prst="rect">
            <a:avLst/>
          </a:prstGeom>
        </p:spPr>
        <p:txBody>
          <a:bodyPr anchor="t" rtlCol="false" tIns="0" lIns="0" bIns="0" rIns="0">
            <a:spAutoFit/>
          </a:bodyPr>
          <a:lstStyle/>
          <a:p>
            <a:pPr algn="l">
              <a:lnSpc>
                <a:spcPts val="3442"/>
              </a:lnSpc>
            </a:pPr>
            <a:r>
              <a:rPr lang="en-US" sz="2550">
                <a:solidFill>
                  <a:srgbClr val="17212B"/>
                </a:solidFill>
                <a:latin typeface="Aptos"/>
                <a:ea typeface="Aptos"/>
                <a:cs typeface="Aptos"/>
                <a:sym typeface="Aptos"/>
              </a:rPr>
              <a:t>Student wellbeing can be examined through routinely collected demographic, academic, lifestyle, psychosocial, and stress-assessment information.</a:t>
            </a:r>
          </a:p>
        </p:txBody>
      </p:sp>
      <p:sp>
        <p:nvSpPr>
          <p:cNvPr name="TextBox 11" id="11"/>
          <p:cNvSpPr txBox="true"/>
          <p:nvPr/>
        </p:nvSpPr>
        <p:spPr>
          <a:xfrm rot="0">
            <a:off x="12573000" y="2447925"/>
            <a:ext cx="3810000" cy="2005013"/>
          </a:xfrm>
          <a:prstGeom prst="rect">
            <a:avLst/>
          </a:prstGeom>
        </p:spPr>
        <p:txBody>
          <a:bodyPr anchor="t" rtlCol="false" tIns="0" lIns="0" bIns="0" rIns="0">
            <a:spAutoFit/>
          </a:bodyPr>
          <a:lstStyle/>
          <a:p>
            <a:pPr algn="ctr">
              <a:lnSpc>
                <a:spcPts val="14962"/>
              </a:lnSpc>
            </a:pPr>
            <a:r>
              <a:rPr lang="en-US" sz="14250" b="true">
                <a:solidFill>
                  <a:srgbClr val="2E7D32"/>
                </a:solidFill>
                <a:latin typeface="Arimo Bold"/>
                <a:ea typeface="Arimo Bold"/>
                <a:cs typeface="Arimo Bold"/>
                <a:sym typeface="Arimo Bold"/>
              </a:rPr>
              <a:t>10</a:t>
            </a:r>
          </a:p>
        </p:txBody>
      </p:sp>
      <p:sp>
        <p:nvSpPr>
          <p:cNvPr name="TextBox 12" id="12"/>
          <p:cNvSpPr txBox="true"/>
          <p:nvPr/>
        </p:nvSpPr>
        <p:spPr>
          <a:xfrm rot="0">
            <a:off x="12573000" y="4581525"/>
            <a:ext cx="3810000" cy="702945"/>
          </a:xfrm>
          <a:prstGeom prst="rect">
            <a:avLst/>
          </a:prstGeom>
        </p:spPr>
        <p:txBody>
          <a:bodyPr anchor="t" rtlCol="false" tIns="0" lIns="0" bIns="0" rIns="0">
            <a:spAutoFit/>
          </a:bodyPr>
          <a:lstStyle/>
          <a:p>
            <a:pPr algn="ctr">
              <a:lnSpc>
                <a:spcPts val="2835"/>
              </a:lnSpc>
            </a:pPr>
            <a:r>
              <a:rPr lang="en-US" sz="2100">
                <a:solidFill>
                  <a:srgbClr val="17212B"/>
                </a:solidFill>
                <a:latin typeface="Aptos"/>
                <a:ea typeface="Aptos"/>
                <a:cs typeface="Aptos"/>
                <a:sym typeface="Aptos"/>
              </a:rPr>
              <a:t>stress-assessment questions</a:t>
            </a:r>
          </a:p>
          <a:p>
            <a:pPr algn="ctr">
              <a:lnSpc>
                <a:spcPts val="2835"/>
              </a:lnSpc>
            </a:pPr>
            <a:r>
              <a:rPr lang="en-US" sz="2100">
                <a:solidFill>
                  <a:srgbClr val="17212B"/>
                </a:solidFill>
                <a:latin typeface="Aptos"/>
                <a:ea typeface="Aptos"/>
                <a:cs typeface="Aptos"/>
                <a:sym typeface="Aptos"/>
              </a:rPr>
              <a:t>on a 1–5 scale</a:t>
            </a:r>
          </a:p>
        </p:txBody>
      </p:sp>
      <p:sp>
        <p:nvSpPr>
          <p:cNvPr name="TextBox 13" id="13"/>
          <p:cNvSpPr txBox="true"/>
          <p:nvPr/>
        </p:nvSpPr>
        <p:spPr>
          <a:xfrm rot="0">
            <a:off x="914400" y="9734550"/>
            <a:ext cx="13811250" cy="232410"/>
          </a:xfrm>
          <a:prstGeom prst="rect">
            <a:avLst/>
          </a:prstGeom>
        </p:spPr>
        <p:txBody>
          <a:bodyPr anchor="t" rtlCol="false" tIns="0" lIns="0" bIns="0" rIns="0">
            <a:spAutoFit/>
          </a:bodyPr>
          <a:lstStyle/>
          <a:p>
            <a:pPr algn="l">
              <a:lnSpc>
                <a:spcPts val="1889"/>
              </a:lnSpc>
            </a:pPr>
            <a:r>
              <a:rPr lang="en-US" sz="1350" spc="108" b="true">
                <a:solidFill>
                  <a:srgbClr val="1F4E79"/>
                </a:solidFill>
                <a:latin typeface="Aptos Bold"/>
                <a:ea typeface="Aptos Bold"/>
                <a:cs typeface="Aptos Bold"/>
                <a:sym typeface="Aptos Bold"/>
              </a:rPr>
              <a:t>BCA FINAL-YEAR DEFENSE  •  XAVIER INTERNATIONAL COLLEGE</a:t>
            </a:r>
          </a:p>
        </p:txBody>
      </p:sp>
      <p:sp>
        <p:nvSpPr>
          <p:cNvPr name="TextBox 14" id="14"/>
          <p:cNvSpPr txBox="true"/>
          <p:nvPr/>
        </p:nvSpPr>
        <p:spPr>
          <a:xfrm rot="0">
            <a:off x="16478250" y="9734550"/>
            <a:ext cx="857250" cy="232410"/>
          </a:xfrm>
          <a:prstGeom prst="rect">
            <a:avLst/>
          </a:prstGeom>
        </p:spPr>
        <p:txBody>
          <a:bodyPr anchor="t" rtlCol="false" tIns="0" lIns="0" bIns="0" rIns="0">
            <a:spAutoFit/>
          </a:bodyPr>
          <a:lstStyle/>
          <a:p>
            <a:pPr algn="r">
              <a:lnSpc>
                <a:spcPts val="1889"/>
              </a:lnSpc>
            </a:pPr>
            <a:r>
              <a:rPr lang="en-US" b="true" sz="1350" spc="108">
                <a:solidFill>
                  <a:srgbClr val="1F4E79"/>
                </a:solidFill>
                <a:latin typeface="Aptos Bold"/>
                <a:ea typeface="Aptos Bold"/>
                <a:cs typeface="Aptos Bold"/>
                <a:sym typeface="Aptos Bold"/>
              </a:rPr>
              <a:t>03</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1F4E79"/>
        </a:solidFill>
      </p:bgPr>
    </p:bg>
    <p:spTree>
      <p:nvGrpSpPr>
        <p:cNvPr id="1" name=""/>
        <p:cNvGrpSpPr/>
        <p:nvPr/>
      </p:nvGrpSpPr>
      <p:grpSpPr>
        <a:xfrm>
          <a:off x="0" y="0"/>
          <a:ext cx="0" cy="0"/>
          <a:chOff x="0" y="0"/>
          <a:chExt cx="0" cy="0"/>
        </a:xfrm>
      </p:grpSpPr>
      <p:grpSp>
        <p:nvGrpSpPr>
          <p:cNvPr name="Group 2" id="2"/>
          <p:cNvGrpSpPr/>
          <p:nvPr/>
        </p:nvGrpSpPr>
        <p:grpSpPr>
          <a:xfrm rot="0">
            <a:off x="1143000" y="2381250"/>
            <a:ext cx="152400" cy="4762500"/>
            <a:chOff x="0" y="0"/>
            <a:chExt cx="203200" cy="6350000"/>
          </a:xfrm>
        </p:grpSpPr>
        <p:sp>
          <p:nvSpPr>
            <p:cNvPr name="Freeform 3" id="3"/>
            <p:cNvSpPr/>
            <p:nvPr/>
          </p:nvSpPr>
          <p:spPr>
            <a:xfrm flipH="false" flipV="false" rot="0">
              <a:off x="0" y="0"/>
              <a:ext cx="203200" cy="6350000"/>
            </a:xfrm>
            <a:custGeom>
              <a:avLst/>
              <a:gdLst/>
              <a:ahLst/>
              <a:cxnLst/>
              <a:rect r="r" b="b" t="t" l="l"/>
              <a:pathLst>
                <a:path h="6350000" w="203200">
                  <a:moveTo>
                    <a:pt x="0" y="0"/>
                  </a:moveTo>
                  <a:lnTo>
                    <a:pt x="203200" y="0"/>
                  </a:lnTo>
                  <a:lnTo>
                    <a:pt x="203200" y="6350000"/>
                  </a:lnTo>
                  <a:lnTo>
                    <a:pt x="0" y="6350000"/>
                  </a:lnTo>
                  <a:close/>
                </a:path>
              </a:pathLst>
            </a:custGeom>
            <a:solidFill>
              <a:srgbClr val="2E7D32"/>
            </a:solidFill>
            <a:ln cap="sq">
              <a:noFill/>
              <a:prstDash val="solid"/>
              <a:miter/>
            </a:ln>
          </p:spPr>
        </p:sp>
        <p:sp>
          <p:nvSpPr>
            <p:cNvPr name="TextBox 4" id="4"/>
            <p:cNvSpPr txBox="true"/>
            <p:nvPr/>
          </p:nvSpPr>
          <p:spPr>
            <a:xfrm>
              <a:off x="0" y="-38100"/>
              <a:ext cx="203200" cy="63881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16992600" y="2381250"/>
            <a:ext cx="152400" cy="4762500"/>
            <a:chOff x="0" y="0"/>
            <a:chExt cx="203200" cy="6350000"/>
          </a:xfrm>
        </p:grpSpPr>
        <p:sp>
          <p:nvSpPr>
            <p:cNvPr name="Freeform 6" id="6"/>
            <p:cNvSpPr/>
            <p:nvPr/>
          </p:nvSpPr>
          <p:spPr>
            <a:xfrm flipH="false" flipV="false" rot="0">
              <a:off x="0" y="0"/>
              <a:ext cx="203200" cy="6350000"/>
            </a:xfrm>
            <a:custGeom>
              <a:avLst/>
              <a:gdLst/>
              <a:ahLst/>
              <a:cxnLst/>
              <a:rect r="r" b="b" t="t" l="l"/>
              <a:pathLst>
                <a:path h="6350000" w="203200">
                  <a:moveTo>
                    <a:pt x="0" y="0"/>
                  </a:moveTo>
                  <a:lnTo>
                    <a:pt x="203200" y="0"/>
                  </a:lnTo>
                  <a:lnTo>
                    <a:pt x="203200" y="6350000"/>
                  </a:lnTo>
                  <a:lnTo>
                    <a:pt x="0" y="6350000"/>
                  </a:lnTo>
                  <a:close/>
                </a:path>
              </a:pathLst>
            </a:custGeom>
            <a:solidFill>
              <a:srgbClr val="2E7D32"/>
            </a:solidFill>
            <a:ln cap="sq">
              <a:noFill/>
              <a:prstDash val="solid"/>
              <a:miter/>
            </a:ln>
          </p:spPr>
        </p:sp>
        <p:sp>
          <p:nvSpPr>
            <p:cNvPr name="TextBox 7" id="7"/>
            <p:cNvSpPr txBox="true"/>
            <p:nvPr/>
          </p:nvSpPr>
          <p:spPr>
            <a:xfrm>
              <a:off x="0" y="-38100"/>
              <a:ext cx="203200" cy="6388100"/>
            </a:xfrm>
            <a:prstGeom prst="rect">
              <a:avLst/>
            </a:prstGeom>
          </p:spPr>
          <p:txBody>
            <a:bodyPr anchor="ctr" rtlCol="false" tIns="50800" lIns="50800" bIns="50800" rIns="50800"/>
            <a:lstStyle/>
            <a:p>
              <a:pPr algn="l">
                <a:lnSpc>
                  <a:spcPts val="1679"/>
                </a:lnSpc>
              </a:pPr>
            </a:p>
          </p:txBody>
        </p:sp>
      </p:grpSp>
      <p:sp>
        <p:nvSpPr>
          <p:cNvPr name="TextBox 8" id="8"/>
          <p:cNvSpPr txBox="true"/>
          <p:nvPr/>
        </p:nvSpPr>
        <p:spPr>
          <a:xfrm rot="0">
            <a:off x="914400" y="1390650"/>
            <a:ext cx="16459200" cy="323850"/>
          </a:xfrm>
          <a:prstGeom prst="rect">
            <a:avLst/>
          </a:prstGeom>
        </p:spPr>
        <p:txBody>
          <a:bodyPr anchor="t" rtlCol="false" tIns="0" lIns="0" bIns="0" rIns="0">
            <a:spAutoFit/>
          </a:bodyPr>
          <a:lstStyle/>
          <a:p>
            <a:pPr algn="ctr">
              <a:lnSpc>
                <a:spcPts val="2625"/>
              </a:lnSpc>
            </a:pPr>
            <a:r>
              <a:rPr lang="en-US" b="true" sz="1875" spc="150">
                <a:solidFill>
                  <a:srgbClr val="FFFFFF"/>
                </a:solidFill>
                <a:latin typeface="Aptos Bold"/>
                <a:ea typeface="Aptos Bold"/>
                <a:cs typeface="Aptos Bold"/>
                <a:sym typeface="Aptos Bold"/>
              </a:rPr>
              <a:t>CENTRAL RESEARCH QUESTION</a:t>
            </a:r>
          </a:p>
        </p:txBody>
      </p:sp>
      <p:sp>
        <p:nvSpPr>
          <p:cNvPr name="TextBox 9" id="9"/>
          <p:cNvSpPr txBox="true"/>
          <p:nvPr/>
        </p:nvSpPr>
        <p:spPr>
          <a:xfrm rot="0">
            <a:off x="2000250" y="2905125"/>
            <a:ext cx="14287500" cy="1898333"/>
          </a:xfrm>
          <a:prstGeom prst="rect">
            <a:avLst/>
          </a:prstGeom>
        </p:spPr>
        <p:txBody>
          <a:bodyPr anchor="t" rtlCol="false" tIns="0" lIns="0" bIns="0" rIns="0">
            <a:spAutoFit/>
          </a:bodyPr>
          <a:lstStyle/>
          <a:p>
            <a:pPr algn="ctr">
              <a:lnSpc>
                <a:spcPts val="4882"/>
              </a:lnSpc>
            </a:pPr>
            <a:r>
              <a:rPr lang="en-US" sz="4650" b="true">
                <a:solidFill>
                  <a:srgbClr val="FFFFFF"/>
                </a:solidFill>
                <a:latin typeface="Arimo Bold"/>
                <a:ea typeface="Arimo Bold"/>
                <a:cs typeface="Arimo Bold"/>
                <a:sym typeface="Arimo Bold"/>
              </a:rPr>
              <a:t>“Can routinely collected student information predict academic stress reliably, without learning patterns that fail outside the training sample?”</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14400" y="476250"/>
            <a:ext cx="16459200" cy="733425"/>
            <a:chOff x="0" y="0"/>
            <a:chExt cx="21945600" cy="977900"/>
          </a:xfrm>
        </p:grpSpPr>
        <p:sp>
          <p:nvSpPr>
            <p:cNvPr name="TextBox 3" id="3"/>
            <p:cNvSpPr txBox="true"/>
            <p:nvPr/>
          </p:nvSpPr>
          <p:spPr>
            <a:xfrm rot="0">
              <a:off x="0" y="38100"/>
              <a:ext cx="1016000" cy="363220"/>
            </a:xfrm>
            <a:prstGeom prst="rect">
              <a:avLst/>
            </a:prstGeom>
          </p:spPr>
          <p:txBody>
            <a:bodyPr anchor="t" rtlCol="false" tIns="0" lIns="0" bIns="0" rIns="0">
              <a:spAutoFit/>
            </a:bodyPr>
            <a:lstStyle/>
            <a:p>
              <a:pPr algn="l">
                <a:lnSpc>
                  <a:spcPts val="2310"/>
                </a:lnSpc>
              </a:pPr>
              <a:r>
                <a:rPr lang="en-US" sz="1650" spc="132" b="true">
                  <a:solidFill>
                    <a:srgbClr val="1F4E79"/>
                  </a:solidFill>
                  <a:latin typeface="Aptos Bold"/>
                  <a:ea typeface="Aptos Bold"/>
                  <a:cs typeface="Aptos Bold"/>
                  <a:sym typeface="Aptos Bold"/>
                </a:rPr>
                <a:t>03</a:t>
              </a:r>
            </a:p>
          </p:txBody>
        </p:sp>
        <p:sp>
          <p:nvSpPr>
            <p:cNvPr name="TextBox 4" id="4"/>
            <p:cNvSpPr txBox="true"/>
            <p:nvPr/>
          </p:nvSpPr>
          <p:spPr>
            <a:xfrm rot="0">
              <a:off x="1066800" y="28575"/>
              <a:ext cx="19050000" cy="668655"/>
            </a:xfrm>
            <a:prstGeom prst="rect">
              <a:avLst/>
            </a:prstGeom>
          </p:spPr>
          <p:txBody>
            <a:bodyPr anchor="t" rtlCol="false" tIns="0" lIns="0" bIns="0" rIns="0">
              <a:spAutoFit/>
            </a:bodyPr>
            <a:lstStyle/>
            <a:p>
              <a:pPr algn="l">
                <a:lnSpc>
                  <a:spcPts val="3622"/>
                </a:lnSpc>
              </a:pPr>
              <a:r>
                <a:rPr lang="en-US" sz="3450" b="true">
                  <a:solidFill>
                    <a:srgbClr val="1F4E79"/>
                  </a:solidFill>
                  <a:latin typeface="Arimo Bold"/>
                  <a:ea typeface="Arimo Bold"/>
                  <a:cs typeface="Arimo Bold"/>
                  <a:sym typeface="Arimo Bold"/>
                </a:rPr>
                <a:t>Objectives</a:t>
              </a:r>
            </a:p>
          </p:txBody>
        </p:sp>
        <p:sp>
          <p:nvSpPr>
            <p:cNvPr name="AutoShape 5" id="5"/>
            <p:cNvSpPr/>
            <p:nvPr/>
          </p:nvSpPr>
          <p:spPr>
            <a:xfrm>
              <a:off x="0" y="965200"/>
              <a:ext cx="21945600" cy="0"/>
            </a:xfrm>
            <a:prstGeom prst="line">
              <a:avLst/>
            </a:prstGeom>
            <a:ln cap="flat" w="25400">
              <a:solidFill>
                <a:srgbClr val="D9E1E8"/>
              </a:solidFill>
              <a:prstDash val="solid"/>
              <a:headEnd type="none" len="sm" w="sm"/>
              <a:tailEnd type="none" len="sm" w="sm"/>
            </a:ln>
          </p:spPr>
        </p:sp>
      </p:grpSp>
      <p:sp>
        <p:nvSpPr>
          <p:cNvPr name="TextBox 6" id="6"/>
          <p:cNvSpPr txBox="true"/>
          <p:nvPr/>
        </p:nvSpPr>
        <p:spPr>
          <a:xfrm rot="0">
            <a:off x="914400" y="9734550"/>
            <a:ext cx="13811250" cy="232410"/>
          </a:xfrm>
          <a:prstGeom prst="rect">
            <a:avLst/>
          </a:prstGeom>
        </p:spPr>
        <p:txBody>
          <a:bodyPr anchor="t" rtlCol="false" tIns="0" lIns="0" bIns="0" rIns="0">
            <a:spAutoFit/>
          </a:bodyPr>
          <a:lstStyle/>
          <a:p>
            <a:pPr algn="l">
              <a:lnSpc>
                <a:spcPts val="1889"/>
              </a:lnSpc>
            </a:pPr>
            <a:r>
              <a:rPr lang="en-US" sz="1350" spc="108" b="true">
                <a:solidFill>
                  <a:srgbClr val="1F4E79"/>
                </a:solidFill>
                <a:latin typeface="Aptos Bold"/>
                <a:ea typeface="Aptos Bold"/>
                <a:cs typeface="Aptos Bold"/>
                <a:sym typeface="Aptos Bold"/>
              </a:rPr>
              <a:t>BCA FINAL-YEAR DEFENSE  •  XAVIER INTERNATIONAL COLLEGE</a:t>
            </a:r>
          </a:p>
        </p:txBody>
      </p:sp>
      <p:sp>
        <p:nvSpPr>
          <p:cNvPr name="TextBox 7" id="7"/>
          <p:cNvSpPr txBox="true"/>
          <p:nvPr/>
        </p:nvSpPr>
        <p:spPr>
          <a:xfrm rot="0">
            <a:off x="16478250" y="9734550"/>
            <a:ext cx="857250" cy="232410"/>
          </a:xfrm>
          <a:prstGeom prst="rect">
            <a:avLst/>
          </a:prstGeom>
        </p:spPr>
        <p:txBody>
          <a:bodyPr anchor="t" rtlCol="false" tIns="0" lIns="0" bIns="0" rIns="0">
            <a:spAutoFit/>
          </a:bodyPr>
          <a:lstStyle/>
          <a:p>
            <a:pPr algn="r">
              <a:lnSpc>
                <a:spcPts val="1889"/>
              </a:lnSpc>
            </a:pPr>
            <a:r>
              <a:rPr lang="en-US" b="true" sz="1350" spc="108">
                <a:solidFill>
                  <a:srgbClr val="1F4E79"/>
                </a:solidFill>
                <a:latin typeface="Aptos Bold"/>
                <a:ea typeface="Aptos Bold"/>
                <a:cs typeface="Aptos Bold"/>
                <a:sym typeface="Aptos Bold"/>
              </a:rPr>
              <a:t>05</a:t>
            </a:r>
          </a:p>
        </p:txBody>
      </p:sp>
      <p:grpSp>
        <p:nvGrpSpPr>
          <p:cNvPr name="Group 8" id="8"/>
          <p:cNvGrpSpPr/>
          <p:nvPr/>
        </p:nvGrpSpPr>
        <p:grpSpPr>
          <a:xfrm rot="0">
            <a:off x="1028700" y="2117705"/>
            <a:ext cx="16059438" cy="1399905"/>
            <a:chOff x="0" y="0"/>
            <a:chExt cx="21412584" cy="1866540"/>
          </a:xfrm>
        </p:grpSpPr>
        <p:grpSp>
          <p:nvGrpSpPr>
            <p:cNvPr name="Group 9" id="9"/>
            <p:cNvGrpSpPr/>
            <p:nvPr/>
          </p:nvGrpSpPr>
          <p:grpSpPr>
            <a:xfrm rot="0">
              <a:off x="0" y="0"/>
              <a:ext cx="21412584" cy="1866540"/>
              <a:chOff x="0" y="0"/>
              <a:chExt cx="21412584" cy="1866540"/>
            </a:xfrm>
          </p:grpSpPr>
          <p:sp>
            <p:nvSpPr>
              <p:cNvPr name="Freeform 10" id="10"/>
              <p:cNvSpPr/>
              <p:nvPr/>
            </p:nvSpPr>
            <p:spPr>
              <a:xfrm flipH="false" flipV="false" rot="0">
                <a:off x="0" y="0"/>
                <a:ext cx="21412584" cy="1866540"/>
              </a:xfrm>
              <a:custGeom>
                <a:avLst/>
                <a:gdLst/>
                <a:ahLst/>
                <a:cxnLst/>
                <a:rect r="r" b="b" t="t" l="l"/>
                <a:pathLst>
                  <a:path h="1866540" w="21412584">
                    <a:moveTo>
                      <a:pt x="0" y="0"/>
                    </a:moveTo>
                    <a:lnTo>
                      <a:pt x="21412584" y="0"/>
                    </a:lnTo>
                    <a:lnTo>
                      <a:pt x="21412584" y="1866540"/>
                    </a:lnTo>
                    <a:lnTo>
                      <a:pt x="0" y="1866540"/>
                    </a:lnTo>
                    <a:close/>
                  </a:path>
                </a:pathLst>
              </a:custGeom>
              <a:solidFill>
                <a:srgbClr val="EEF3F7"/>
              </a:solidFill>
              <a:ln cap="sq">
                <a:noFill/>
                <a:prstDash val="solid"/>
                <a:miter/>
              </a:ln>
            </p:spPr>
          </p:sp>
          <p:sp>
            <p:nvSpPr>
              <p:cNvPr name="TextBox 11" id="11"/>
              <p:cNvSpPr txBox="true"/>
              <p:nvPr/>
            </p:nvSpPr>
            <p:spPr>
              <a:xfrm>
                <a:off x="0" y="-38100"/>
                <a:ext cx="21412584" cy="1904640"/>
              </a:xfrm>
              <a:prstGeom prst="rect">
                <a:avLst/>
              </a:prstGeom>
            </p:spPr>
            <p:txBody>
              <a:bodyPr anchor="ctr" rtlCol="false" tIns="50800" lIns="50800" bIns="50800" rIns="50800"/>
              <a:lstStyle/>
              <a:p>
                <a:pPr algn="l">
                  <a:lnSpc>
                    <a:spcPts val="1679"/>
                  </a:lnSpc>
                </a:pPr>
              </a:p>
            </p:txBody>
          </p:sp>
        </p:grpSp>
        <p:sp>
          <p:nvSpPr>
            <p:cNvPr name="TextBox 12" id="12"/>
            <p:cNvSpPr txBox="true"/>
            <p:nvPr/>
          </p:nvSpPr>
          <p:spPr>
            <a:xfrm rot="0">
              <a:off x="702911" y="436065"/>
              <a:ext cx="8352189" cy="1042035"/>
            </a:xfrm>
            <a:prstGeom prst="rect">
              <a:avLst/>
            </a:prstGeom>
          </p:spPr>
          <p:txBody>
            <a:bodyPr anchor="t" rtlCol="false" tIns="0" lIns="0" bIns="0" rIns="0">
              <a:spAutoFit/>
            </a:bodyPr>
            <a:lstStyle/>
            <a:p>
              <a:pPr algn="ctr">
                <a:lnSpc>
                  <a:spcPts val="5670"/>
                </a:lnSpc>
              </a:pPr>
              <a:r>
                <a:rPr lang="en-US" sz="5400" b="true">
                  <a:solidFill>
                    <a:srgbClr val="2E7D32"/>
                  </a:solidFill>
                  <a:latin typeface="Arimo Bold"/>
                  <a:ea typeface="Arimo Bold"/>
                  <a:cs typeface="Arimo Bold"/>
                  <a:sym typeface="Arimo Bold"/>
                </a:rPr>
                <a:t>Data Preparation</a:t>
              </a:r>
            </a:p>
          </p:txBody>
        </p:sp>
      </p:grpSp>
      <p:grpSp>
        <p:nvGrpSpPr>
          <p:cNvPr name="Group 13" id="13"/>
          <p:cNvGrpSpPr/>
          <p:nvPr/>
        </p:nvGrpSpPr>
        <p:grpSpPr>
          <a:xfrm rot="0">
            <a:off x="1028700" y="4194425"/>
            <a:ext cx="16059438" cy="1399905"/>
            <a:chOff x="0" y="0"/>
            <a:chExt cx="21412584" cy="1866540"/>
          </a:xfrm>
        </p:grpSpPr>
        <p:grpSp>
          <p:nvGrpSpPr>
            <p:cNvPr name="Group 14" id="14"/>
            <p:cNvGrpSpPr/>
            <p:nvPr/>
          </p:nvGrpSpPr>
          <p:grpSpPr>
            <a:xfrm rot="0">
              <a:off x="0" y="0"/>
              <a:ext cx="21412584" cy="1866540"/>
              <a:chOff x="0" y="0"/>
              <a:chExt cx="21412584" cy="1866540"/>
            </a:xfrm>
          </p:grpSpPr>
          <p:sp>
            <p:nvSpPr>
              <p:cNvPr name="Freeform 15" id="15"/>
              <p:cNvSpPr/>
              <p:nvPr/>
            </p:nvSpPr>
            <p:spPr>
              <a:xfrm flipH="false" flipV="false" rot="0">
                <a:off x="0" y="0"/>
                <a:ext cx="21412584" cy="1866540"/>
              </a:xfrm>
              <a:custGeom>
                <a:avLst/>
                <a:gdLst/>
                <a:ahLst/>
                <a:cxnLst/>
                <a:rect r="r" b="b" t="t" l="l"/>
                <a:pathLst>
                  <a:path h="1866540" w="21412584">
                    <a:moveTo>
                      <a:pt x="0" y="0"/>
                    </a:moveTo>
                    <a:lnTo>
                      <a:pt x="21412584" y="0"/>
                    </a:lnTo>
                    <a:lnTo>
                      <a:pt x="21412584" y="1866540"/>
                    </a:lnTo>
                    <a:lnTo>
                      <a:pt x="0" y="1866540"/>
                    </a:lnTo>
                    <a:close/>
                  </a:path>
                </a:pathLst>
              </a:custGeom>
              <a:solidFill>
                <a:srgbClr val="EEF3F7"/>
              </a:solidFill>
              <a:ln cap="sq">
                <a:noFill/>
                <a:prstDash val="solid"/>
                <a:miter/>
              </a:ln>
            </p:spPr>
          </p:sp>
          <p:sp>
            <p:nvSpPr>
              <p:cNvPr name="TextBox 16" id="16"/>
              <p:cNvSpPr txBox="true"/>
              <p:nvPr/>
            </p:nvSpPr>
            <p:spPr>
              <a:xfrm>
                <a:off x="0" y="-38100"/>
                <a:ext cx="21412584" cy="1904640"/>
              </a:xfrm>
              <a:prstGeom prst="rect">
                <a:avLst/>
              </a:prstGeom>
            </p:spPr>
            <p:txBody>
              <a:bodyPr anchor="ctr" rtlCol="false" tIns="50800" lIns="50800" bIns="50800" rIns="50800"/>
              <a:lstStyle/>
              <a:p>
                <a:pPr algn="l">
                  <a:lnSpc>
                    <a:spcPts val="1679"/>
                  </a:lnSpc>
                </a:pPr>
              </a:p>
            </p:txBody>
          </p:sp>
        </p:grpSp>
        <p:sp>
          <p:nvSpPr>
            <p:cNvPr name="TextBox 17" id="17"/>
            <p:cNvSpPr txBox="true"/>
            <p:nvPr/>
          </p:nvSpPr>
          <p:spPr>
            <a:xfrm rot="0">
              <a:off x="169207" y="436065"/>
              <a:ext cx="8352189" cy="1042035"/>
            </a:xfrm>
            <a:prstGeom prst="rect">
              <a:avLst/>
            </a:prstGeom>
          </p:spPr>
          <p:txBody>
            <a:bodyPr anchor="t" rtlCol="false" tIns="0" lIns="0" bIns="0" rIns="0">
              <a:spAutoFit/>
            </a:bodyPr>
            <a:lstStyle/>
            <a:p>
              <a:pPr algn="ctr">
                <a:lnSpc>
                  <a:spcPts val="5670"/>
                </a:lnSpc>
              </a:pPr>
              <a:r>
                <a:rPr lang="en-US" sz="5400" b="true">
                  <a:solidFill>
                    <a:srgbClr val="2E7D32"/>
                  </a:solidFill>
                  <a:latin typeface="Arimo Bold"/>
                  <a:ea typeface="Arimo Bold"/>
                  <a:cs typeface="Arimo Bold"/>
                  <a:sym typeface="Arimo Bold"/>
                </a:rPr>
                <a:t>Model Training</a:t>
              </a:r>
            </a:p>
          </p:txBody>
        </p:sp>
      </p:grpSp>
      <p:grpSp>
        <p:nvGrpSpPr>
          <p:cNvPr name="Group 18" id="18"/>
          <p:cNvGrpSpPr/>
          <p:nvPr/>
        </p:nvGrpSpPr>
        <p:grpSpPr>
          <a:xfrm rot="0">
            <a:off x="1028700" y="6499205"/>
            <a:ext cx="16059438" cy="2114280"/>
            <a:chOff x="0" y="0"/>
            <a:chExt cx="21412584" cy="2819040"/>
          </a:xfrm>
        </p:grpSpPr>
        <p:grpSp>
          <p:nvGrpSpPr>
            <p:cNvPr name="Group 19" id="19"/>
            <p:cNvGrpSpPr/>
            <p:nvPr/>
          </p:nvGrpSpPr>
          <p:grpSpPr>
            <a:xfrm rot="0">
              <a:off x="0" y="0"/>
              <a:ext cx="21412584" cy="2819040"/>
              <a:chOff x="0" y="0"/>
              <a:chExt cx="21412584" cy="2819040"/>
            </a:xfrm>
          </p:grpSpPr>
          <p:sp>
            <p:nvSpPr>
              <p:cNvPr name="Freeform 20" id="20"/>
              <p:cNvSpPr/>
              <p:nvPr/>
            </p:nvSpPr>
            <p:spPr>
              <a:xfrm flipH="false" flipV="false" rot="0">
                <a:off x="0" y="0"/>
                <a:ext cx="21412584" cy="2819040"/>
              </a:xfrm>
              <a:custGeom>
                <a:avLst/>
                <a:gdLst/>
                <a:ahLst/>
                <a:cxnLst/>
                <a:rect r="r" b="b" t="t" l="l"/>
                <a:pathLst>
                  <a:path h="2819040" w="21412584">
                    <a:moveTo>
                      <a:pt x="0" y="0"/>
                    </a:moveTo>
                    <a:lnTo>
                      <a:pt x="21412584" y="0"/>
                    </a:lnTo>
                    <a:lnTo>
                      <a:pt x="21412584" y="2819040"/>
                    </a:lnTo>
                    <a:lnTo>
                      <a:pt x="0" y="2819040"/>
                    </a:lnTo>
                    <a:close/>
                  </a:path>
                </a:pathLst>
              </a:custGeom>
              <a:solidFill>
                <a:srgbClr val="EEF3F7"/>
              </a:solidFill>
              <a:ln cap="sq">
                <a:noFill/>
                <a:prstDash val="solid"/>
                <a:miter/>
              </a:ln>
            </p:spPr>
          </p:sp>
          <p:sp>
            <p:nvSpPr>
              <p:cNvPr name="TextBox 21" id="21"/>
              <p:cNvSpPr txBox="true"/>
              <p:nvPr/>
            </p:nvSpPr>
            <p:spPr>
              <a:xfrm>
                <a:off x="0" y="-38100"/>
                <a:ext cx="21412584" cy="2857140"/>
              </a:xfrm>
              <a:prstGeom prst="rect">
                <a:avLst/>
              </a:prstGeom>
            </p:spPr>
            <p:txBody>
              <a:bodyPr anchor="ctr" rtlCol="false" tIns="50800" lIns="50800" bIns="50800" rIns="50800"/>
              <a:lstStyle/>
              <a:p>
                <a:pPr algn="l">
                  <a:lnSpc>
                    <a:spcPts val="1679"/>
                  </a:lnSpc>
                </a:pPr>
              </a:p>
            </p:txBody>
          </p:sp>
        </p:grpSp>
        <p:sp>
          <p:nvSpPr>
            <p:cNvPr name="TextBox 22" id="22"/>
            <p:cNvSpPr txBox="true"/>
            <p:nvPr/>
          </p:nvSpPr>
          <p:spPr>
            <a:xfrm rot="0">
              <a:off x="437972" y="752204"/>
              <a:ext cx="10456060" cy="1042035"/>
            </a:xfrm>
            <a:prstGeom prst="rect">
              <a:avLst/>
            </a:prstGeom>
          </p:spPr>
          <p:txBody>
            <a:bodyPr anchor="t" rtlCol="false" tIns="0" lIns="0" bIns="0" rIns="0">
              <a:spAutoFit/>
            </a:bodyPr>
            <a:lstStyle/>
            <a:p>
              <a:pPr algn="ctr">
                <a:lnSpc>
                  <a:spcPts val="5670"/>
                </a:lnSpc>
              </a:pPr>
              <a:r>
                <a:rPr lang="en-US" sz="5400" b="true">
                  <a:solidFill>
                    <a:srgbClr val="2E7D32"/>
                  </a:solidFill>
                  <a:latin typeface="Arimo Bold"/>
                  <a:ea typeface="Arimo Bold"/>
                  <a:cs typeface="Arimo Bold"/>
                  <a:sym typeface="Arimo Bold"/>
                </a:rPr>
                <a:t>Prototype &amp; Insights</a:t>
              </a:r>
            </a:p>
          </p:txBody>
        </p:sp>
      </p:gr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14400" y="476250"/>
            <a:ext cx="16459200" cy="733425"/>
            <a:chOff x="0" y="0"/>
            <a:chExt cx="21945600" cy="977900"/>
          </a:xfrm>
        </p:grpSpPr>
        <p:sp>
          <p:nvSpPr>
            <p:cNvPr name="TextBox 3" id="3"/>
            <p:cNvSpPr txBox="true"/>
            <p:nvPr/>
          </p:nvSpPr>
          <p:spPr>
            <a:xfrm rot="0">
              <a:off x="0" y="38100"/>
              <a:ext cx="1016000" cy="363220"/>
            </a:xfrm>
            <a:prstGeom prst="rect">
              <a:avLst/>
            </a:prstGeom>
          </p:spPr>
          <p:txBody>
            <a:bodyPr anchor="t" rtlCol="false" tIns="0" lIns="0" bIns="0" rIns="0">
              <a:spAutoFit/>
            </a:bodyPr>
            <a:lstStyle/>
            <a:p>
              <a:pPr algn="l">
                <a:lnSpc>
                  <a:spcPts val="2310"/>
                </a:lnSpc>
              </a:pPr>
              <a:r>
                <a:rPr lang="en-US" sz="1650" spc="132" b="true">
                  <a:solidFill>
                    <a:srgbClr val="1F4E79"/>
                  </a:solidFill>
                  <a:latin typeface="Aptos Bold"/>
                  <a:ea typeface="Aptos Bold"/>
                  <a:cs typeface="Aptos Bold"/>
                  <a:sym typeface="Aptos Bold"/>
                </a:rPr>
                <a:t>04</a:t>
              </a:r>
            </a:p>
          </p:txBody>
        </p:sp>
        <p:sp>
          <p:nvSpPr>
            <p:cNvPr name="TextBox 4" id="4"/>
            <p:cNvSpPr txBox="true"/>
            <p:nvPr/>
          </p:nvSpPr>
          <p:spPr>
            <a:xfrm rot="0">
              <a:off x="1066800" y="28575"/>
              <a:ext cx="19050000" cy="668655"/>
            </a:xfrm>
            <a:prstGeom prst="rect">
              <a:avLst/>
            </a:prstGeom>
          </p:spPr>
          <p:txBody>
            <a:bodyPr anchor="t" rtlCol="false" tIns="0" lIns="0" bIns="0" rIns="0">
              <a:spAutoFit/>
            </a:bodyPr>
            <a:lstStyle/>
            <a:p>
              <a:pPr algn="l">
                <a:lnSpc>
                  <a:spcPts val="3622"/>
                </a:lnSpc>
              </a:pPr>
              <a:r>
                <a:rPr lang="en-US" sz="3450" b="true">
                  <a:solidFill>
                    <a:srgbClr val="1F4E79"/>
                  </a:solidFill>
                  <a:latin typeface="Arimo Bold"/>
                  <a:ea typeface="Arimo Bold"/>
                  <a:cs typeface="Arimo Bold"/>
                  <a:sym typeface="Arimo Bold"/>
                </a:rPr>
                <a:t>Development Methodology</a:t>
              </a:r>
            </a:p>
          </p:txBody>
        </p:sp>
        <p:sp>
          <p:nvSpPr>
            <p:cNvPr name="AutoShape 5" id="5"/>
            <p:cNvSpPr/>
            <p:nvPr/>
          </p:nvSpPr>
          <p:spPr>
            <a:xfrm>
              <a:off x="0" y="965200"/>
              <a:ext cx="21945600" cy="0"/>
            </a:xfrm>
            <a:prstGeom prst="line">
              <a:avLst/>
            </a:prstGeom>
            <a:ln cap="flat" w="25400">
              <a:solidFill>
                <a:srgbClr val="D9E1E8"/>
              </a:solidFill>
              <a:prstDash val="solid"/>
              <a:headEnd type="none" len="sm" w="sm"/>
              <a:tailEnd type="none" len="sm" w="sm"/>
            </a:ln>
          </p:spPr>
        </p:sp>
      </p:grpSp>
      <p:sp>
        <p:nvSpPr>
          <p:cNvPr name="AutoShape 6" id="6"/>
          <p:cNvSpPr/>
          <p:nvPr/>
        </p:nvSpPr>
        <p:spPr>
          <a:xfrm>
            <a:off x="1428750" y="4762500"/>
            <a:ext cx="15430500" cy="0"/>
          </a:xfrm>
          <a:prstGeom prst="line">
            <a:avLst/>
          </a:prstGeom>
          <a:ln cap="rnd" w="76200">
            <a:solidFill>
              <a:srgbClr val="D9E1E8"/>
            </a:solidFill>
            <a:prstDash val="solid"/>
            <a:headEnd type="none" len="sm" w="sm"/>
            <a:tailEnd type="none" len="sm" w="sm"/>
          </a:ln>
        </p:spPr>
      </p:sp>
      <p:grpSp>
        <p:nvGrpSpPr>
          <p:cNvPr name="Group 7" id="7"/>
          <p:cNvGrpSpPr/>
          <p:nvPr/>
        </p:nvGrpSpPr>
        <p:grpSpPr>
          <a:xfrm rot="0">
            <a:off x="1085850" y="4419600"/>
            <a:ext cx="685800" cy="685800"/>
            <a:chOff x="0" y="0"/>
            <a:chExt cx="914400" cy="914400"/>
          </a:xfrm>
        </p:grpSpPr>
        <p:sp>
          <p:nvSpPr>
            <p:cNvPr name="Freeform 8" id="8"/>
            <p:cNvSpPr/>
            <p:nvPr/>
          </p:nvSpPr>
          <p:spPr>
            <a:xfrm flipH="false" flipV="false" rot="0">
              <a:off x="0" y="0"/>
              <a:ext cx="914400" cy="914400"/>
            </a:xfrm>
            <a:custGeom>
              <a:avLst/>
              <a:gdLst/>
              <a:ahLst/>
              <a:cxnLst/>
              <a:rect r="r" b="b" t="t" l="l"/>
              <a:pathLst>
                <a:path h="914400" w="914400">
                  <a:moveTo>
                    <a:pt x="457200" y="0"/>
                  </a:moveTo>
                  <a:cubicBezTo>
                    <a:pt x="709705" y="0"/>
                    <a:pt x="914400" y="204695"/>
                    <a:pt x="914400" y="457200"/>
                  </a:cubicBezTo>
                  <a:cubicBezTo>
                    <a:pt x="914400" y="709705"/>
                    <a:pt x="709705" y="914400"/>
                    <a:pt x="457200" y="914400"/>
                  </a:cubicBezTo>
                  <a:cubicBezTo>
                    <a:pt x="204695" y="914400"/>
                    <a:pt x="0" y="709705"/>
                    <a:pt x="0" y="457200"/>
                  </a:cubicBezTo>
                  <a:cubicBezTo>
                    <a:pt x="0" y="204695"/>
                    <a:pt x="204695" y="0"/>
                    <a:pt x="457200" y="0"/>
                  </a:cubicBezTo>
                  <a:close/>
                </a:path>
              </a:pathLst>
            </a:custGeom>
            <a:solidFill>
              <a:srgbClr val="1F4E79"/>
            </a:solidFill>
            <a:ln cap="sq">
              <a:noFill/>
              <a:prstDash val="solid"/>
              <a:miter/>
            </a:ln>
          </p:spPr>
        </p:sp>
      </p:grpSp>
      <p:grpSp>
        <p:nvGrpSpPr>
          <p:cNvPr name="Group 9" id="9"/>
          <p:cNvGrpSpPr/>
          <p:nvPr/>
        </p:nvGrpSpPr>
        <p:grpSpPr>
          <a:xfrm rot="0">
            <a:off x="3286125" y="4419600"/>
            <a:ext cx="685800" cy="685800"/>
            <a:chOff x="0" y="0"/>
            <a:chExt cx="914400" cy="914400"/>
          </a:xfrm>
        </p:grpSpPr>
        <p:sp>
          <p:nvSpPr>
            <p:cNvPr name="Freeform 10" id="10"/>
            <p:cNvSpPr/>
            <p:nvPr/>
          </p:nvSpPr>
          <p:spPr>
            <a:xfrm flipH="false" flipV="false" rot="0">
              <a:off x="0" y="0"/>
              <a:ext cx="914400" cy="914400"/>
            </a:xfrm>
            <a:custGeom>
              <a:avLst/>
              <a:gdLst/>
              <a:ahLst/>
              <a:cxnLst/>
              <a:rect r="r" b="b" t="t" l="l"/>
              <a:pathLst>
                <a:path h="914400" w="914400">
                  <a:moveTo>
                    <a:pt x="457200" y="0"/>
                  </a:moveTo>
                  <a:cubicBezTo>
                    <a:pt x="709705" y="0"/>
                    <a:pt x="914400" y="204695"/>
                    <a:pt x="914400" y="457200"/>
                  </a:cubicBezTo>
                  <a:cubicBezTo>
                    <a:pt x="914400" y="709705"/>
                    <a:pt x="709705" y="914400"/>
                    <a:pt x="457200" y="914400"/>
                  </a:cubicBezTo>
                  <a:cubicBezTo>
                    <a:pt x="204695" y="914400"/>
                    <a:pt x="0" y="709705"/>
                    <a:pt x="0" y="457200"/>
                  </a:cubicBezTo>
                  <a:cubicBezTo>
                    <a:pt x="0" y="204695"/>
                    <a:pt x="204695" y="0"/>
                    <a:pt x="457200" y="0"/>
                  </a:cubicBezTo>
                  <a:close/>
                </a:path>
              </a:pathLst>
            </a:custGeom>
            <a:solidFill>
              <a:srgbClr val="1F4E79"/>
            </a:solidFill>
            <a:ln cap="sq">
              <a:noFill/>
              <a:prstDash val="solid"/>
              <a:miter/>
            </a:ln>
          </p:spPr>
        </p:sp>
      </p:grpSp>
      <p:grpSp>
        <p:nvGrpSpPr>
          <p:cNvPr name="Group 11" id="11"/>
          <p:cNvGrpSpPr/>
          <p:nvPr/>
        </p:nvGrpSpPr>
        <p:grpSpPr>
          <a:xfrm rot="0">
            <a:off x="5486400" y="4419600"/>
            <a:ext cx="685800" cy="685800"/>
            <a:chOff x="0" y="0"/>
            <a:chExt cx="914400" cy="914400"/>
          </a:xfrm>
        </p:grpSpPr>
        <p:sp>
          <p:nvSpPr>
            <p:cNvPr name="Freeform 12" id="12"/>
            <p:cNvSpPr/>
            <p:nvPr/>
          </p:nvSpPr>
          <p:spPr>
            <a:xfrm flipH="false" flipV="false" rot="0">
              <a:off x="0" y="0"/>
              <a:ext cx="914400" cy="914400"/>
            </a:xfrm>
            <a:custGeom>
              <a:avLst/>
              <a:gdLst/>
              <a:ahLst/>
              <a:cxnLst/>
              <a:rect r="r" b="b" t="t" l="l"/>
              <a:pathLst>
                <a:path h="914400" w="914400">
                  <a:moveTo>
                    <a:pt x="457200" y="0"/>
                  </a:moveTo>
                  <a:cubicBezTo>
                    <a:pt x="709705" y="0"/>
                    <a:pt x="914400" y="204695"/>
                    <a:pt x="914400" y="457200"/>
                  </a:cubicBezTo>
                  <a:cubicBezTo>
                    <a:pt x="914400" y="709705"/>
                    <a:pt x="709705" y="914400"/>
                    <a:pt x="457200" y="914400"/>
                  </a:cubicBezTo>
                  <a:cubicBezTo>
                    <a:pt x="204695" y="914400"/>
                    <a:pt x="0" y="709705"/>
                    <a:pt x="0" y="457200"/>
                  </a:cubicBezTo>
                  <a:cubicBezTo>
                    <a:pt x="0" y="204695"/>
                    <a:pt x="204695" y="0"/>
                    <a:pt x="457200" y="0"/>
                  </a:cubicBezTo>
                  <a:close/>
                </a:path>
              </a:pathLst>
            </a:custGeom>
            <a:solidFill>
              <a:srgbClr val="1F4E79"/>
            </a:solidFill>
            <a:ln cap="sq">
              <a:noFill/>
              <a:prstDash val="solid"/>
              <a:miter/>
            </a:ln>
          </p:spPr>
        </p:sp>
      </p:grpSp>
      <p:grpSp>
        <p:nvGrpSpPr>
          <p:cNvPr name="Group 13" id="13"/>
          <p:cNvGrpSpPr/>
          <p:nvPr/>
        </p:nvGrpSpPr>
        <p:grpSpPr>
          <a:xfrm rot="0">
            <a:off x="7686675" y="4419600"/>
            <a:ext cx="685800" cy="685800"/>
            <a:chOff x="0" y="0"/>
            <a:chExt cx="914400" cy="914400"/>
          </a:xfrm>
        </p:grpSpPr>
        <p:sp>
          <p:nvSpPr>
            <p:cNvPr name="Freeform 14" id="14"/>
            <p:cNvSpPr/>
            <p:nvPr/>
          </p:nvSpPr>
          <p:spPr>
            <a:xfrm flipH="false" flipV="false" rot="0">
              <a:off x="0" y="0"/>
              <a:ext cx="914400" cy="914400"/>
            </a:xfrm>
            <a:custGeom>
              <a:avLst/>
              <a:gdLst/>
              <a:ahLst/>
              <a:cxnLst/>
              <a:rect r="r" b="b" t="t" l="l"/>
              <a:pathLst>
                <a:path h="914400" w="914400">
                  <a:moveTo>
                    <a:pt x="457200" y="0"/>
                  </a:moveTo>
                  <a:cubicBezTo>
                    <a:pt x="709705" y="0"/>
                    <a:pt x="914400" y="204695"/>
                    <a:pt x="914400" y="457200"/>
                  </a:cubicBezTo>
                  <a:cubicBezTo>
                    <a:pt x="914400" y="709705"/>
                    <a:pt x="709705" y="914400"/>
                    <a:pt x="457200" y="914400"/>
                  </a:cubicBezTo>
                  <a:cubicBezTo>
                    <a:pt x="204695" y="914400"/>
                    <a:pt x="0" y="709705"/>
                    <a:pt x="0" y="457200"/>
                  </a:cubicBezTo>
                  <a:cubicBezTo>
                    <a:pt x="0" y="204695"/>
                    <a:pt x="204695" y="0"/>
                    <a:pt x="457200" y="0"/>
                  </a:cubicBezTo>
                  <a:close/>
                </a:path>
              </a:pathLst>
            </a:custGeom>
            <a:solidFill>
              <a:srgbClr val="1F4E79"/>
            </a:solidFill>
            <a:ln cap="sq">
              <a:noFill/>
              <a:prstDash val="solid"/>
              <a:miter/>
            </a:ln>
          </p:spPr>
        </p:sp>
      </p:grpSp>
      <p:grpSp>
        <p:nvGrpSpPr>
          <p:cNvPr name="Group 15" id="15"/>
          <p:cNvGrpSpPr/>
          <p:nvPr/>
        </p:nvGrpSpPr>
        <p:grpSpPr>
          <a:xfrm rot="0">
            <a:off x="9886950" y="4419600"/>
            <a:ext cx="685800" cy="685800"/>
            <a:chOff x="0" y="0"/>
            <a:chExt cx="914400" cy="914400"/>
          </a:xfrm>
        </p:grpSpPr>
        <p:sp>
          <p:nvSpPr>
            <p:cNvPr name="Freeform 16" id="16"/>
            <p:cNvSpPr/>
            <p:nvPr/>
          </p:nvSpPr>
          <p:spPr>
            <a:xfrm flipH="false" flipV="false" rot="0">
              <a:off x="0" y="0"/>
              <a:ext cx="914400" cy="914400"/>
            </a:xfrm>
            <a:custGeom>
              <a:avLst/>
              <a:gdLst/>
              <a:ahLst/>
              <a:cxnLst/>
              <a:rect r="r" b="b" t="t" l="l"/>
              <a:pathLst>
                <a:path h="914400" w="914400">
                  <a:moveTo>
                    <a:pt x="457200" y="0"/>
                  </a:moveTo>
                  <a:cubicBezTo>
                    <a:pt x="709705" y="0"/>
                    <a:pt x="914400" y="204695"/>
                    <a:pt x="914400" y="457200"/>
                  </a:cubicBezTo>
                  <a:cubicBezTo>
                    <a:pt x="914400" y="709705"/>
                    <a:pt x="709705" y="914400"/>
                    <a:pt x="457200" y="914400"/>
                  </a:cubicBezTo>
                  <a:cubicBezTo>
                    <a:pt x="204695" y="914400"/>
                    <a:pt x="0" y="709705"/>
                    <a:pt x="0" y="457200"/>
                  </a:cubicBezTo>
                  <a:cubicBezTo>
                    <a:pt x="0" y="204695"/>
                    <a:pt x="204695" y="0"/>
                    <a:pt x="457200" y="0"/>
                  </a:cubicBezTo>
                  <a:close/>
                </a:path>
              </a:pathLst>
            </a:custGeom>
            <a:solidFill>
              <a:srgbClr val="1F4E79"/>
            </a:solidFill>
            <a:ln cap="sq">
              <a:noFill/>
              <a:prstDash val="solid"/>
              <a:miter/>
            </a:ln>
          </p:spPr>
        </p:sp>
      </p:grpSp>
      <p:grpSp>
        <p:nvGrpSpPr>
          <p:cNvPr name="Group 17" id="17"/>
          <p:cNvGrpSpPr/>
          <p:nvPr/>
        </p:nvGrpSpPr>
        <p:grpSpPr>
          <a:xfrm rot="0">
            <a:off x="12087225" y="4419600"/>
            <a:ext cx="685800" cy="685800"/>
            <a:chOff x="0" y="0"/>
            <a:chExt cx="914400" cy="914400"/>
          </a:xfrm>
        </p:grpSpPr>
        <p:sp>
          <p:nvSpPr>
            <p:cNvPr name="Freeform 18" id="18"/>
            <p:cNvSpPr/>
            <p:nvPr/>
          </p:nvSpPr>
          <p:spPr>
            <a:xfrm flipH="false" flipV="false" rot="0">
              <a:off x="0" y="0"/>
              <a:ext cx="914400" cy="914400"/>
            </a:xfrm>
            <a:custGeom>
              <a:avLst/>
              <a:gdLst/>
              <a:ahLst/>
              <a:cxnLst/>
              <a:rect r="r" b="b" t="t" l="l"/>
              <a:pathLst>
                <a:path h="914400" w="914400">
                  <a:moveTo>
                    <a:pt x="457200" y="0"/>
                  </a:moveTo>
                  <a:cubicBezTo>
                    <a:pt x="709705" y="0"/>
                    <a:pt x="914400" y="204695"/>
                    <a:pt x="914400" y="457200"/>
                  </a:cubicBezTo>
                  <a:cubicBezTo>
                    <a:pt x="914400" y="709705"/>
                    <a:pt x="709705" y="914400"/>
                    <a:pt x="457200" y="914400"/>
                  </a:cubicBezTo>
                  <a:cubicBezTo>
                    <a:pt x="204695" y="914400"/>
                    <a:pt x="0" y="709705"/>
                    <a:pt x="0" y="457200"/>
                  </a:cubicBezTo>
                  <a:cubicBezTo>
                    <a:pt x="0" y="204695"/>
                    <a:pt x="204695" y="0"/>
                    <a:pt x="457200" y="0"/>
                  </a:cubicBezTo>
                  <a:close/>
                </a:path>
              </a:pathLst>
            </a:custGeom>
            <a:solidFill>
              <a:srgbClr val="1F4E79"/>
            </a:solidFill>
            <a:ln cap="sq">
              <a:noFill/>
              <a:prstDash val="solid"/>
              <a:miter/>
            </a:ln>
          </p:spPr>
        </p:sp>
      </p:grpSp>
      <p:grpSp>
        <p:nvGrpSpPr>
          <p:cNvPr name="Group 19" id="19"/>
          <p:cNvGrpSpPr/>
          <p:nvPr/>
        </p:nvGrpSpPr>
        <p:grpSpPr>
          <a:xfrm rot="0">
            <a:off x="14287500" y="4419600"/>
            <a:ext cx="685800" cy="685800"/>
            <a:chOff x="0" y="0"/>
            <a:chExt cx="914400" cy="914400"/>
          </a:xfrm>
        </p:grpSpPr>
        <p:sp>
          <p:nvSpPr>
            <p:cNvPr name="Freeform 20" id="20"/>
            <p:cNvSpPr/>
            <p:nvPr/>
          </p:nvSpPr>
          <p:spPr>
            <a:xfrm flipH="false" flipV="false" rot="0">
              <a:off x="0" y="0"/>
              <a:ext cx="914400" cy="914400"/>
            </a:xfrm>
            <a:custGeom>
              <a:avLst/>
              <a:gdLst/>
              <a:ahLst/>
              <a:cxnLst/>
              <a:rect r="r" b="b" t="t" l="l"/>
              <a:pathLst>
                <a:path h="914400" w="914400">
                  <a:moveTo>
                    <a:pt x="457200" y="0"/>
                  </a:moveTo>
                  <a:cubicBezTo>
                    <a:pt x="709705" y="0"/>
                    <a:pt x="914400" y="204695"/>
                    <a:pt x="914400" y="457200"/>
                  </a:cubicBezTo>
                  <a:cubicBezTo>
                    <a:pt x="914400" y="709705"/>
                    <a:pt x="709705" y="914400"/>
                    <a:pt x="457200" y="914400"/>
                  </a:cubicBezTo>
                  <a:cubicBezTo>
                    <a:pt x="204695" y="914400"/>
                    <a:pt x="0" y="709705"/>
                    <a:pt x="0" y="457200"/>
                  </a:cubicBezTo>
                  <a:cubicBezTo>
                    <a:pt x="0" y="204695"/>
                    <a:pt x="204695" y="0"/>
                    <a:pt x="457200" y="0"/>
                  </a:cubicBezTo>
                  <a:close/>
                </a:path>
              </a:pathLst>
            </a:custGeom>
            <a:solidFill>
              <a:srgbClr val="1F4E79"/>
            </a:solidFill>
            <a:ln cap="sq">
              <a:noFill/>
              <a:prstDash val="solid"/>
              <a:miter/>
            </a:ln>
          </p:spPr>
        </p:sp>
      </p:grpSp>
      <p:grpSp>
        <p:nvGrpSpPr>
          <p:cNvPr name="Group 21" id="21"/>
          <p:cNvGrpSpPr/>
          <p:nvPr/>
        </p:nvGrpSpPr>
        <p:grpSpPr>
          <a:xfrm rot="0">
            <a:off x="16487775" y="4419600"/>
            <a:ext cx="685800" cy="685800"/>
            <a:chOff x="0" y="0"/>
            <a:chExt cx="914400" cy="914400"/>
          </a:xfrm>
        </p:grpSpPr>
        <p:sp>
          <p:nvSpPr>
            <p:cNvPr name="Freeform 22" id="22"/>
            <p:cNvSpPr/>
            <p:nvPr/>
          </p:nvSpPr>
          <p:spPr>
            <a:xfrm flipH="false" flipV="false" rot="0">
              <a:off x="0" y="0"/>
              <a:ext cx="914400" cy="914400"/>
            </a:xfrm>
            <a:custGeom>
              <a:avLst/>
              <a:gdLst/>
              <a:ahLst/>
              <a:cxnLst/>
              <a:rect r="r" b="b" t="t" l="l"/>
              <a:pathLst>
                <a:path h="914400" w="914400">
                  <a:moveTo>
                    <a:pt x="457200" y="0"/>
                  </a:moveTo>
                  <a:cubicBezTo>
                    <a:pt x="709705" y="0"/>
                    <a:pt x="914400" y="204695"/>
                    <a:pt x="914400" y="457200"/>
                  </a:cubicBezTo>
                  <a:cubicBezTo>
                    <a:pt x="914400" y="709705"/>
                    <a:pt x="709705" y="914400"/>
                    <a:pt x="457200" y="914400"/>
                  </a:cubicBezTo>
                  <a:cubicBezTo>
                    <a:pt x="204695" y="914400"/>
                    <a:pt x="0" y="709705"/>
                    <a:pt x="0" y="457200"/>
                  </a:cubicBezTo>
                  <a:cubicBezTo>
                    <a:pt x="0" y="204695"/>
                    <a:pt x="204695" y="0"/>
                    <a:pt x="457200" y="0"/>
                  </a:cubicBezTo>
                  <a:close/>
                </a:path>
              </a:pathLst>
            </a:custGeom>
            <a:solidFill>
              <a:srgbClr val="2E7D32"/>
            </a:solidFill>
            <a:ln cap="sq">
              <a:noFill/>
              <a:prstDash val="solid"/>
              <a:miter/>
            </a:ln>
          </p:spPr>
        </p:sp>
      </p:grpSp>
      <p:sp>
        <p:nvSpPr>
          <p:cNvPr name="TextBox 23" id="23"/>
          <p:cNvSpPr txBox="true"/>
          <p:nvPr/>
        </p:nvSpPr>
        <p:spPr>
          <a:xfrm rot="0">
            <a:off x="904875" y="3305175"/>
            <a:ext cx="1905000" cy="324803"/>
          </a:xfrm>
          <a:prstGeom prst="rect">
            <a:avLst/>
          </a:prstGeom>
        </p:spPr>
        <p:txBody>
          <a:bodyPr anchor="t" rtlCol="false" tIns="0" lIns="0" bIns="0" rIns="0">
            <a:spAutoFit/>
          </a:bodyPr>
          <a:lstStyle/>
          <a:p>
            <a:pPr algn="ctr">
              <a:lnSpc>
                <a:spcPts val="2632"/>
              </a:lnSpc>
            </a:pPr>
            <a:r>
              <a:rPr lang="en-US" sz="1950" b="true">
                <a:solidFill>
                  <a:srgbClr val="17212B"/>
                </a:solidFill>
                <a:latin typeface="Aptos Bold"/>
                <a:ea typeface="Aptos Bold"/>
                <a:cs typeface="Aptos Bold"/>
                <a:sym typeface="Aptos Bold"/>
              </a:rPr>
              <a:t>Plan</a:t>
            </a:r>
          </a:p>
        </p:txBody>
      </p:sp>
      <p:sp>
        <p:nvSpPr>
          <p:cNvPr name="TextBox 24" id="24"/>
          <p:cNvSpPr txBox="true"/>
          <p:nvPr/>
        </p:nvSpPr>
        <p:spPr>
          <a:xfrm rot="0">
            <a:off x="3105150" y="5591175"/>
            <a:ext cx="1905000" cy="324803"/>
          </a:xfrm>
          <a:prstGeom prst="rect">
            <a:avLst/>
          </a:prstGeom>
        </p:spPr>
        <p:txBody>
          <a:bodyPr anchor="t" rtlCol="false" tIns="0" lIns="0" bIns="0" rIns="0">
            <a:spAutoFit/>
          </a:bodyPr>
          <a:lstStyle/>
          <a:p>
            <a:pPr algn="ctr">
              <a:lnSpc>
                <a:spcPts val="2632"/>
              </a:lnSpc>
            </a:pPr>
            <a:r>
              <a:rPr lang="en-US" sz="1950" b="true">
                <a:solidFill>
                  <a:srgbClr val="17212B"/>
                </a:solidFill>
                <a:latin typeface="Aptos Bold"/>
                <a:ea typeface="Aptos Bold"/>
                <a:cs typeface="Aptos Bold"/>
                <a:sym typeface="Aptos Bold"/>
              </a:rPr>
              <a:t>Survey</a:t>
            </a:r>
          </a:p>
        </p:txBody>
      </p:sp>
      <p:sp>
        <p:nvSpPr>
          <p:cNvPr name="TextBox 25" id="25"/>
          <p:cNvSpPr txBox="true"/>
          <p:nvPr/>
        </p:nvSpPr>
        <p:spPr>
          <a:xfrm rot="0">
            <a:off x="5305425" y="3305175"/>
            <a:ext cx="1905000" cy="324803"/>
          </a:xfrm>
          <a:prstGeom prst="rect">
            <a:avLst/>
          </a:prstGeom>
        </p:spPr>
        <p:txBody>
          <a:bodyPr anchor="t" rtlCol="false" tIns="0" lIns="0" bIns="0" rIns="0">
            <a:spAutoFit/>
          </a:bodyPr>
          <a:lstStyle/>
          <a:p>
            <a:pPr algn="ctr">
              <a:lnSpc>
                <a:spcPts val="2632"/>
              </a:lnSpc>
            </a:pPr>
            <a:r>
              <a:rPr lang="en-US" sz="1950" b="true">
                <a:solidFill>
                  <a:srgbClr val="17212B"/>
                </a:solidFill>
                <a:latin typeface="Aptos Bold"/>
                <a:ea typeface="Aptos Bold"/>
                <a:cs typeface="Aptos Bold"/>
                <a:sym typeface="Aptos Bold"/>
              </a:rPr>
              <a:t>Prepare</a:t>
            </a:r>
          </a:p>
        </p:txBody>
      </p:sp>
      <p:sp>
        <p:nvSpPr>
          <p:cNvPr name="TextBox 26" id="26"/>
          <p:cNvSpPr txBox="true"/>
          <p:nvPr/>
        </p:nvSpPr>
        <p:spPr>
          <a:xfrm rot="0">
            <a:off x="7505700" y="5591175"/>
            <a:ext cx="1905000" cy="324803"/>
          </a:xfrm>
          <a:prstGeom prst="rect">
            <a:avLst/>
          </a:prstGeom>
        </p:spPr>
        <p:txBody>
          <a:bodyPr anchor="t" rtlCol="false" tIns="0" lIns="0" bIns="0" rIns="0">
            <a:spAutoFit/>
          </a:bodyPr>
          <a:lstStyle/>
          <a:p>
            <a:pPr algn="ctr">
              <a:lnSpc>
                <a:spcPts val="2632"/>
              </a:lnSpc>
            </a:pPr>
            <a:r>
              <a:rPr lang="en-US" sz="1950" b="true">
                <a:solidFill>
                  <a:srgbClr val="17212B"/>
                </a:solidFill>
                <a:latin typeface="Aptos Bold"/>
                <a:ea typeface="Aptos Bold"/>
                <a:cs typeface="Aptos Bold"/>
                <a:sym typeface="Aptos Bold"/>
              </a:rPr>
              <a:t>Model</a:t>
            </a:r>
          </a:p>
        </p:txBody>
      </p:sp>
      <p:sp>
        <p:nvSpPr>
          <p:cNvPr name="TextBox 27" id="27"/>
          <p:cNvSpPr txBox="true"/>
          <p:nvPr/>
        </p:nvSpPr>
        <p:spPr>
          <a:xfrm rot="0">
            <a:off x="9705975" y="3305175"/>
            <a:ext cx="1905000" cy="324803"/>
          </a:xfrm>
          <a:prstGeom prst="rect">
            <a:avLst/>
          </a:prstGeom>
        </p:spPr>
        <p:txBody>
          <a:bodyPr anchor="t" rtlCol="false" tIns="0" lIns="0" bIns="0" rIns="0">
            <a:spAutoFit/>
          </a:bodyPr>
          <a:lstStyle/>
          <a:p>
            <a:pPr algn="ctr">
              <a:lnSpc>
                <a:spcPts val="2632"/>
              </a:lnSpc>
            </a:pPr>
            <a:r>
              <a:rPr lang="en-US" sz="1950" b="true">
                <a:solidFill>
                  <a:srgbClr val="17212B"/>
                </a:solidFill>
                <a:latin typeface="Aptos Bold"/>
                <a:ea typeface="Aptos Bold"/>
                <a:cs typeface="Aptos Bold"/>
                <a:sym typeface="Aptos Bold"/>
              </a:rPr>
              <a:t>Evaluate</a:t>
            </a:r>
          </a:p>
        </p:txBody>
      </p:sp>
      <p:sp>
        <p:nvSpPr>
          <p:cNvPr name="TextBox 28" id="28"/>
          <p:cNvSpPr txBox="true"/>
          <p:nvPr/>
        </p:nvSpPr>
        <p:spPr>
          <a:xfrm rot="0">
            <a:off x="11906250" y="5591175"/>
            <a:ext cx="1905000" cy="324803"/>
          </a:xfrm>
          <a:prstGeom prst="rect">
            <a:avLst/>
          </a:prstGeom>
        </p:spPr>
        <p:txBody>
          <a:bodyPr anchor="t" rtlCol="false" tIns="0" lIns="0" bIns="0" rIns="0">
            <a:spAutoFit/>
          </a:bodyPr>
          <a:lstStyle/>
          <a:p>
            <a:pPr algn="ctr">
              <a:lnSpc>
                <a:spcPts val="2632"/>
              </a:lnSpc>
            </a:pPr>
            <a:r>
              <a:rPr lang="en-US" sz="1950" b="true">
                <a:solidFill>
                  <a:srgbClr val="17212B"/>
                </a:solidFill>
                <a:latin typeface="Aptos Bold"/>
                <a:ea typeface="Aptos Bold"/>
                <a:cs typeface="Aptos Bold"/>
                <a:sym typeface="Aptos Bold"/>
              </a:rPr>
              <a:t>Explain</a:t>
            </a:r>
          </a:p>
        </p:txBody>
      </p:sp>
      <p:sp>
        <p:nvSpPr>
          <p:cNvPr name="TextBox 29" id="29"/>
          <p:cNvSpPr txBox="true"/>
          <p:nvPr/>
        </p:nvSpPr>
        <p:spPr>
          <a:xfrm rot="0">
            <a:off x="14106525" y="3305175"/>
            <a:ext cx="1905000" cy="324803"/>
          </a:xfrm>
          <a:prstGeom prst="rect">
            <a:avLst/>
          </a:prstGeom>
        </p:spPr>
        <p:txBody>
          <a:bodyPr anchor="t" rtlCol="false" tIns="0" lIns="0" bIns="0" rIns="0">
            <a:spAutoFit/>
          </a:bodyPr>
          <a:lstStyle/>
          <a:p>
            <a:pPr algn="ctr">
              <a:lnSpc>
                <a:spcPts val="2632"/>
              </a:lnSpc>
            </a:pPr>
            <a:r>
              <a:rPr lang="en-US" sz="1950" b="true">
                <a:solidFill>
                  <a:srgbClr val="17212B"/>
                </a:solidFill>
                <a:latin typeface="Aptos Bold"/>
                <a:ea typeface="Aptos Bold"/>
                <a:cs typeface="Aptos Bold"/>
                <a:sym typeface="Aptos Bold"/>
              </a:rPr>
              <a:t>Prototype</a:t>
            </a:r>
          </a:p>
        </p:txBody>
      </p:sp>
      <p:sp>
        <p:nvSpPr>
          <p:cNvPr name="TextBox 30" id="30"/>
          <p:cNvSpPr txBox="true"/>
          <p:nvPr/>
        </p:nvSpPr>
        <p:spPr>
          <a:xfrm rot="0">
            <a:off x="16306800" y="5591175"/>
            <a:ext cx="1905000" cy="324803"/>
          </a:xfrm>
          <a:prstGeom prst="rect">
            <a:avLst/>
          </a:prstGeom>
        </p:spPr>
        <p:txBody>
          <a:bodyPr anchor="t" rtlCol="false" tIns="0" lIns="0" bIns="0" rIns="0">
            <a:spAutoFit/>
          </a:bodyPr>
          <a:lstStyle/>
          <a:p>
            <a:pPr algn="ctr">
              <a:lnSpc>
                <a:spcPts val="2632"/>
              </a:lnSpc>
            </a:pPr>
            <a:r>
              <a:rPr lang="en-US" sz="1950" b="true">
                <a:solidFill>
                  <a:srgbClr val="17212B"/>
                </a:solidFill>
                <a:latin typeface="Aptos Bold"/>
                <a:ea typeface="Aptos Bold"/>
                <a:cs typeface="Aptos Bold"/>
                <a:sym typeface="Aptos Bold"/>
              </a:rPr>
              <a:t>Refine</a:t>
            </a:r>
          </a:p>
        </p:txBody>
      </p:sp>
      <p:sp>
        <p:nvSpPr>
          <p:cNvPr name="TextBox 31" id="31"/>
          <p:cNvSpPr txBox="true"/>
          <p:nvPr/>
        </p:nvSpPr>
        <p:spPr>
          <a:xfrm rot="0">
            <a:off x="4286250" y="7277100"/>
            <a:ext cx="9715500" cy="572452"/>
          </a:xfrm>
          <a:prstGeom prst="rect">
            <a:avLst/>
          </a:prstGeom>
        </p:spPr>
        <p:txBody>
          <a:bodyPr anchor="t" rtlCol="false" tIns="0" lIns="0" bIns="0" rIns="0">
            <a:spAutoFit/>
          </a:bodyPr>
          <a:lstStyle/>
          <a:p>
            <a:pPr algn="ctr">
              <a:lnSpc>
                <a:spcPts val="4252"/>
              </a:lnSpc>
            </a:pPr>
            <a:r>
              <a:rPr lang="en-US" sz="4050" b="true">
                <a:solidFill>
                  <a:srgbClr val="1F4E79"/>
                </a:solidFill>
                <a:latin typeface="Arimo Bold"/>
                <a:ea typeface="Arimo Bold"/>
                <a:cs typeface="Arimo Bold"/>
                <a:sym typeface="Arimo Bold"/>
              </a:rPr>
              <a:t>16 WEEKS  •  AGILE / ITERATIVE</a:t>
            </a:r>
          </a:p>
        </p:txBody>
      </p:sp>
      <p:sp>
        <p:nvSpPr>
          <p:cNvPr name="TextBox 32" id="32"/>
          <p:cNvSpPr txBox="true"/>
          <p:nvPr/>
        </p:nvSpPr>
        <p:spPr>
          <a:xfrm rot="0">
            <a:off x="914400" y="9734550"/>
            <a:ext cx="13811250" cy="232410"/>
          </a:xfrm>
          <a:prstGeom prst="rect">
            <a:avLst/>
          </a:prstGeom>
        </p:spPr>
        <p:txBody>
          <a:bodyPr anchor="t" rtlCol="false" tIns="0" lIns="0" bIns="0" rIns="0">
            <a:spAutoFit/>
          </a:bodyPr>
          <a:lstStyle/>
          <a:p>
            <a:pPr algn="l">
              <a:lnSpc>
                <a:spcPts val="1889"/>
              </a:lnSpc>
            </a:pPr>
            <a:r>
              <a:rPr lang="en-US" sz="1350" spc="108" b="true">
                <a:solidFill>
                  <a:srgbClr val="1F4E79"/>
                </a:solidFill>
                <a:latin typeface="Aptos Bold"/>
                <a:ea typeface="Aptos Bold"/>
                <a:cs typeface="Aptos Bold"/>
                <a:sym typeface="Aptos Bold"/>
              </a:rPr>
              <a:t>BCA FINAL-YEAR DEFENSE  •  XAVIER INTERNATIONAL COLLEGE</a:t>
            </a:r>
          </a:p>
        </p:txBody>
      </p:sp>
      <p:sp>
        <p:nvSpPr>
          <p:cNvPr name="TextBox 33" id="33"/>
          <p:cNvSpPr txBox="true"/>
          <p:nvPr/>
        </p:nvSpPr>
        <p:spPr>
          <a:xfrm rot="0">
            <a:off x="16478250" y="9734550"/>
            <a:ext cx="857250" cy="232410"/>
          </a:xfrm>
          <a:prstGeom prst="rect">
            <a:avLst/>
          </a:prstGeom>
        </p:spPr>
        <p:txBody>
          <a:bodyPr anchor="t" rtlCol="false" tIns="0" lIns="0" bIns="0" rIns="0">
            <a:spAutoFit/>
          </a:bodyPr>
          <a:lstStyle/>
          <a:p>
            <a:pPr algn="r">
              <a:lnSpc>
                <a:spcPts val="1889"/>
              </a:lnSpc>
            </a:pPr>
            <a:r>
              <a:rPr lang="en-US" b="true" sz="1350" spc="108">
                <a:solidFill>
                  <a:srgbClr val="1F4E79"/>
                </a:solidFill>
                <a:latin typeface="Aptos Bold"/>
                <a:ea typeface="Aptos Bold"/>
                <a:cs typeface="Aptos Bold"/>
                <a:sym typeface="Aptos Bold"/>
              </a:rPr>
              <a:t>06</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14400" y="476250"/>
            <a:ext cx="16459200" cy="733425"/>
            <a:chOff x="0" y="0"/>
            <a:chExt cx="21945600" cy="977900"/>
          </a:xfrm>
        </p:grpSpPr>
        <p:sp>
          <p:nvSpPr>
            <p:cNvPr name="TextBox 3" id="3"/>
            <p:cNvSpPr txBox="true"/>
            <p:nvPr/>
          </p:nvSpPr>
          <p:spPr>
            <a:xfrm rot="0">
              <a:off x="0" y="38100"/>
              <a:ext cx="1016000" cy="363220"/>
            </a:xfrm>
            <a:prstGeom prst="rect">
              <a:avLst/>
            </a:prstGeom>
          </p:spPr>
          <p:txBody>
            <a:bodyPr anchor="t" rtlCol="false" tIns="0" lIns="0" bIns="0" rIns="0">
              <a:spAutoFit/>
            </a:bodyPr>
            <a:lstStyle/>
            <a:p>
              <a:pPr algn="l">
                <a:lnSpc>
                  <a:spcPts val="2310"/>
                </a:lnSpc>
              </a:pPr>
              <a:r>
                <a:rPr lang="en-US" sz="1650" spc="132" b="true">
                  <a:solidFill>
                    <a:srgbClr val="1F4E79"/>
                  </a:solidFill>
                  <a:latin typeface="Aptos Bold"/>
                  <a:ea typeface="Aptos Bold"/>
                  <a:cs typeface="Aptos Bold"/>
                  <a:sym typeface="Aptos Bold"/>
                </a:rPr>
                <a:t>05</a:t>
              </a:r>
            </a:p>
          </p:txBody>
        </p:sp>
        <p:sp>
          <p:nvSpPr>
            <p:cNvPr name="TextBox 4" id="4"/>
            <p:cNvSpPr txBox="true"/>
            <p:nvPr/>
          </p:nvSpPr>
          <p:spPr>
            <a:xfrm rot="0">
              <a:off x="1066800" y="28575"/>
              <a:ext cx="19050000" cy="668655"/>
            </a:xfrm>
            <a:prstGeom prst="rect">
              <a:avLst/>
            </a:prstGeom>
          </p:spPr>
          <p:txBody>
            <a:bodyPr anchor="t" rtlCol="false" tIns="0" lIns="0" bIns="0" rIns="0">
              <a:spAutoFit/>
            </a:bodyPr>
            <a:lstStyle/>
            <a:p>
              <a:pPr algn="l">
                <a:lnSpc>
                  <a:spcPts val="3622"/>
                </a:lnSpc>
              </a:pPr>
              <a:r>
                <a:rPr lang="en-US" sz="3450" b="true">
                  <a:solidFill>
                    <a:srgbClr val="1F4E79"/>
                  </a:solidFill>
                  <a:latin typeface="Arimo Bold"/>
                  <a:ea typeface="Arimo Bold"/>
                  <a:cs typeface="Arimo Bold"/>
                  <a:sym typeface="Arimo Bold"/>
                </a:rPr>
                <a:t>Data Sources and Stress Target Construction</a:t>
              </a:r>
            </a:p>
          </p:txBody>
        </p:sp>
        <p:sp>
          <p:nvSpPr>
            <p:cNvPr name="AutoShape 5" id="5"/>
            <p:cNvSpPr/>
            <p:nvPr/>
          </p:nvSpPr>
          <p:spPr>
            <a:xfrm>
              <a:off x="0" y="965200"/>
              <a:ext cx="21945600" cy="0"/>
            </a:xfrm>
            <a:prstGeom prst="line">
              <a:avLst/>
            </a:prstGeom>
            <a:ln cap="flat" w="25400">
              <a:solidFill>
                <a:srgbClr val="D9E1E8"/>
              </a:solidFill>
              <a:prstDash val="solid"/>
              <a:headEnd type="none" len="sm" w="sm"/>
              <a:tailEnd type="none" len="sm" w="sm"/>
            </a:ln>
          </p:spPr>
        </p:sp>
      </p:grpSp>
      <p:grpSp>
        <p:nvGrpSpPr>
          <p:cNvPr name="Group 6" id="6"/>
          <p:cNvGrpSpPr/>
          <p:nvPr/>
        </p:nvGrpSpPr>
        <p:grpSpPr>
          <a:xfrm rot="0">
            <a:off x="914400" y="1666875"/>
            <a:ext cx="3333750" cy="1809750"/>
            <a:chOff x="0" y="0"/>
            <a:chExt cx="4445000" cy="2413000"/>
          </a:xfrm>
        </p:grpSpPr>
        <p:sp>
          <p:nvSpPr>
            <p:cNvPr name="Freeform 7" id="7"/>
            <p:cNvSpPr/>
            <p:nvPr/>
          </p:nvSpPr>
          <p:spPr>
            <a:xfrm flipH="false" flipV="false" rot="0">
              <a:off x="0" y="0"/>
              <a:ext cx="4445000" cy="2413000"/>
            </a:xfrm>
            <a:custGeom>
              <a:avLst/>
              <a:gdLst/>
              <a:ahLst/>
              <a:cxnLst/>
              <a:rect r="r" b="b" t="t" l="l"/>
              <a:pathLst>
                <a:path h="2413000" w="4445000">
                  <a:moveTo>
                    <a:pt x="0" y="0"/>
                  </a:moveTo>
                  <a:lnTo>
                    <a:pt x="4445000" y="0"/>
                  </a:lnTo>
                  <a:lnTo>
                    <a:pt x="4445000" y="2413000"/>
                  </a:lnTo>
                  <a:lnTo>
                    <a:pt x="0" y="2413000"/>
                  </a:lnTo>
                  <a:close/>
                </a:path>
              </a:pathLst>
            </a:custGeom>
            <a:solidFill>
              <a:srgbClr val="EEF3F7"/>
            </a:solidFill>
            <a:ln cap="sq">
              <a:noFill/>
              <a:prstDash val="solid"/>
              <a:miter/>
            </a:ln>
          </p:spPr>
        </p:sp>
        <p:sp>
          <p:nvSpPr>
            <p:cNvPr name="TextBox 8" id="8"/>
            <p:cNvSpPr txBox="true"/>
            <p:nvPr/>
          </p:nvSpPr>
          <p:spPr>
            <a:xfrm>
              <a:off x="0" y="-38100"/>
              <a:ext cx="4445000" cy="2451100"/>
            </a:xfrm>
            <a:prstGeom prst="rect">
              <a:avLst/>
            </a:prstGeom>
          </p:spPr>
          <p:txBody>
            <a:bodyPr anchor="ctr" rtlCol="false" tIns="50800" lIns="50800" bIns="50800" rIns="50800"/>
            <a:lstStyle/>
            <a:p>
              <a:pPr algn="l">
                <a:lnSpc>
                  <a:spcPts val="1679"/>
                </a:lnSpc>
              </a:pPr>
            </a:p>
          </p:txBody>
        </p:sp>
      </p:grpSp>
      <p:grpSp>
        <p:nvGrpSpPr>
          <p:cNvPr name="Group 9" id="9"/>
          <p:cNvGrpSpPr/>
          <p:nvPr/>
        </p:nvGrpSpPr>
        <p:grpSpPr>
          <a:xfrm rot="0">
            <a:off x="5010150" y="1666875"/>
            <a:ext cx="3333750" cy="1809750"/>
            <a:chOff x="0" y="0"/>
            <a:chExt cx="4445000" cy="2413000"/>
          </a:xfrm>
        </p:grpSpPr>
        <p:sp>
          <p:nvSpPr>
            <p:cNvPr name="Freeform 10" id="10"/>
            <p:cNvSpPr/>
            <p:nvPr/>
          </p:nvSpPr>
          <p:spPr>
            <a:xfrm flipH="false" flipV="false" rot="0">
              <a:off x="0" y="0"/>
              <a:ext cx="4445000" cy="2413000"/>
            </a:xfrm>
            <a:custGeom>
              <a:avLst/>
              <a:gdLst/>
              <a:ahLst/>
              <a:cxnLst/>
              <a:rect r="r" b="b" t="t" l="l"/>
              <a:pathLst>
                <a:path h="2413000" w="4445000">
                  <a:moveTo>
                    <a:pt x="0" y="0"/>
                  </a:moveTo>
                  <a:lnTo>
                    <a:pt x="4445000" y="0"/>
                  </a:lnTo>
                  <a:lnTo>
                    <a:pt x="4445000" y="2413000"/>
                  </a:lnTo>
                  <a:lnTo>
                    <a:pt x="0" y="2413000"/>
                  </a:lnTo>
                  <a:close/>
                </a:path>
              </a:pathLst>
            </a:custGeom>
            <a:solidFill>
              <a:srgbClr val="EEF3F7"/>
            </a:solidFill>
            <a:ln cap="sq">
              <a:noFill/>
              <a:prstDash val="solid"/>
              <a:miter/>
            </a:ln>
          </p:spPr>
        </p:sp>
        <p:sp>
          <p:nvSpPr>
            <p:cNvPr name="TextBox 11" id="11"/>
            <p:cNvSpPr txBox="true"/>
            <p:nvPr/>
          </p:nvSpPr>
          <p:spPr>
            <a:xfrm>
              <a:off x="0" y="-38100"/>
              <a:ext cx="4445000" cy="2451100"/>
            </a:xfrm>
            <a:prstGeom prst="rect">
              <a:avLst/>
            </a:prstGeom>
          </p:spPr>
          <p:txBody>
            <a:bodyPr anchor="ctr" rtlCol="false" tIns="50800" lIns="50800" bIns="50800" rIns="50800"/>
            <a:lstStyle/>
            <a:p>
              <a:pPr algn="l">
                <a:lnSpc>
                  <a:spcPts val="1679"/>
                </a:lnSpc>
              </a:pPr>
            </a:p>
          </p:txBody>
        </p:sp>
      </p:grpSp>
      <p:grpSp>
        <p:nvGrpSpPr>
          <p:cNvPr name="Group 12" id="12"/>
          <p:cNvGrpSpPr/>
          <p:nvPr/>
        </p:nvGrpSpPr>
        <p:grpSpPr>
          <a:xfrm rot="0">
            <a:off x="9105900" y="1666875"/>
            <a:ext cx="3333750" cy="1809750"/>
            <a:chOff x="0" y="0"/>
            <a:chExt cx="4445000" cy="2413000"/>
          </a:xfrm>
        </p:grpSpPr>
        <p:sp>
          <p:nvSpPr>
            <p:cNvPr name="Freeform 13" id="13"/>
            <p:cNvSpPr/>
            <p:nvPr/>
          </p:nvSpPr>
          <p:spPr>
            <a:xfrm flipH="false" flipV="false" rot="0">
              <a:off x="0" y="0"/>
              <a:ext cx="4445000" cy="2413000"/>
            </a:xfrm>
            <a:custGeom>
              <a:avLst/>
              <a:gdLst/>
              <a:ahLst/>
              <a:cxnLst/>
              <a:rect r="r" b="b" t="t" l="l"/>
              <a:pathLst>
                <a:path h="2413000" w="4445000">
                  <a:moveTo>
                    <a:pt x="0" y="0"/>
                  </a:moveTo>
                  <a:lnTo>
                    <a:pt x="4445000" y="0"/>
                  </a:lnTo>
                  <a:lnTo>
                    <a:pt x="4445000" y="2413000"/>
                  </a:lnTo>
                  <a:lnTo>
                    <a:pt x="0" y="2413000"/>
                  </a:lnTo>
                  <a:close/>
                </a:path>
              </a:pathLst>
            </a:custGeom>
            <a:solidFill>
              <a:srgbClr val="EEF3F7"/>
            </a:solidFill>
            <a:ln cap="sq">
              <a:noFill/>
              <a:prstDash val="solid"/>
              <a:miter/>
            </a:ln>
          </p:spPr>
        </p:sp>
        <p:sp>
          <p:nvSpPr>
            <p:cNvPr name="TextBox 14" id="14"/>
            <p:cNvSpPr txBox="true"/>
            <p:nvPr/>
          </p:nvSpPr>
          <p:spPr>
            <a:xfrm>
              <a:off x="0" y="-38100"/>
              <a:ext cx="4445000" cy="2451100"/>
            </a:xfrm>
            <a:prstGeom prst="rect">
              <a:avLst/>
            </a:prstGeom>
          </p:spPr>
          <p:txBody>
            <a:bodyPr anchor="ctr" rtlCol="false" tIns="50800" lIns="50800" bIns="50800" rIns="50800"/>
            <a:lstStyle/>
            <a:p>
              <a:pPr algn="l">
                <a:lnSpc>
                  <a:spcPts val="1679"/>
                </a:lnSpc>
              </a:pPr>
            </a:p>
          </p:txBody>
        </p:sp>
      </p:grpSp>
      <p:grpSp>
        <p:nvGrpSpPr>
          <p:cNvPr name="Group 15" id="15"/>
          <p:cNvGrpSpPr/>
          <p:nvPr/>
        </p:nvGrpSpPr>
        <p:grpSpPr>
          <a:xfrm rot="0">
            <a:off x="13201650" y="1666875"/>
            <a:ext cx="3333750" cy="1809750"/>
            <a:chOff x="0" y="0"/>
            <a:chExt cx="4445000" cy="2413000"/>
          </a:xfrm>
        </p:grpSpPr>
        <p:sp>
          <p:nvSpPr>
            <p:cNvPr name="Freeform 16" id="16"/>
            <p:cNvSpPr/>
            <p:nvPr/>
          </p:nvSpPr>
          <p:spPr>
            <a:xfrm flipH="false" flipV="false" rot="0">
              <a:off x="0" y="0"/>
              <a:ext cx="4445000" cy="2413000"/>
            </a:xfrm>
            <a:custGeom>
              <a:avLst/>
              <a:gdLst/>
              <a:ahLst/>
              <a:cxnLst/>
              <a:rect r="r" b="b" t="t" l="l"/>
              <a:pathLst>
                <a:path h="2413000" w="4445000">
                  <a:moveTo>
                    <a:pt x="0" y="0"/>
                  </a:moveTo>
                  <a:lnTo>
                    <a:pt x="4445000" y="0"/>
                  </a:lnTo>
                  <a:lnTo>
                    <a:pt x="4445000" y="2413000"/>
                  </a:lnTo>
                  <a:lnTo>
                    <a:pt x="0" y="2413000"/>
                  </a:lnTo>
                  <a:close/>
                </a:path>
              </a:pathLst>
            </a:custGeom>
            <a:solidFill>
              <a:srgbClr val="EEF3F7"/>
            </a:solidFill>
            <a:ln cap="sq">
              <a:noFill/>
              <a:prstDash val="solid"/>
              <a:miter/>
            </a:ln>
          </p:spPr>
        </p:sp>
        <p:sp>
          <p:nvSpPr>
            <p:cNvPr name="TextBox 17" id="17"/>
            <p:cNvSpPr txBox="true"/>
            <p:nvPr/>
          </p:nvSpPr>
          <p:spPr>
            <a:xfrm>
              <a:off x="0" y="-38100"/>
              <a:ext cx="4445000" cy="2451100"/>
            </a:xfrm>
            <a:prstGeom prst="rect">
              <a:avLst/>
            </a:prstGeom>
          </p:spPr>
          <p:txBody>
            <a:bodyPr anchor="ctr" rtlCol="false" tIns="50800" lIns="50800" bIns="50800" rIns="50800"/>
            <a:lstStyle/>
            <a:p>
              <a:pPr algn="l">
                <a:lnSpc>
                  <a:spcPts val="1679"/>
                </a:lnSpc>
              </a:pPr>
            </a:p>
          </p:txBody>
        </p:sp>
      </p:grpSp>
      <p:grpSp>
        <p:nvGrpSpPr>
          <p:cNvPr name="Group 18" id="18"/>
          <p:cNvGrpSpPr/>
          <p:nvPr/>
        </p:nvGrpSpPr>
        <p:grpSpPr>
          <a:xfrm rot="0">
            <a:off x="914400" y="1857375"/>
            <a:ext cx="3333750" cy="1127760"/>
            <a:chOff x="0" y="0"/>
            <a:chExt cx="4445000" cy="1503680"/>
          </a:xfrm>
        </p:grpSpPr>
        <p:sp>
          <p:nvSpPr>
            <p:cNvPr name="TextBox 19" id="19"/>
            <p:cNvSpPr txBox="true"/>
            <p:nvPr/>
          </p:nvSpPr>
          <p:spPr>
            <a:xfrm rot="0">
              <a:off x="0" y="47625"/>
              <a:ext cx="4445000" cy="1042035"/>
            </a:xfrm>
            <a:prstGeom prst="rect">
              <a:avLst/>
            </a:prstGeom>
          </p:spPr>
          <p:txBody>
            <a:bodyPr anchor="t" rtlCol="false" tIns="0" lIns="0" bIns="0" rIns="0">
              <a:spAutoFit/>
            </a:bodyPr>
            <a:lstStyle/>
            <a:p>
              <a:pPr algn="ctr">
                <a:lnSpc>
                  <a:spcPts val="5670"/>
                </a:lnSpc>
              </a:pPr>
              <a:r>
                <a:rPr lang="en-US" sz="5400" b="true">
                  <a:solidFill>
                    <a:srgbClr val="2E7D32"/>
                  </a:solidFill>
                  <a:latin typeface="Arimo Bold"/>
                  <a:ea typeface="Arimo Bold"/>
                  <a:cs typeface="Arimo Bold"/>
                  <a:sym typeface="Arimo Bold"/>
                </a:rPr>
                <a:t>39</a:t>
              </a:r>
            </a:p>
          </p:txBody>
        </p:sp>
        <p:sp>
          <p:nvSpPr>
            <p:cNvPr name="TextBox 20" id="20"/>
            <p:cNvSpPr txBox="true"/>
            <p:nvPr/>
          </p:nvSpPr>
          <p:spPr>
            <a:xfrm rot="0">
              <a:off x="0" y="1114425"/>
              <a:ext cx="4445000" cy="389255"/>
            </a:xfrm>
            <a:prstGeom prst="rect">
              <a:avLst/>
            </a:prstGeom>
          </p:spPr>
          <p:txBody>
            <a:bodyPr anchor="t" rtlCol="false" tIns="0" lIns="0" bIns="0" rIns="0">
              <a:spAutoFit/>
            </a:bodyPr>
            <a:lstStyle/>
            <a:p>
              <a:pPr algn="ctr">
                <a:lnSpc>
                  <a:spcPts val="2430"/>
                </a:lnSpc>
              </a:pPr>
              <a:r>
                <a:rPr lang="en-US" sz="1800">
                  <a:solidFill>
                    <a:srgbClr val="17212B"/>
                  </a:solidFill>
                  <a:latin typeface="Aptos"/>
                  <a:ea typeface="Aptos"/>
                  <a:cs typeface="Aptos"/>
                  <a:sym typeface="Aptos"/>
                </a:rPr>
                <a:t>genuine responses</a:t>
              </a:r>
            </a:p>
          </p:txBody>
        </p:sp>
      </p:grpSp>
      <p:grpSp>
        <p:nvGrpSpPr>
          <p:cNvPr name="Group 21" id="21"/>
          <p:cNvGrpSpPr/>
          <p:nvPr/>
        </p:nvGrpSpPr>
        <p:grpSpPr>
          <a:xfrm rot="0">
            <a:off x="5010150" y="1857375"/>
            <a:ext cx="3333750" cy="1127760"/>
            <a:chOff x="0" y="0"/>
            <a:chExt cx="4445000" cy="1503680"/>
          </a:xfrm>
        </p:grpSpPr>
        <p:sp>
          <p:nvSpPr>
            <p:cNvPr name="TextBox 22" id="22"/>
            <p:cNvSpPr txBox="true"/>
            <p:nvPr/>
          </p:nvSpPr>
          <p:spPr>
            <a:xfrm rot="0">
              <a:off x="0" y="47625"/>
              <a:ext cx="4445000" cy="1042035"/>
            </a:xfrm>
            <a:prstGeom prst="rect">
              <a:avLst/>
            </a:prstGeom>
          </p:spPr>
          <p:txBody>
            <a:bodyPr anchor="t" rtlCol="false" tIns="0" lIns="0" bIns="0" rIns="0">
              <a:spAutoFit/>
            </a:bodyPr>
            <a:lstStyle/>
            <a:p>
              <a:pPr algn="ctr">
                <a:lnSpc>
                  <a:spcPts val="5670"/>
                </a:lnSpc>
              </a:pPr>
              <a:r>
                <a:rPr lang="en-US" sz="5400" b="true">
                  <a:solidFill>
                    <a:srgbClr val="2E7D32"/>
                  </a:solidFill>
                  <a:latin typeface="Arimo Bold"/>
                  <a:ea typeface="Arimo Bold"/>
                  <a:cs typeface="Arimo Bold"/>
                  <a:sym typeface="Arimo Bold"/>
                </a:rPr>
                <a:t>32</a:t>
              </a:r>
            </a:p>
          </p:txBody>
        </p:sp>
        <p:sp>
          <p:nvSpPr>
            <p:cNvPr name="TextBox 23" id="23"/>
            <p:cNvSpPr txBox="true"/>
            <p:nvPr/>
          </p:nvSpPr>
          <p:spPr>
            <a:xfrm rot="0">
              <a:off x="0" y="1114425"/>
              <a:ext cx="4445000" cy="389255"/>
            </a:xfrm>
            <a:prstGeom prst="rect">
              <a:avLst/>
            </a:prstGeom>
          </p:spPr>
          <p:txBody>
            <a:bodyPr anchor="t" rtlCol="false" tIns="0" lIns="0" bIns="0" rIns="0">
              <a:spAutoFit/>
            </a:bodyPr>
            <a:lstStyle/>
            <a:p>
              <a:pPr algn="ctr">
                <a:lnSpc>
                  <a:spcPts val="2430"/>
                </a:lnSpc>
              </a:pPr>
              <a:r>
                <a:rPr lang="en-US" sz="1800">
                  <a:solidFill>
                    <a:srgbClr val="17212B"/>
                  </a:solidFill>
                  <a:latin typeface="Aptos"/>
                  <a:ea typeface="Aptos"/>
                  <a:cs typeface="Aptos"/>
                  <a:sym typeface="Aptos"/>
                </a:rPr>
                <a:t>cleaned columns</a:t>
              </a:r>
            </a:p>
          </p:txBody>
        </p:sp>
      </p:grpSp>
      <p:grpSp>
        <p:nvGrpSpPr>
          <p:cNvPr name="Group 24" id="24"/>
          <p:cNvGrpSpPr/>
          <p:nvPr/>
        </p:nvGrpSpPr>
        <p:grpSpPr>
          <a:xfrm rot="0">
            <a:off x="9105900" y="1857375"/>
            <a:ext cx="3333750" cy="1127760"/>
            <a:chOff x="0" y="0"/>
            <a:chExt cx="4445000" cy="1503680"/>
          </a:xfrm>
        </p:grpSpPr>
        <p:sp>
          <p:nvSpPr>
            <p:cNvPr name="TextBox 25" id="25"/>
            <p:cNvSpPr txBox="true"/>
            <p:nvPr/>
          </p:nvSpPr>
          <p:spPr>
            <a:xfrm rot="0">
              <a:off x="0" y="47625"/>
              <a:ext cx="4445000" cy="1042035"/>
            </a:xfrm>
            <a:prstGeom prst="rect">
              <a:avLst/>
            </a:prstGeom>
          </p:spPr>
          <p:txBody>
            <a:bodyPr anchor="t" rtlCol="false" tIns="0" lIns="0" bIns="0" rIns="0">
              <a:spAutoFit/>
            </a:bodyPr>
            <a:lstStyle/>
            <a:p>
              <a:pPr algn="ctr">
                <a:lnSpc>
                  <a:spcPts val="5670"/>
                </a:lnSpc>
              </a:pPr>
              <a:r>
                <a:rPr lang="en-US" sz="5400" b="true">
                  <a:solidFill>
                    <a:srgbClr val="2E7D32"/>
                  </a:solidFill>
                  <a:latin typeface="Arimo Bold"/>
                  <a:ea typeface="Arimo Bold"/>
                  <a:cs typeface="Arimo Bold"/>
                  <a:sym typeface="Arimo Bold"/>
                </a:rPr>
                <a:t>37</a:t>
              </a:r>
            </a:p>
          </p:txBody>
        </p:sp>
        <p:sp>
          <p:nvSpPr>
            <p:cNvPr name="TextBox 26" id="26"/>
            <p:cNvSpPr txBox="true"/>
            <p:nvPr/>
          </p:nvSpPr>
          <p:spPr>
            <a:xfrm rot="0">
              <a:off x="0" y="1114425"/>
              <a:ext cx="4445000" cy="389255"/>
            </a:xfrm>
            <a:prstGeom prst="rect">
              <a:avLst/>
            </a:prstGeom>
          </p:spPr>
          <p:txBody>
            <a:bodyPr anchor="t" rtlCol="false" tIns="0" lIns="0" bIns="0" rIns="0">
              <a:spAutoFit/>
            </a:bodyPr>
            <a:lstStyle/>
            <a:p>
              <a:pPr algn="ctr">
                <a:lnSpc>
                  <a:spcPts val="2430"/>
                </a:lnSpc>
              </a:pPr>
              <a:r>
                <a:rPr lang="en-US" sz="1800">
                  <a:solidFill>
                    <a:srgbClr val="17212B"/>
                  </a:solidFill>
                  <a:latin typeface="Aptos"/>
                  <a:ea typeface="Aptos"/>
                  <a:cs typeface="Aptos"/>
                  <a:sym typeface="Aptos"/>
                </a:rPr>
                <a:t>final ML features</a:t>
              </a:r>
            </a:p>
          </p:txBody>
        </p:sp>
      </p:grpSp>
      <p:grpSp>
        <p:nvGrpSpPr>
          <p:cNvPr name="Group 27" id="27"/>
          <p:cNvGrpSpPr/>
          <p:nvPr/>
        </p:nvGrpSpPr>
        <p:grpSpPr>
          <a:xfrm rot="0">
            <a:off x="13201650" y="1857375"/>
            <a:ext cx="3333750" cy="1127760"/>
            <a:chOff x="0" y="0"/>
            <a:chExt cx="4445000" cy="1503680"/>
          </a:xfrm>
        </p:grpSpPr>
        <p:sp>
          <p:nvSpPr>
            <p:cNvPr name="TextBox 28" id="28"/>
            <p:cNvSpPr txBox="true"/>
            <p:nvPr/>
          </p:nvSpPr>
          <p:spPr>
            <a:xfrm rot="0">
              <a:off x="0" y="47625"/>
              <a:ext cx="4445000" cy="1042035"/>
            </a:xfrm>
            <a:prstGeom prst="rect">
              <a:avLst/>
            </a:prstGeom>
          </p:spPr>
          <p:txBody>
            <a:bodyPr anchor="t" rtlCol="false" tIns="0" lIns="0" bIns="0" rIns="0">
              <a:spAutoFit/>
            </a:bodyPr>
            <a:lstStyle/>
            <a:p>
              <a:pPr algn="ctr">
                <a:lnSpc>
                  <a:spcPts val="5670"/>
                </a:lnSpc>
              </a:pPr>
              <a:r>
                <a:rPr lang="en-US" sz="5400" b="true">
                  <a:solidFill>
                    <a:srgbClr val="D62728"/>
                  </a:solidFill>
                  <a:latin typeface="Arimo Bold"/>
                  <a:ea typeface="Arimo Bold"/>
                  <a:cs typeface="Arimo Bold"/>
                  <a:sym typeface="Arimo Bold"/>
                </a:rPr>
                <a:t>≈ 0.95</a:t>
              </a:r>
            </a:p>
          </p:txBody>
        </p:sp>
        <p:sp>
          <p:nvSpPr>
            <p:cNvPr name="TextBox 29" id="29"/>
            <p:cNvSpPr txBox="true"/>
            <p:nvPr/>
          </p:nvSpPr>
          <p:spPr>
            <a:xfrm rot="0">
              <a:off x="0" y="1114425"/>
              <a:ext cx="4445000" cy="389255"/>
            </a:xfrm>
            <a:prstGeom prst="rect">
              <a:avLst/>
            </a:prstGeom>
          </p:spPr>
          <p:txBody>
            <a:bodyPr anchor="t" rtlCol="false" tIns="0" lIns="0" bIns="0" rIns="0">
              <a:spAutoFit/>
            </a:bodyPr>
            <a:lstStyle/>
            <a:p>
              <a:pPr algn="ctr">
                <a:lnSpc>
                  <a:spcPts val="2430"/>
                </a:lnSpc>
              </a:pPr>
              <a:r>
                <a:rPr lang="en-US" sz="1800">
                  <a:solidFill>
                    <a:srgbClr val="17212B"/>
                  </a:solidFill>
                  <a:latin typeface="Aptos"/>
                  <a:ea typeface="Aptos"/>
                  <a:cs typeface="Aptos"/>
                  <a:sym typeface="Aptos"/>
                </a:rPr>
                <a:t>feature-to-sample ratio p/n</a:t>
              </a:r>
            </a:p>
          </p:txBody>
        </p:sp>
      </p:grpSp>
      <p:grpSp>
        <p:nvGrpSpPr>
          <p:cNvPr name="Group 30" id="30"/>
          <p:cNvGrpSpPr/>
          <p:nvPr/>
        </p:nvGrpSpPr>
        <p:grpSpPr>
          <a:xfrm rot="0">
            <a:off x="914400" y="4762500"/>
            <a:ext cx="2857500" cy="1047750"/>
            <a:chOff x="0" y="0"/>
            <a:chExt cx="3810000" cy="1397000"/>
          </a:xfrm>
        </p:grpSpPr>
        <p:sp>
          <p:nvSpPr>
            <p:cNvPr name="Freeform 31" id="31"/>
            <p:cNvSpPr/>
            <p:nvPr/>
          </p:nvSpPr>
          <p:spPr>
            <a:xfrm flipH="false" flipV="false" rot="0">
              <a:off x="0" y="0"/>
              <a:ext cx="3810000" cy="1397000"/>
            </a:xfrm>
            <a:custGeom>
              <a:avLst/>
              <a:gdLst/>
              <a:ahLst/>
              <a:cxnLst/>
              <a:rect r="r" b="b" t="t" l="l"/>
              <a:pathLst>
                <a:path h="1397000" w="3810000">
                  <a:moveTo>
                    <a:pt x="67733" y="0"/>
                  </a:moveTo>
                  <a:lnTo>
                    <a:pt x="3742267" y="0"/>
                  </a:lnTo>
                  <a:cubicBezTo>
                    <a:pt x="3760231" y="0"/>
                    <a:pt x="3777459" y="7136"/>
                    <a:pt x="3790161" y="19839"/>
                  </a:cubicBezTo>
                  <a:cubicBezTo>
                    <a:pt x="3802864" y="32541"/>
                    <a:pt x="3810000" y="49769"/>
                    <a:pt x="3810000" y="67733"/>
                  </a:cubicBezTo>
                  <a:lnTo>
                    <a:pt x="3810000" y="1329267"/>
                  </a:lnTo>
                  <a:cubicBezTo>
                    <a:pt x="3810000" y="1347231"/>
                    <a:pt x="3802864" y="1364459"/>
                    <a:pt x="3790161" y="1377161"/>
                  </a:cubicBezTo>
                  <a:cubicBezTo>
                    <a:pt x="3777459" y="1389864"/>
                    <a:pt x="3760231" y="1397000"/>
                    <a:pt x="3742267" y="1397000"/>
                  </a:cubicBezTo>
                  <a:lnTo>
                    <a:pt x="67733" y="1397000"/>
                  </a:lnTo>
                  <a:cubicBezTo>
                    <a:pt x="49769" y="1397000"/>
                    <a:pt x="32541" y="1389864"/>
                    <a:pt x="19839" y="1377161"/>
                  </a:cubicBezTo>
                  <a:cubicBezTo>
                    <a:pt x="7136" y="1364459"/>
                    <a:pt x="0" y="1347231"/>
                    <a:pt x="0" y="1329267"/>
                  </a:cubicBezTo>
                  <a:lnTo>
                    <a:pt x="0" y="67733"/>
                  </a:lnTo>
                  <a:cubicBezTo>
                    <a:pt x="0" y="49769"/>
                    <a:pt x="7136" y="32541"/>
                    <a:pt x="19839" y="19839"/>
                  </a:cubicBezTo>
                  <a:cubicBezTo>
                    <a:pt x="32541" y="7136"/>
                    <a:pt x="49769" y="0"/>
                    <a:pt x="67733" y="0"/>
                  </a:cubicBezTo>
                  <a:close/>
                </a:path>
              </a:pathLst>
            </a:custGeom>
            <a:solidFill>
              <a:srgbClr val="1F4E79"/>
            </a:solidFill>
            <a:ln cap="sq">
              <a:noFill/>
              <a:prstDash val="solid"/>
              <a:miter/>
            </a:ln>
          </p:spPr>
        </p:sp>
        <p:sp>
          <p:nvSpPr>
            <p:cNvPr name="TextBox 32" id="32"/>
            <p:cNvSpPr txBox="true"/>
            <p:nvPr/>
          </p:nvSpPr>
          <p:spPr>
            <a:xfrm>
              <a:off x="0" y="-38100"/>
              <a:ext cx="3810000" cy="1435100"/>
            </a:xfrm>
            <a:prstGeom prst="rect">
              <a:avLst/>
            </a:prstGeom>
          </p:spPr>
          <p:txBody>
            <a:bodyPr anchor="ctr" rtlCol="false" tIns="50800" lIns="50800" bIns="50800" rIns="50800"/>
            <a:lstStyle/>
            <a:p>
              <a:pPr algn="ctr">
                <a:lnSpc>
                  <a:spcPts val="2520"/>
                </a:lnSpc>
              </a:pPr>
              <a:r>
                <a:rPr lang="en-US" sz="1800" b="true">
                  <a:solidFill>
                    <a:srgbClr val="FFFFFF"/>
                  </a:solidFill>
                  <a:latin typeface="Aptos Bold"/>
                  <a:ea typeface="Aptos Bold"/>
                  <a:cs typeface="Aptos Bold"/>
                  <a:sym typeface="Aptos Bold"/>
                </a:rPr>
                <a:t>Demographics</a:t>
              </a:r>
            </a:p>
          </p:txBody>
        </p:sp>
      </p:grpSp>
      <p:grpSp>
        <p:nvGrpSpPr>
          <p:cNvPr name="Group 33" id="33"/>
          <p:cNvGrpSpPr/>
          <p:nvPr/>
        </p:nvGrpSpPr>
        <p:grpSpPr>
          <a:xfrm rot="0">
            <a:off x="4152900" y="4762500"/>
            <a:ext cx="2857500" cy="1047750"/>
            <a:chOff x="0" y="0"/>
            <a:chExt cx="3810000" cy="1397000"/>
          </a:xfrm>
        </p:grpSpPr>
        <p:sp>
          <p:nvSpPr>
            <p:cNvPr name="Freeform 34" id="34"/>
            <p:cNvSpPr/>
            <p:nvPr/>
          </p:nvSpPr>
          <p:spPr>
            <a:xfrm flipH="false" flipV="false" rot="0">
              <a:off x="0" y="0"/>
              <a:ext cx="3810000" cy="1397000"/>
            </a:xfrm>
            <a:custGeom>
              <a:avLst/>
              <a:gdLst/>
              <a:ahLst/>
              <a:cxnLst/>
              <a:rect r="r" b="b" t="t" l="l"/>
              <a:pathLst>
                <a:path h="1397000" w="3810000">
                  <a:moveTo>
                    <a:pt x="67733" y="0"/>
                  </a:moveTo>
                  <a:lnTo>
                    <a:pt x="3742267" y="0"/>
                  </a:lnTo>
                  <a:cubicBezTo>
                    <a:pt x="3760231" y="0"/>
                    <a:pt x="3777459" y="7136"/>
                    <a:pt x="3790161" y="19839"/>
                  </a:cubicBezTo>
                  <a:cubicBezTo>
                    <a:pt x="3802864" y="32541"/>
                    <a:pt x="3810000" y="49769"/>
                    <a:pt x="3810000" y="67733"/>
                  </a:cubicBezTo>
                  <a:lnTo>
                    <a:pt x="3810000" y="1329267"/>
                  </a:lnTo>
                  <a:cubicBezTo>
                    <a:pt x="3810000" y="1347231"/>
                    <a:pt x="3802864" y="1364459"/>
                    <a:pt x="3790161" y="1377161"/>
                  </a:cubicBezTo>
                  <a:cubicBezTo>
                    <a:pt x="3777459" y="1389864"/>
                    <a:pt x="3760231" y="1397000"/>
                    <a:pt x="3742267" y="1397000"/>
                  </a:cubicBezTo>
                  <a:lnTo>
                    <a:pt x="67733" y="1397000"/>
                  </a:lnTo>
                  <a:cubicBezTo>
                    <a:pt x="49769" y="1397000"/>
                    <a:pt x="32541" y="1389864"/>
                    <a:pt x="19839" y="1377161"/>
                  </a:cubicBezTo>
                  <a:cubicBezTo>
                    <a:pt x="7136" y="1364459"/>
                    <a:pt x="0" y="1347231"/>
                    <a:pt x="0" y="1329267"/>
                  </a:cubicBezTo>
                  <a:lnTo>
                    <a:pt x="0" y="67733"/>
                  </a:lnTo>
                  <a:cubicBezTo>
                    <a:pt x="0" y="49769"/>
                    <a:pt x="7136" y="32541"/>
                    <a:pt x="19839" y="19839"/>
                  </a:cubicBezTo>
                  <a:cubicBezTo>
                    <a:pt x="32541" y="7136"/>
                    <a:pt x="49769" y="0"/>
                    <a:pt x="67733" y="0"/>
                  </a:cubicBezTo>
                  <a:close/>
                </a:path>
              </a:pathLst>
            </a:custGeom>
            <a:solidFill>
              <a:srgbClr val="1F4E79"/>
            </a:solidFill>
            <a:ln cap="sq">
              <a:noFill/>
              <a:prstDash val="solid"/>
              <a:miter/>
            </a:ln>
          </p:spPr>
        </p:sp>
        <p:sp>
          <p:nvSpPr>
            <p:cNvPr name="TextBox 35" id="35"/>
            <p:cNvSpPr txBox="true"/>
            <p:nvPr/>
          </p:nvSpPr>
          <p:spPr>
            <a:xfrm>
              <a:off x="0" y="-38100"/>
              <a:ext cx="3810000" cy="1435100"/>
            </a:xfrm>
            <a:prstGeom prst="rect">
              <a:avLst/>
            </a:prstGeom>
          </p:spPr>
          <p:txBody>
            <a:bodyPr anchor="ctr" rtlCol="false" tIns="50800" lIns="50800" bIns="50800" rIns="50800"/>
            <a:lstStyle/>
            <a:p>
              <a:pPr algn="ctr">
                <a:lnSpc>
                  <a:spcPts val="2520"/>
                </a:lnSpc>
              </a:pPr>
              <a:r>
                <a:rPr lang="en-US" sz="1800" b="true">
                  <a:solidFill>
                    <a:srgbClr val="FFFFFF"/>
                  </a:solidFill>
                  <a:latin typeface="Aptos Bold"/>
                  <a:ea typeface="Aptos Bold"/>
                  <a:cs typeface="Aptos Bold"/>
                  <a:sym typeface="Aptos Bold"/>
                </a:rPr>
                <a:t>Academic</a:t>
              </a:r>
            </a:p>
          </p:txBody>
        </p:sp>
      </p:grpSp>
      <p:grpSp>
        <p:nvGrpSpPr>
          <p:cNvPr name="Group 36" id="36"/>
          <p:cNvGrpSpPr/>
          <p:nvPr/>
        </p:nvGrpSpPr>
        <p:grpSpPr>
          <a:xfrm rot="0">
            <a:off x="7391400" y="4762500"/>
            <a:ext cx="2857500" cy="1047750"/>
            <a:chOff x="0" y="0"/>
            <a:chExt cx="3810000" cy="1397000"/>
          </a:xfrm>
        </p:grpSpPr>
        <p:sp>
          <p:nvSpPr>
            <p:cNvPr name="Freeform 37" id="37"/>
            <p:cNvSpPr/>
            <p:nvPr/>
          </p:nvSpPr>
          <p:spPr>
            <a:xfrm flipH="false" flipV="false" rot="0">
              <a:off x="0" y="0"/>
              <a:ext cx="3810000" cy="1397000"/>
            </a:xfrm>
            <a:custGeom>
              <a:avLst/>
              <a:gdLst/>
              <a:ahLst/>
              <a:cxnLst/>
              <a:rect r="r" b="b" t="t" l="l"/>
              <a:pathLst>
                <a:path h="1397000" w="3810000">
                  <a:moveTo>
                    <a:pt x="67733" y="0"/>
                  </a:moveTo>
                  <a:lnTo>
                    <a:pt x="3742267" y="0"/>
                  </a:lnTo>
                  <a:cubicBezTo>
                    <a:pt x="3760231" y="0"/>
                    <a:pt x="3777459" y="7136"/>
                    <a:pt x="3790161" y="19839"/>
                  </a:cubicBezTo>
                  <a:cubicBezTo>
                    <a:pt x="3802864" y="32541"/>
                    <a:pt x="3810000" y="49769"/>
                    <a:pt x="3810000" y="67733"/>
                  </a:cubicBezTo>
                  <a:lnTo>
                    <a:pt x="3810000" y="1329267"/>
                  </a:lnTo>
                  <a:cubicBezTo>
                    <a:pt x="3810000" y="1347231"/>
                    <a:pt x="3802864" y="1364459"/>
                    <a:pt x="3790161" y="1377161"/>
                  </a:cubicBezTo>
                  <a:cubicBezTo>
                    <a:pt x="3777459" y="1389864"/>
                    <a:pt x="3760231" y="1397000"/>
                    <a:pt x="3742267" y="1397000"/>
                  </a:cubicBezTo>
                  <a:lnTo>
                    <a:pt x="67733" y="1397000"/>
                  </a:lnTo>
                  <a:cubicBezTo>
                    <a:pt x="49769" y="1397000"/>
                    <a:pt x="32541" y="1389864"/>
                    <a:pt x="19839" y="1377161"/>
                  </a:cubicBezTo>
                  <a:cubicBezTo>
                    <a:pt x="7136" y="1364459"/>
                    <a:pt x="0" y="1347231"/>
                    <a:pt x="0" y="1329267"/>
                  </a:cubicBezTo>
                  <a:lnTo>
                    <a:pt x="0" y="67733"/>
                  </a:lnTo>
                  <a:cubicBezTo>
                    <a:pt x="0" y="49769"/>
                    <a:pt x="7136" y="32541"/>
                    <a:pt x="19839" y="19839"/>
                  </a:cubicBezTo>
                  <a:cubicBezTo>
                    <a:pt x="32541" y="7136"/>
                    <a:pt x="49769" y="0"/>
                    <a:pt x="67733" y="0"/>
                  </a:cubicBezTo>
                  <a:close/>
                </a:path>
              </a:pathLst>
            </a:custGeom>
            <a:solidFill>
              <a:srgbClr val="1F4E79"/>
            </a:solidFill>
            <a:ln cap="sq">
              <a:noFill/>
              <a:prstDash val="solid"/>
              <a:miter/>
            </a:ln>
          </p:spPr>
        </p:sp>
        <p:sp>
          <p:nvSpPr>
            <p:cNvPr name="TextBox 38" id="38"/>
            <p:cNvSpPr txBox="true"/>
            <p:nvPr/>
          </p:nvSpPr>
          <p:spPr>
            <a:xfrm>
              <a:off x="0" y="-38100"/>
              <a:ext cx="3810000" cy="1435100"/>
            </a:xfrm>
            <a:prstGeom prst="rect">
              <a:avLst/>
            </a:prstGeom>
          </p:spPr>
          <p:txBody>
            <a:bodyPr anchor="ctr" rtlCol="false" tIns="50800" lIns="50800" bIns="50800" rIns="50800"/>
            <a:lstStyle/>
            <a:p>
              <a:pPr algn="ctr">
                <a:lnSpc>
                  <a:spcPts val="2520"/>
                </a:lnSpc>
              </a:pPr>
              <a:r>
                <a:rPr lang="en-US" sz="1800" b="true">
                  <a:solidFill>
                    <a:srgbClr val="FFFFFF"/>
                  </a:solidFill>
                  <a:latin typeface="Aptos Bold"/>
                  <a:ea typeface="Aptos Bold"/>
                  <a:cs typeface="Aptos Bold"/>
                  <a:sym typeface="Aptos Bold"/>
                </a:rPr>
                <a:t>Lifestyle</a:t>
              </a:r>
            </a:p>
          </p:txBody>
        </p:sp>
      </p:grpSp>
      <p:grpSp>
        <p:nvGrpSpPr>
          <p:cNvPr name="Group 39" id="39"/>
          <p:cNvGrpSpPr/>
          <p:nvPr/>
        </p:nvGrpSpPr>
        <p:grpSpPr>
          <a:xfrm rot="0">
            <a:off x="10629900" y="4762500"/>
            <a:ext cx="2857500" cy="1047750"/>
            <a:chOff x="0" y="0"/>
            <a:chExt cx="3810000" cy="1397000"/>
          </a:xfrm>
        </p:grpSpPr>
        <p:sp>
          <p:nvSpPr>
            <p:cNvPr name="Freeform 40" id="40"/>
            <p:cNvSpPr/>
            <p:nvPr/>
          </p:nvSpPr>
          <p:spPr>
            <a:xfrm flipH="false" flipV="false" rot="0">
              <a:off x="0" y="0"/>
              <a:ext cx="3810000" cy="1397000"/>
            </a:xfrm>
            <a:custGeom>
              <a:avLst/>
              <a:gdLst/>
              <a:ahLst/>
              <a:cxnLst/>
              <a:rect r="r" b="b" t="t" l="l"/>
              <a:pathLst>
                <a:path h="1397000" w="3810000">
                  <a:moveTo>
                    <a:pt x="67733" y="0"/>
                  </a:moveTo>
                  <a:lnTo>
                    <a:pt x="3742267" y="0"/>
                  </a:lnTo>
                  <a:cubicBezTo>
                    <a:pt x="3760231" y="0"/>
                    <a:pt x="3777459" y="7136"/>
                    <a:pt x="3790161" y="19839"/>
                  </a:cubicBezTo>
                  <a:cubicBezTo>
                    <a:pt x="3802864" y="32541"/>
                    <a:pt x="3810000" y="49769"/>
                    <a:pt x="3810000" y="67733"/>
                  </a:cubicBezTo>
                  <a:lnTo>
                    <a:pt x="3810000" y="1329267"/>
                  </a:lnTo>
                  <a:cubicBezTo>
                    <a:pt x="3810000" y="1347231"/>
                    <a:pt x="3802864" y="1364459"/>
                    <a:pt x="3790161" y="1377161"/>
                  </a:cubicBezTo>
                  <a:cubicBezTo>
                    <a:pt x="3777459" y="1389864"/>
                    <a:pt x="3760231" y="1397000"/>
                    <a:pt x="3742267" y="1397000"/>
                  </a:cubicBezTo>
                  <a:lnTo>
                    <a:pt x="67733" y="1397000"/>
                  </a:lnTo>
                  <a:cubicBezTo>
                    <a:pt x="49769" y="1397000"/>
                    <a:pt x="32541" y="1389864"/>
                    <a:pt x="19839" y="1377161"/>
                  </a:cubicBezTo>
                  <a:cubicBezTo>
                    <a:pt x="7136" y="1364459"/>
                    <a:pt x="0" y="1347231"/>
                    <a:pt x="0" y="1329267"/>
                  </a:cubicBezTo>
                  <a:lnTo>
                    <a:pt x="0" y="67733"/>
                  </a:lnTo>
                  <a:cubicBezTo>
                    <a:pt x="0" y="49769"/>
                    <a:pt x="7136" y="32541"/>
                    <a:pt x="19839" y="19839"/>
                  </a:cubicBezTo>
                  <a:cubicBezTo>
                    <a:pt x="32541" y="7136"/>
                    <a:pt x="49769" y="0"/>
                    <a:pt x="67733" y="0"/>
                  </a:cubicBezTo>
                  <a:close/>
                </a:path>
              </a:pathLst>
            </a:custGeom>
            <a:solidFill>
              <a:srgbClr val="1F4E79"/>
            </a:solidFill>
            <a:ln cap="sq">
              <a:noFill/>
              <a:prstDash val="solid"/>
              <a:miter/>
            </a:ln>
          </p:spPr>
        </p:sp>
        <p:sp>
          <p:nvSpPr>
            <p:cNvPr name="TextBox 41" id="41"/>
            <p:cNvSpPr txBox="true"/>
            <p:nvPr/>
          </p:nvSpPr>
          <p:spPr>
            <a:xfrm>
              <a:off x="0" y="-38100"/>
              <a:ext cx="3810000" cy="1435100"/>
            </a:xfrm>
            <a:prstGeom prst="rect">
              <a:avLst/>
            </a:prstGeom>
          </p:spPr>
          <p:txBody>
            <a:bodyPr anchor="ctr" rtlCol="false" tIns="50800" lIns="50800" bIns="50800" rIns="50800"/>
            <a:lstStyle/>
            <a:p>
              <a:pPr algn="ctr">
                <a:lnSpc>
                  <a:spcPts val="2520"/>
                </a:lnSpc>
              </a:pPr>
              <a:r>
                <a:rPr lang="en-US" sz="1800" b="true">
                  <a:solidFill>
                    <a:srgbClr val="FFFFFF"/>
                  </a:solidFill>
                  <a:latin typeface="Aptos Bold"/>
                  <a:ea typeface="Aptos Bold"/>
                  <a:cs typeface="Aptos Bold"/>
                  <a:sym typeface="Aptos Bold"/>
                </a:rPr>
                <a:t>Psychosocial</a:t>
              </a:r>
            </a:p>
          </p:txBody>
        </p:sp>
      </p:grpSp>
      <p:grpSp>
        <p:nvGrpSpPr>
          <p:cNvPr name="Group 42" id="42"/>
          <p:cNvGrpSpPr/>
          <p:nvPr/>
        </p:nvGrpSpPr>
        <p:grpSpPr>
          <a:xfrm rot="0">
            <a:off x="13868400" y="4762500"/>
            <a:ext cx="2857500" cy="1047750"/>
            <a:chOff x="0" y="0"/>
            <a:chExt cx="3810000" cy="1397000"/>
          </a:xfrm>
        </p:grpSpPr>
        <p:sp>
          <p:nvSpPr>
            <p:cNvPr name="Freeform 43" id="43"/>
            <p:cNvSpPr/>
            <p:nvPr/>
          </p:nvSpPr>
          <p:spPr>
            <a:xfrm flipH="false" flipV="false" rot="0">
              <a:off x="0" y="0"/>
              <a:ext cx="3810000" cy="1397000"/>
            </a:xfrm>
            <a:custGeom>
              <a:avLst/>
              <a:gdLst/>
              <a:ahLst/>
              <a:cxnLst/>
              <a:rect r="r" b="b" t="t" l="l"/>
              <a:pathLst>
                <a:path h="1397000" w="3810000">
                  <a:moveTo>
                    <a:pt x="67733" y="0"/>
                  </a:moveTo>
                  <a:lnTo>
                    <a:pt x="3742267" y="0"/>
                  </a:lnTo>
                  <a:cubicBezTo>
                    <a:pt x="3760231" y="0"/>
                    <a:pt x="3777459" y="7136"/>
                    <a:pt x="3790161" y="19839"/>
                  </a:cubicBezTo>
                  <a:cubicBezTo>
                    <a:pt x="3802864" y="32541"/>
                    <a:pt x="3810000" y="49769"/>
                    <a:pt x="3810000" y="67733"/>
                  </a:cubicBezTo>
                  <a:lnTo>
                    <a:pt x="3810000" y="1329267"/>
                  </a:lnTo>
                  <a:cubicBezTo>
                    <a:pt x="3810000" y="1347231"/>
                    <a:pt x="3802864" y="1364459"/>
                    <a:pt x="3790161" y="1377161"/>
                  </a:cubicBezTo>
                  <a:cubicBezTo>
                    <a:pt x="3777459" y="1389864"/>
                    <a:pt x="3760231" y="1397000"/>
                    <a:pt x="3742267" y="1397000"/>
                  </a:cubicBezTo>
                  <a:lnTo>
                    <a:pt x="67733" y="1397000"/>
                  </a:lnTo>
                  <a:cubicBezTo>
                    <a:pt x="49769" y="1397000"/>
                    <a:pt x="32541" y="1389864"/>
                    <a:pt x="19839" y="1377161"/>
                  </a:cubicBezTo>
                  <a:cubicBezTo>
                    <a:pt x="7136" y="1364459"/>
                    <a:pt x="0" y="1347231"/>
                    <a:pt x="0" y="1329267"/>
                  </a:cubicBezTo>
                  <a:lnTo>
                    <a:pt x="0" y="67733"/>
                  </a:lnTo>
                  <a:cubicBezTo>
                    <a:pt x="0" y="49769"/>
                    <a:pt x="7136" y="32541"/>
                    <a:pt x="19839" y="19839"/>
                  </a:cubicBezTo>
                  <a:cubicBezTo>
                    <a:pt x="32541" y="7136"/>
                    <a:pt x="49769" y="0"/>
                    <a:pt x="67733" y="0"/>
                  </a:cubicBezTo>
                  <a:close/>
                </a:path>
              </a:pathLst>
            </a:custGeom>
            <a:solidFill>
              <a:srgbClr val="2E7D32"/>
            </a:solidFill>
            <a:ln cap="sq">
              <a:noFill/>
              <a:prstDash val="solid"/>
              <a:miter/>
            </a:ln>
          </p:spPr>
        </p:sp>
        <p:sp>
          <p:nvSpPr>
            <p:cNvPr name="TextBox 44" id="44"/>
            <p:cNvSpPr txBox="true"/>
            <p:nvPr/>
          </p:nvSpPr>
          <p:spPr>
            <a:xfrm>
              <a:off x="0" y="-38100"/>
              <a:ext cx="3810000" cy="1435100"/>
            </a:xfrm>
            <a:prstGeom prst="rect">
              <a:avLst/>
            </a:prstGeom>
          </p:spPr>
          <p:txBody>
            <a:bodyPr anchor="ctr" rtlCol="false" tIns="50800" lIns="50800" bIns="50800" rIns="50800"/>
            <a:lstStyle/>
            <a:p>
              <a:pPr algn="ctr">
                <a:lnSpc>
                  <a:spcPts val="2520"/>
                </a:lnSpc>
              </a:pPr>
              <a:r>
                <a:rPr lang="en-US" sz="1800" b="true">
                  <a:solidFill>
                    <a:srgbClr val="FFFFFF"/>
                  </a:solidFill>
                  <a:latin typeface="Aptos Bold"/>
                  <a:ea typeface="Aptos Bold"/>
                  <a:cs typeface="Aptos Bold"/>
                  <a:sym typeface="Aptos Bold"/>
                </a:rPr>
                <a:t>10-question stress assessment</a:t>
              </a:r>
            </a:p>
          </p:txBody>
        </p:sp>
      </p:grpSp>
      <p:sp>
        <p:nvSpPr>
          <p:cNvPr name="TextBox 45" id="45"/>
          <p:cNvSpPr txBox="true"/>
          <p:nvPr/>
        </p:nvSpPr>
        <p:spPr>
          <a:xfrm rot="0">
            <a:off x="914400" y="3971925"/>
            <a:ext cx="16459200" cy="324803"/>
          </a:xfrm>
          <a:prstGeom prst="rect">
            <a:avLst/>
          </a:prstGeom>
        </p:spPr>
        <p:txBody>
          <a:bodyPr anchor="t" rtlCol="false" tIns="0" lIns="0" bIns="0" rIns="0">
            <a:spAutoFit/>
          </a:bodyPr>
          <a:lstStyle/>
          <a:p>
            <a:pPr algn="ctr">
              <a:lnSpc>
                <a:spcPts val="2632"/>
              </a:lnSpc>
            </a:pPr>
            <a:r>
              <a:rPr lang="en-US" sz="1950">
                <a:solidFill>
                  <a:srgbClr val="17212B"/>
                </a:solidFill>
                <a:latin typeface="Aptos"/>
                <a:ea typeface="Aptos"/>
                <a:cs typeface="Aptos"/>
                <a:sym typeface="Aptos"/>
              </a:rPr>
              <a:t>Anonymous Google Forms survey  •  voluntary  •  anonymous  •  about 5–7 minutes</a:t>
            </a:r>
          </a:p>
        </p:txBody>
      </p:sp>
      <p:sp>
        <p:nvSpPr>
          <p:cNvPr name="TextBox 46" id="46"/>
          <p:cNvSpPr txBox="true"/>
          <p:nvPr/>
        </p:nvSpPr>
        <p:spPr>
          <a:xfrm rot="0">
            <a:off x="914400" y="6410325"/>
            <a:ext cx="16459200" cy="353378"/>
          </a:xfrm>
          <a:prstGeom prst="rect">
            <a:avLst/>
          </a:prstGeom>
        </p:spPr>
        <p:txBody>
          <a:bodyPr anchor="t" rtlCol="false" tIns="0" lIns="0" bIns="0" rIns="0">
            <a:spAutoFit/>
          </a:bodyPr>
          <a:lstStyle/>
          <a:p>
            <a:pPr algn="ctr">
              <a:lnSpc>
                <a:spcPts val="2677"/>
              </a:lnSpc>
            </a:pPr>
            <a:r>
              <a:rPr lang="en-US" sz="2550" b="true">
                <a:solidFill>
                  <a:srgbClr val="1F4E79"/>
                </a:solidFill>
                <a:latin typeface="Arimo Bold"/>
                <a:ea typeface="Arimo Bold"/>
                <a:cs typeface="Arimo Bold"/>
                <a:sym typeface="Arimo Bold"/>
              </a:rPr>
              <a:t>stress_q1 to stress_q10  •  1–5 scale</a:t>
            </a:r>
          </a:p>
        </p:txBody>
      </p:sp>
      <p:sp>
        <p:nvSpPr>
          <p:cNvPr name="TextBox 47" id="47"/>
          <p:cNvSpPr txBox="true"/>
          <p:nvPr/>
        </p:nvSpPr>
        <p:spPr>
          <a:xfrm rot="0">
            <a:off x="914400" y="9734550"/>
            <a:ext cx="13811250" cy="232410"/>
          </a:xfrm>
          <a:prstGeom prst="rect">
            <a:avLst/>
          </a:prstGeom>
        </p:spPr>
        <p:txBody>
          <a:bodyPr anchor="t" rtlCol="false" tIns="0" lIns="0" bIns="0" rIns="0">
            <a:spAutoFit/>
          </a:bodyPr>
          <a:lstStyle/>
          <a:p>
            <a:pPr algn="l">
              <a:lnSpc>
                <a:spcPts val="1889"/>
              </a:lnSpc>
            </a:pPr>
            <a:r>
              <a:rPr lang="en-US" sz="1350" spc="108" b="true">
                <a:solidFill>
                  <a:srgbClr val="1F4E79"/>
                </a:solidFill>
                <a:latin typeface="Aptos Bold"/>
                <a:ea typeface="Aptos Bold"/>
                <a:cs typeface="Aptos Bold"/>
                <a:sym typeface="Aptos Bold"/>
              </a:rPr>
              <a:t>BCA FINAL-YEAR DEFENSE  •  XAVIER INTERNATIONAL COLLEGE</a:t>
            </a:r>
          </a:p>
        </p:txBody>
      </p:sp>
      <p:sp>
        <p:nvSpPr>
          <p:cNvPr name="TextBox 48" id="48"/>
          <p:cNvSpPr txBox="true"/>
          <p:nvPr/>
        </p:nvSpPr>
        <p:spPr>
          <a:xfrm rot="0">
            <a:off x="16478250" y="9734550"/>
            <a:ext cx="857250" cy="232410"/>
          </a:xfrm>
          <a:prstGeom prst="rect">
            <a:avLst/>
          </a:prstGeom>
        </p:spPr>
        <p:txBody>
          <a:bodyPr anchor="t" rtlCol="false" tIns="0" lIns="0" bIns="0" rIns="0">
            <a:spAutoFit/>
          </a:bodyPr>
          <a:lstStyle/>
          <a:p>
            <a:pPr algn="r">
              <a:lnSpc>
                <a:spcPts val="1889"/>
              </a:lnSpc>
            </a:pPr>
            <a:r>
              <a:rPr lang="en-US" b="true" sz="1350" spc="108">
                <a:solidFill>
                  <a:srgbClr val="1F4E79"/>
                </a:solidFill>
                <a:latin typeface="Aptos Bold"/>
                <a:ea typeface="Aptos Bold"/>
                <a:cs typeface="Aptos Bold"/>
                <a:sym typeface="Aptos Bold"/>
              </a:rPr>
              <a:t>07</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14400" y="476250"/>
            <a:ext cx="16459200" cy="733425"/>
            <a:chOff x="0" y="0"/>
            <a:chExt cx="21945600" cy="977900"/>
          </a:xfrm>
        </p:grpSpPr>
        <p:sp>
          <p:nvSpPr>
            <p:cNvPr name="TextBox 3" id="3"/>
            <p:cNvSpPr txBox="true"/>
            <p:nvPr/>
          </p:nvSpPr>
          <p:spPr>
            <a:xfrm rot="0">
              <a:off x="0" y="38100"/>
              <a:ext cx="1016000" cy="363220"/>
            </a:xfrm>
            <a:prstGeom prst="rect">
              <a:avLst/>
            </a:prstGeom>
          </p:spPr>
          <p:txBody>
            <a:bodyPr anchor="t" rtlCol="false" tIns="0" lIns="0" bIns="0" rIns="0">
              <a:spAutoFit/>
            </a:bodyPr>
            <a:lstStyle/>
            <a:p>
              <a:pPr algn="l">
                <a:lnSpc>
                  <a:spcPts val="2310"/>
                </a:lnSpc>
              </a:pPr>
              <a:r>
                <a:rPr lang="en-US" sz="1650" spc="132" b="true">
                  <a:solidFill>
                    <a:srgbClr val="1F4E79"/>
                  </a:solidFill>
                  <a:latin typeface="Aptos Bold"/>
                  <a:ea typeface="Aptos Bold"/>
                  <a:cs typeface="Aptos Bold"/>
                  <a:sym typeface="Aptos Bold"/>
                </a:rPr>
                <a:t>06</a:t>
              </a:r>
            </a:p>
          </p:txBody>
        </p:sp>
        <p:sp>
          <p:nvSpPr>
            <p:cNvPr name="TextBox 4" id="4"/>
            <p:cNvSpPr txBox="true"/>
            <p:nvPr/>
          </p:nvSpPr>
          <p:spPr>
            <a:xfrm rot="0">
              <a:off x="1066800" y="28575"/>
              <a:ext cx="19050000" cy="668655"/>
            </a:xfrm>
            <a:prstGeom prst="rect">
              <a:avLst/>
            </a:prstGeom>
          </p:spPr>
          <p:txBody>
            <a:bodyPr anchor="t" rtlCol="false" tIns="0" lIns="0" bIns="0" rIns="0">
              <a:spAutoFit/>
            </a:bodyPr>
            <a:lstStyle/>
            <a:p>
              <a:pPr algn="l">
                <a:lnSpc>
                  <a:spcPts val="3622"/>
                </a:lnSpc>
              </a:pPr>
              <a:r>
                <a:rPr lang="en-US" sz="3450" b="true">
                  <a:solidFill>
                    <a:srgbClr val="1F4E79"/>
                  </a:solidFill>
                  <a:latin typeface="Arimo Bold"/>
                  <a:ea typeface="Arimo Bold"/>
                  <a:cs typeface="Arimo Bold"/>
                  <a:sym typeface="Arimo Bold"/>
                </a:rPr>
                <a:t>Preprocessing Pipeline (Leakage-Safe)</a:t>
              </a:r>
            </a:p>
          </p:txBody>
        </p:sp>
        <p:sp>
          <p:nvSpPr>
            <p:cNvPr name="AutoShape 5" id="5"/>
            <p:cNvSpPr/>
            <p:nvPr/>
          </p:nvSpPr>
          <p:spPr>
            <a:xfrm>
              <a:off x="0" y="965200"/>
              <a:ext cx="21945600" cy="0"/>
            </a:xfrm>
            <a:prstGeom prst="line">
              <a:avLst/>
            </a:prstGeom>
            <a:ln cap="flat" w="25400">
              <a:solidFill>
                <a:srgbClr val="D9E1E8"/>
              </a:solidFill>
              <a:prstDash val="solid"/>
              <a:headEnd type="none" len="sm" w="sm"/>
              <a:tailEnd type="none" len="sm" w="sm"/>
            </a:ln>
          </p:spPr>
        </p:sp>
      </p:grpSp>
      <p:grpSp>
        <p:nvGrpSpPr>
          <p:cNvPr name="Group 6" id="6"/>
          <p:cNvGrpSpPr/>
          <p:nvPr/>
        </p:nvGrpSpPr>
        <p:grpSpPr>
          <a:xfrm rot="0">
            <a:off x="666750" y="3810000"/>
            <a:ext cx="2428875" cy="1285875"/>
            <a:chOff x="0" y="0"/>
            <a:chExt cx="3238500" cy="1714500"/>
          </a:xfrm>
        </p:grpSpPr>
        <p:sp>
          <p:nvSpPr>
            <p:cNvPr name="Freeform 7" id="7"/>
            <p:cNvSpPr/>
            <p:nvPr/>
          </p:nvSpPr>
          <p:spPr>
            <a:xfrm flipH="false" flipV="false" rot="0">
              <a:off x="0" y="0"/>
              <a:ext cx="3238500" cy="1714500"/>
            </a:xfrm>
            <a:custGeom>
              <a:avLst/>
              <a:gdLst/>
              <a:ahLst/>
              <a:cxnLst/>
              <a:rect r="r" b="b" t="t" l="l"/>
              <a:pathLst>
                <a:path h="1714500" w="3238500">
                  <a:moveTo>
                    <a:pt x="79686" y="0"/>
                  </a:moveTo>
                  <a:lnTo>
                    <a:pt x="3158814" y="0"/>
                  </a:lnTo>
                  <a:cubicBezTo>
                    <a:pt x="3179948" y="0"/>
                    <a:pt x="3200216" y="8395"/>
                    <a:pt x="3215160" y="23340"/>
                  </a:cubicBezTo>
                  <a:cubicBezTo>
                    <a:pt x="3230105" y="38284"/>
                    <a:pt x="3238500" y="58552"/>
                    <a:pt x="3238500" y="79686"/>
                  </a:cubicBezTo>
                  <a:lnTo>
                    <a:pt x="3238500" y="1634814"/>
                  </a:lnTo>
                  <a:cubicBezTo>
                    <a:pt x="3238500" y="1655948"/>
                    <a:pt x="3230105" y="1676216"/>
                    <a:pt x="3215160" y="1691160"/>
                  </a:cubicBezTo>
                  <a:cubicBezTo>
                    <a:pt x="3200216" y="1706105"/>
                    <a:pt x="3179948" y="1714500"/>
                    <a:pt x="3158814" y="1714500"/>
                  </a:cubicBezTo>
                  <a:lnTo>
                    <a:pt x="79686" y="1714500"/>
                  </a:lnTo>
                  <a:cubicBezTo>
                    <a:pt x="58552" y="1714500"/>
                    <a:pt x="38284" y="1706105"/>
                    <a:pt x="23340" y="1691160"/>
                  </a:cubicBezTo>
                  <a:cubicBezTo>
                    <a:pt x="8395" y="1676216"/>
                    <a:pt x="0" y="1655948"/>
                    <a:pt x="0" y="1634814"/>
                  </a:cubicBezTo>
                  <a:lnTo>
                    <a:pt x="0" y="79686"/>
                  </a:lnTo>
                  <a:cubicBezTo>
                    <a:pt x="0" y="58552"/>
                    <a:pt x="8395" y="38284"/>
                    <a:pt x="23340" y="23340"/>
                  </a:cubicBezTo>
                  <a:cubicBezTo>
                    <a:pt x="38284" y="8395"/>
                    <a:pt x="58552" y="0"/>
                    <a:pt x="79686" y="0"/>
                  </a:cubicBezTo>
                  <a:close/>
                </a:path>
              </a:pathLst>
            </a:custGeom>
            <a:solidFill>
              <a:srgbClr val="1F4E79"/>
            </a:solidFill>
            <a:ln cap="sq">
              <a:noFill/>
              <a:prstDash val="solid"/>
              <a:miter/>
            </a:ln>
          </p:spPr>
        </p:sp>
        <p:sp>
          <p:nvSpPr>
            <p:cNvPr name="TextBox 8" id="8"/>
            <p:cNvSpPr txBox="true"/>
            <p:nvPr/>
          </p:nvSpPr>
          <p:spPr>
            <a:xfrm>
              <a:off x="0" y="-38100"/>
              <a:ext cx="3238500" cy="1752600"/>
            </a:xfrm>
            <a:prstGeom prst="rect">
              <a:avLst/>
            </a:prstGeom>
          </p:spPr>
          <p:txBody>
            <a:bodyPr anchor="ctr" rtlCol="false" tIns="50800" lIns="50800" bIns="50800" rIns="50800"/>
            <a:lstStyle/>
            <a:p>
              <a:pPr algn="ctr">
                <a:lnSpc>
                  <a:spcPts val="2520"/>
                </a:lnSpc>
              </a:pPr>
              <a:r>
                <a:rPr lang="en-US" sz="1800" b="true">
                  <a:solidFill>
                    <a:srgbClr val="FFFFFF"/>
                  </a:solidFill>
                  <a:latin typeface="Aptos Bold"/>
                  <a:ea typeface="Aptos Bold"/>
                  <a:cs typeface="Aptos Bold"/>
                  <a:sym typeface="Aptos Bold"/>
                </a:rPr>
                <a:t>Anonymous survey</a:t>
              </a:r>
            </a:p>
          </p:txBody>
        </p:sp>
      </p:grpSp>
      <p:sp>
        <p:nvSpPr>
          <p:cNvPr name="AutoShape 9" id="9"/>
          <p:cNvSpPr/>
          <p:nvPr/>
        </p:nvSpPr>
        <p:spPr>
          <a:xfrm>
            <a:off x="3095625" y="4457700"/>
            <a:ext cx="381000" cy="0"/>
          </a:xfrm>
          <a:prstGeom prst="line">
            <a:avLst/>
          </a:prstGeom>
          <a:ln cap="rnd" w="38100">
            <a:solidFill>
              <a:srgbClr val="999999"/>
            </a:solidFill>
            <a:prstDash val="solid"/>
            <a:headEnd type="none" len="sm" w="sm"/>
            <a:tailEnd type="none" len="sm" w="sm"/>
          </a:ln>
        </p:spPr>
      </p:sp>
      <p:grpSp>
        <p:nvGrpSpPr>
          <p:cNvPr name="Group 10" id="10"/>
          <p:cNvGrpSpPr/>
          <p:nvPr/>
        </p:nvGrpSpPr>
        <p:grpSpPr>
          <a:xfrm rot="0">
            <a:off x="3571875" y="3810000"/>
            <a:ext cx="2428875" cy="1285875"/>
            <a:chOff x="0" y="0"/>
            <a:chExt cx="3238500" cy="1714500"/>
          </a:xfrm>
        </p:grpSpPr>
        <p:sp>
          <p:nvSpPr>
            <p:cNvPr name="Freeform 11" id="11"/>
            <p:cNvSpPr/>
            <p:nvPr/>
          </p:nvSpPr>
          <p:spPr>
            <a:xfrm flipH="false" flipV="false" rot="0">
              <a:off x="0" y="0"/>
              <a:ext cx="3238500" cy="1714500"/>
            </a:xfrm>
            <a:custGeom>
              <a:avLst/>
              <a:gdLst/>
              <a:ahLst/>
              <a:cxnLst/>
              <a:rect r="r" b="b" t="t" l="l"/>
              <a:pathLst>
                <a:path h="1714500" w="3238500">
                  <a:moveTo>
                    <a:pt x="79686" y="0"/>
                  </a:moveTo>
                  <a:lnTo>
                    <a:pt x="3158814" y="0"/>
                  </a:lnTo>
                  <a:cubicBezTo>
                    <a:pt x="3179948" y="0"/>
                    <a:pt x="3200216" y="8395"/>
                    <a:pt x="3215160" y="23340"/>
                  </a:cubicBezTo>
                  <a:cubicBezTo>
                    <a:pt x="3230105" y="38284"/>
                    <a:pt x="3238500" y="58552"/>
                    <a:pt x="3238500" y="79686"/>
                  </a:cubicBezTo>
                  <a:lnTo>
                    <a:pt x="3238500" y="1634814"/>
                  </a:lnTo>
                  <a:cubicBezTo>
                    <a:pt x="3238500" y="1655948"/>
                    <a:pt x="3230105" y="1676216"/>
                    <a:pt x="3215160" y="1691160"/>
                  </a:cubicBezTo>
                  <a:cubicBezTo>
                    <a:pt x="3200216" y="1706105"/>
                    <a:pt x="3179948" y="1714500"/>
                    <a:pt x="3158814" y="1714500"/>
                  </a:cubicBezTo>
                  <a:lnTo>
                    <a:pt x="79686" y="1714500"/>
                  </a:lnTo>
                  <a:cubicBezTo>
                    <a:pt x="58552" y="1714500"/>
                    <a:pt x="38284" y="1706105"/>
                    <a:pt x="23340" y="1691160"/>
                  </a:cubicBezTo>
                  <a:cubicBezTo>
                    <a:pt x="8395" y="1676216"/>
                    <a:pt x="0" y="1655948"/>
                    <a:pt x="0" y="1634814"/>
                  </a:cubicBezTo>
                  <a:lnTo>
                    <a:pt x="0" y="79686"/>
                  </a:lnTo>
                  <a:cubicBezTo>
                    <a:pt x="0" y="58552"/>
                    <a:pt x="8395" y="38284"/>
                    <a:pt x="23340" y="23340"/>
                  </a:cubicBezTo>
                  <a:cubicBezTo>
                    <a:pt x="38284" y="8395"/>
                    <a:pt x="58552" y="0"/>
                    <a:pt x="79686" y="0"/>
                  </a:cubicBezTo>
                  <a:close/>
                </a:path>
              </a:pathLst>
            </a:custGeom>
            <a:solidFill>
              <a:srgbClr val="1F4E79"/>
            </a:solidFill>
            <a:ln cap="sq">
              <a:noFill/>
              <a:prstDash val="solid"/>
              <a:miter/>
            </a:ln>
          </p:spPr>
        </p:sp>
        <p:sp>
          <p:nvSpPr>
            <p:cNvPr name="TextBox 12" id="12"/>
            <p:cNvSpPr txBox="true"/>
            <p:nvPr/>
          </p:nvSpPr>
          <p:spPr>
            <a:xfrm>
              <a:off x="0" y="-38100"/>
              <a:ext cx="3238500" cy="1752600"/>
            </a:xfrm>
            <a:prstGeom prst="rect">
              <a:avLst/>
            </a:prstGeom>
          </p:spPr>
          <p:txBody>
            <a:bodyPr anchor="ctr" rtlCol="false" tIns="50800" lIns="50800" bIns="50800" rIns="50800"/>
            <a:lstStyle/>
            <a:p>
              <a:pPr algn="ctr">
                <a:lnSpc>
                  <a:spcPts val="2520"/>
                </a:lnSpc>
              </a:pPr>
              <a:r>
                <a:rPr lang="en-US" sz="1800" b="true">
                  <a:solidFill>
                    <a:srgbClr val="FFFFFF"/>
                  </a:solidFill>
                  <a:latin typeface="Aptos Bold"/>
                  <a:ea typeface="Aptos Bold"/>
                  <a:cs typeface="Aptos Bold"/>
                  <a:sym typeface="Aptos Bold"/>
                </a:rPr>
                <a:t>Target construction</a:t>
              </a:r>
            </a:p>
          </p:txBody>
        </p:sp>
      </p:grpSp>
      <p:sp>
        <p:nvSpPr>
          <p:cNvPr name="AutoShape 13" id="13"/>
          <p:cNvSpPr/>
          <p:nvPr/>
        </p:nvSpPr>
        <p:spPr>
          <a:xfrm>
            <a:off x="6000750" y="4457700"/>
            <a:ext cx="381000" cy="0"/>
          </a:xfrm>
          <a:prstGeom prst="line">
            <a:avLst/>
          </a:prstGeom>
          <a:ln cap="rnd" w="38100">
            <a:solidFill>
              <a:srgbClr val="999999"/>
            </a:solidFill>
            <a:prstDash val="solid"/>
            <a:headEnd type="none" len="sm" w="sm"/>
            <a:tailEnd type="none" len="sm" w="sm"/>
          </a:ln>
        </p:spPr>
      </p:sp>
      <p:grpSp>
        <p:nvGrpSpPr>
          <p:cNvPr name="Group 14" id="14"/>
          <p:cNvGrpSpPr/>
          <p:nvPr/>
        </p:nvGrpSpPr>
        <p:grpSpPr>
          <a:xfrm rot="0">
            <a:off x="6477000" y="3810000"/>
            <a:ext cx="2428875" cy="1285875"/>
            <a:chOff x="0" y="0"/>
            <a:chExt cx="3238500" cy="1714500"/>
          </a:xfrm>
        </p:grpSpPr>
        <p:sp>
          <p:nvSpPr>
            <p:cNvPr name="Freeform 15" id="15"/>
            <p:cNvSpPr/>
            <p:nvPr/>
          </p:nvSpPr>
          <p:spPr>
            <a:xfrm flipH="false" flipV="false" rot="0">
              <a:off x="0" y="0"/>
              <a:ext cx="3238500" cy="1714500"/>
            </a:xfrm>
            <a:custGeom>
              <a:avLst/>
              <a:gdLst/>
              <a:ahLst/>
              <a:cxnLst/>
              <a:rect r="r" b="b" t="t" l="l"/>
              <a:pathLst>
                <a:path h="1714500" w="3238500">
                  <a:moveTo>
                    <a:pt x="79686" y="0"/>
                  </a:moveTo>
                  <a:lnTo>
                    <a:pt x="3158814" y="0"/>
                  </a:lnTo>
                  <a:cubicBezTo>
                    <a:pt x="3179948" y="0"/>
                    <a:pt x="3200216" y="8395"/>
                    <a:pt x="3215160" y="23340"/>
                  </a:cubicBezTo>
                  <a:cubicBezTo>
                    <a:pt x="3230105" y="38284"/>
                    <a:pt x="3238500" y="58552"/>
                    <a:pt x="3238500" y="79686"/>
                  </a:cubicBezTo>
                  <a:lnTo>
                    <a:pt x="3238500" y="1634814"/>
                  </a:lnTo>
                  <a:cubicBezTo>
                    <a:pt x="3238500" y="1655948"/>
                    <a:pt x="3230105" y="1676216"/>
                    <a:pt x="3215160" y="1691160"/>
                  </a:cubicBezTo>
                  <a:cubicBezTo>
                    <a:pt x="3200216" y="1706105"/>
                    <a:pt x="3179948" y="1714500"/>
                    <a:pt x="3158814" y="1714500"/>
                  </a:cubicBezTo>
                  <a:lnTo>
                    <a:pt x="79686" y="1714500"/>
                  </a:lnTo>
                  <a:cubicBezTo>
                    <a:pt x="58552" y="1714500"/>
                    <a:pt x="38284" y="1706105"/>
                    <a:pt x="23340" y="1691160"/>
                  </a:cubicBezTo>
                  <a:cubicBezTo>
                    <a:pt x="8395" y="1676216"/>
                    <a:pt x="0" y="1655948"/>
                    <a:pt x="0" y="1634814"/>
                  </a:cubicBezTo>
                  <a:lnTo>
                    <a:pt x="0" y="79686"/>
                  </a:lnTo>
                  <a:cubicBezTo>
                    <a:pt x="0" y="58552"/>
                    <a:pt x="8395" y="38284"/>
                    <a:pt x="23340" y="23340"/>
                  </a:cubicBezTo>
                  <a:cubicBezTo>
                    <a:pt x="38284" y="8395"/>
                    <a:pt x="58552" y="0"/>
                    <a:pt x="79686" y="0"/>
                  </a:cubicBezTo>
                  <a:close/>
                </a:path>
              </a:pathLst>
            </a:custGeom>
            <a:solidFill>
              <a:srgbClr val="1F4E79"/>
            </a:solidFill>
            <a:ln cap="sq">
              <a:noFill/>
              <a:prstDash val="solid"/>
              <a:miter/>
            </a:ln>
          </p:spPr>
        </p:sp>
        <p:sp>
          <p:nvSpPr>
            <p:cNvPr name="TextBox 16" id="16"/>
            <p:cNvSpPr txBox="true"/>
            <p:nvPr/>
          </p:nvSpPr>
          <p:spPr>
            <a:xfrm>
              <a:off x="0" y="-38100"/>
              <a:ext cx="3238500" cy="1752600"/>
            </a:xfrm>
            <a:prstGeom prst="rect">
              <a:avLst/>
            </a:prstGeom>
          </p:spPr>
          <p:txBody>
            <a:bodyPr anchor="ctr" rtlCol="false" tIns="50800" lIns="50800" bIns="50800" rIns="50800"/>
            <a:lstStyle/>
            <a:p>
              <a:pPr algn="ctr">
                <a:lnSpc>
                  <a:spcPts val="2520"/>
                </a:lnSpc>
              </a:pPr>
              <a:r>
                <a:rPr lang="en-US" sz="1800" b="true">
                  <a:solidFill>
                    <a:srgbClr val="FFFFFF"/>
                  </a:solidFill>
                  <a:latin typeface="Aptos Bold"/>
                  <a:ea typeface="Aptos Bold"/>
                  <a:cs typeface="Aptos Bold"/>
                  <a:sym typeface="Aptos Bold"/>
                </a:rPr>
                <a:t>Train / test split</a:t>
              </a:r>
            </a:p>
          </p:txBody>
        </p:sp>
      </p:grpSp>
      <p:sp>
        <p:nvSpPr>
          <p:cNvPr name="AutoShape 17" id="17"/>
          <p:cNvSpPr/>
          <p:nvPr/>
        </p:nvSpPr>
        <p:spPr>
          <a:xfrm>
            <a:off x="8905875" y="4457700"/>
            <a:ext cx="381000" cy="0"/>
          </a:xfrm>
          <a:prstGeom prst="line">
            <a:avLst/>
          </a:prstGeom>
          <a:ln cap="rnd" w="38100">
            <a:solidFill>
              <a:srgbClr val="999999"/>
            </a:solidFill>
            <a:prstDash val="solid"/>
            <a:headEnd type="none" len="sm" w="sm"/>
            <a:tailEnd type="none" len="sm" w="sm"/>
          </a:ln>
        </p:spPr>
      </p:sp>
      <p:grpSp>
        <p:nvGrpSpPr>
          <p:cNvPr name="Group 18" id="18"/>
          <p:cNvGrpSpPr/>
          <p:nvPr/>
        </p:nvGrpSpPr>
        <p:grpSpPr>
          <a:xfrm rot="0">
            <a:off x="9382125" y="3810000"/>
            <a:ext cx="2428875" cy="1285875"/>
            <a:chOff x="0" y="0"/>
            <a:chExt cx="3238500" cy="1714500"/>
          </a:xfrm>
        </p:grpSpPr>
        <p:sp>
          <p:nvSpPr>
            <p:cNvPr name="Freeform 19" id="19"/>
            <p:cNvSpPr/>
            <p:nvPr/>
          </p:nvSpPr>
          <p:spPr>
            <a:xfrm flipH="false" flipV="false" rot="0">
              <a:off x="0" y="0"/>
              <a:ext cx="3238500" cy="1714500"/>
            </a:xfrm>
            <a:custGeom>
              <a:avLst/>
              <a:gdLst/>
              <a:ahLst/>
              <a:cxnLst/>
              <a:rect r="r" b="b" t="t" l="l"/>
              <a:pathLst>
                <a:path h="1714500" w="3238500">
                  <a:moveTo>
                    <a:pt x="79686" y="0"/>
                  </a:moveTo>
                  <a:lnTo>
                    <a:pt x="3158814" y="0"/>
                  </a:lnTo>
                  <a:cubicBezTo>
                    <a:pt x="3179948" y="0"/>
                    <a:pt x="3200216" y="8395"/>
                    <a:pt x="3215160" y="23340"/>
                  </a:cubicBezTo>
                  <a:cubicBezTo>
                    <a:pt x="3230105" y="38284"/>
                    <a:pt x="3238500" y="58552"/>
                    <a:pt x="3238500" y="79686"/>
                  </a:cubicBezTo>
                  <a:lnTo>
                    <a:pt x="3238500" y="1634814"/>
                  </a:lnTo>
                  <a:cubicBezTo>
                    <a:pt x="3238500" y="1655948"/>
                    <a:pt x="3230105" y="1676216"/>
                    <a:pt x="3215160" y="1691160"/>
                  </a:cubicBezTo>
                  <a:cubicBezTo>
                    <a:pt x="3200216" y="1706105"/>
                    <a:pt x="3179948" y="1714500"/>
                    <a:pt x="3158814" y="1714500"/>
                  </a:cubicBezTo>
                  <a:lnTo>
                    <a:pt x="79686" y="1714500"/>
                  </a:lnTo>
                  <a:cubicBezTo>
                    <a:pt x="58552" y="1714500"/>
                    <a:pt x="38284" y="1706105"/>
                    <a:pt x="23340" y="1691160"/>
                  </a:cubicBezTo>
                  <a:cubicBezTo>
                    <a:pt x="8395" y="1676216"/>
                    <a:pt x="0" y="1655948"/>
                    <a:pt x="0" y="1634814"/>
                  </a:cubicBezTo>
                  <a:lnTo>
                    <a:pt x="0" y="79686"/>
                  </a:lnTo>
                  <a:cubicBezTo>
                    <a:pt x="0" y="58552"/>
                    <a:pt x="8395" y="38284"/>
                    <a:pt x="23340" y="23340"/>
                  </a:cubicBezTo>
                  <a:cubicBezTo>
                    <a:pt x="38284" y="8395"/>
                    <a:pt x="58552" y="0"/>
                    <a:pt x="79686" y="0"/>
                  </a:cubicBezTo>
                  <a:close/>
                </a:path>
              </a:pathLst>
            </a:custGeom>
            <a:solidFill>
              <a:srgbClr val="1F4E79"/>
            </a:solidFill>
            <a:ln cap="sq">
              <a:noFill/>
              <a:prstDash val="solid"/>
              <a:miter/>
            </a:ln>
          </p:spPr>
        </p:sp>
        <p:sp>
          <p:nvSpPr>
            <p:cNvPr name="TextBox 20" id="20"/>
            <p:cNvSpPr txBox="true"/>
            <p:nvPr/>
          </p:nvSpPr>
          <p:spPr>
            <a:xfrm>
              <a:off x="0" y="-38100"/>
              <a:ext cx="3238500" cy="1752600"/>
            </a:xfrm>
            <a:prstGeom prst="rect">
              <a:avLst/>
            </a:prstGeom>
          </p:spPr>
          <p:txBody>
            <a:bodyPr anchor="ctr" rtlCol="false" tIns="50800" lIns="50800" bIns="50800" rIns="50800"/>
            <a:lstStyle/>
            <a:p>
              <a:pPr algn="ctr">
                <a:lnSpc>
                  <a:spcPts val="2520"/>
                </a:lnSpc>
              </a:pPr>
              <a:r>
                <a:rPr lang="en-US" sz="1800" b="true">
                  <a:solidFill>
                    <a:srgbClr val="FFFFFF"/>
                  </a:solidFill>
                  <a:latin typeface="Aptos Bold"/>
                  <a:ea typeface="Aptos Bold"/>
                  <a:cs typeface="Aptos Bold"/>
                  <a:sym typeface="Aptos Bold"/>
                </a:rPr>
                <a:t>Fit preprocessing on train</a:t>
              </a:r>
            </a:p>
          </p:txBody>
        </p:sp>
      </p:grpSp>
      <p:sp>
        <p:nvSpPr>
          <p:cNvPr name="AutoShape 21" id="21"/>
          <p:cNvSpPr/>
          <p:nvPr/>
        </p:nvSpPr>
        <p:spPr>
          <a:xfrm>
            <a:off x="11811000" y="4457700"/>
            <a:ext cx="381000" cy="0"/>
          </a:xfrm>
          <a:prstGeom prst="line">
            <a:avLst/>
          </a:prstGeom>
          <a:ln cap="rnd" w="38100">
            <a:solidFill>
              <a:srgbClr val="999999"/>
            </a:solidFill>
            <a:prstDash val="solid"/>
            <a:headEnd type="none" len="sm" w="sm"/>
            <a:tailEnd type="none" len="sm" w="sm"/>
          </a:ln>
        </p:spPr>
      </p:sp>
      <p:grpSp>
        <p:nvGrpSpPr>
          <p:cNvPr name="Group 22" id="22"/>
          <p:cNvGrpSpPr/>
          <p:nvPr/>
        </p:nvGrpSpPr>
        <p:grpSpPr>
          <a:xfrm rot="0">
            <a:off x="12287250" y="3810000"/>
            <a:ext cx="2428875" cy="1285875"/>
            <a:chOff x="0" y="0"/>
            <a:chExt cx="3238500" cy="1714500"/>
          </a:xfrm>
        </p:grpSpPr>
        <p:sp>
          <p:nvSpPr>
            <p:cNvPr name="Freeform 23" id="23"/>
            <p:cNvSpPr/>
            <p:nvPr/>
          </p:nvSpPr>
          <p:spPr>
            <a:xfrm flipH="false" flipV="false" rot="0">
              <a:off x="0" y="0"/>
              <a:ext cx="3238500" cy="1714500"/>
            </a:xfrm>
            <a:custGeom>
              <a:avLst/>
              <a:gdLst/>
              <a:ahLst/>
              <a:cxnLst/>
              <a:rect r="r" b="b" t="t" l="l"/>
              <a:pathLst>
                <a:path h="1714500" w="3238500">
                  <a:moveTo>
                    <a:pt x="79686" y="0"/>
                  </a:moveTo>
                  <a:lnTo>
                    <a:pt x="3158814" y="0"/>
                  </a:lnTo>
                  <a:cubicBezTo>
                    <a:pt x="3179948" y="0"/>
                    <a:pt x="3200216" y="8395"/>
                    <a:pt x="3215160" y="23340"/>
                  </a:cubicBezTo>
                  <a:cubicBezTo>
                    <a:pt x="3230105" y="38284"/>
                    <a:pt x="3238500" y="58552"/>
                    <a:pt x="3238500" y="79686"/>
                  </a:cubicBezTo>
                  <a:lnTo>
                    <a:pt x="3238500" y="1634814"/>
                  </a:lnTo>
                  <a:cubicBezTo>
                    <a:pt x="3238500" y="1655948"/>
                    <a:pt x="3230105" y="1676216"/>
                    <a:pt x="3215160" y="1691160"/>
                  </a:cubicBezTo>
                  <a:cubicBezTo>
                    <a:pt x="3200216" y="1706105"/>
                    <a:pt x="3179948" y="1714500"/>
                    <a:pt x="3158814" y="1714500"/>
                  </a:cubicBezTo>
                  <a:lnTo>
                    <a:pt x="79686" y="1714500"/>
                  </a:lnTo>
                  <a:cubicBezTo>
                    <a:pt x="58552" y="1714500"/>
                    <a:pt x="38284" y="1706105"/>
                    <a:pt x="23340" y="1691160"/>
                  </a:cubicBezTo>
                  <a:cubicBezTo>
                    <a:pt x="8395" y="1676216"/>
                    <a:pt x="0" y="1655948"/>
                    <a:pt x="0" y="1634814"/>
                  </a:cubicBezTo>
                  <a:lnTo>
                    <a:pt x="0" y="79686"/>
                  </a:lnTo>
                  <a:cubicBezTo>
                    <a:pt x="0" y="58552"/>
                    <a:pt x="8395" y="38284"/>
                    <a:pt x="23340" y="23340"/>
                  </a:cubicBezTo>
                  <a:cubicBezTo>
                    <a:pt x="38284" y="8395"/>
                    <a:pt x="58552" y="0"/>
                    <a:pt x="79686" y="0"/>
                  </a:cubicBezTo>
                  <a:close/>
                </a:path>
              </a:pathLst>
            </a:custGeom>
            <a:solidFill>
              <a:srgbClr val="1F4E79"/>
            </a:solidFill>
            <a:ln cap="sq">
              <a:noFill/>
              <a:prstDash val="solid"/>
              <a:miter/>
            </a:ln>
          </p:spPr>
        </p:sp>
        <p:sp>
          <p:nvSpPr>
            <p:cNvPr name="TextBox 24" id="24"/>
            <p:cNvSpPr txBox="true"/>
            <p:nvPr/>
          </p:nvSpPr>
          <p:spPr>
            <a:xfrm>
              <a:off x="0" y="-38100"/>
              <a:ext cx="3238500" cy="1752600"/>
            </a:xfrm>
            <a:prstGeom prst="rect">
              <a:avLst/>
            </a:prstGeom>
          </p:spPr>
          <p:txBody>
            <a:bodyPr anchor="ctr" rtlCol="false" tIns="50800" lIns="50800" bIns="50800" rIns="50800"/>
            <a:lstStyle/>
            <a:p>
              <a:pPr algn="ctr">
                <a:lnSpc>
                  <a:spcPts val="2520"/>
                </a:lnSpc>
              </a:pPr>
              <a:r>
                <a:rPr lang="en-US" sz="1800" b="true">
                  <a:solidFill>
                    <a:srgbClr val="FFFFFF"/>
                  </a:solidFill>
                  <a:latin typeface="Aptos Bold"/>
                  <a:ea typeface="Aptos Bold"/>
                  <a:cs typeface="Aptos Bold"/>
                  <a:sym typeface="Aptos Bold"/>
                </a:rPr>
                <a:t>Model fitting</a:t>
              </a:r>
            </a:p>
          </p:txBody>
        </p:sp>
      </p:grpSp>
      <p:sp>
        <p:nvSpPr>
          <p:cNvPr name="AutoShape 25" id="25"/>
          <p:cNvSpPr/>
          <p:nvPr/>
        </p:nvSpPr>
        <p:spPr>
          <a:xfrm>
            <a:off x="14716125" y="4457700"/>
            <a:ext cx="381000" cy="0"/>
          </a:xfrm>
          <a:prstGeom prst="line">
            <a:avLst/>
          </a:prstGeom>
          <a:ln cap="rnd" w="38100">
            <a:solidFill>
              <a:srgbClr val="999999"/>
            </a:solidFill>
            <a:prstDash val="solid"/>
            <a:headEnd type="none" len="sm" w="sm"/>
            <a:tailEnd type="none" len="sm" w="sm"/>
          </a:ln>
        </p:spPr>
      </p:sp>
      <p:grpSp>
        <p:nvGrpSpPr>
          <p:cNvPr name="Group 26" id="26"/>
          <p:cNvGrpSpPr/>
          <p:nvPr/>
        </p:nvGrpSpPr>
        <p:grpSpPr>
          <a:xfrm rot="0">
            <a:off x="15192375" y="3810000"/>
            <a:ext cx="2428875" cy="1285875"/>
            <a:chOff x="0" y="0"/>
            <a:chExt cx="3238500" cy="1714500"/>
          </a:xfrm>
        </p:grpSpPr>
        <p:sp>
          <p:nvSpPr>
            <p:cNvPr name="Freeform 27" id="27"/>
            <p:cNvSpPr/>
            <p:nvPr/>
          </p:nvSpPr>
          <p:spPr>
            <a:xfrm flipH="false" flipV="false" rot="0">
              <a:off x="0" y="0"/>
              <a:ext cx="3238500" cy="1714500"/>
            </a:xfrm>
            <a:custGeom>
              <a:avLst/>
              <a:gdLst/>
              <a:ahLst/>
              <a:cxnLst/>
              <a:rect r="r" b="b" t="t" l="l"/>
              <a:pathLst>
                <a:path h="1714500" w="3238500">
                  <a:moveTo>
                    <a:pt x="79686" y="0"/>
                  </a:moveTo>
                  <a:lnTo>
                    <a:pt x="3158814" y="0"/>
                  </a:lnTo>
                  <a:cubicBezTo>
                    <a:pt x="3179948" y="0"/>
                    <a:pt x="3200216" y="8395"/>
                    <a:pt x="3215160" y="23340"/>
                  </a:cubicBezTo>
                  <a:cubicBezTo>
                    <a:pt x="3230105" y="38284"/>
                    <a:pt x="3238500" y="58552"/>
                    <a:pt x="3238500" y="79686"/>
                  </a:cubicBezTo>
                  <a:lnTo>
                    <a:pt x="3238500" y="1634814"/>
                  </a:lnTo>
                  <a:cubicBezTo>
                    <a:pt x="3238500" y="1655948"/>
                    <a:pt x="3230105" y="1676216"/>
                    <a:pt x="3215160" y="1691160"/>
                  </a:cubicBezTo>
                  <a:cubicBezTo>
                    <a:pt x="3200216" y="1706105"/>
                    <a:pt x="3179948" y="1714500"/>
                    <a:pt x="3158814" y="1714500"/>
                  </a:cubicBezTo>
                  <a:lnTo>
                    <a:pt x="79686" y="1714500"/>
                  </a:lnTo>
                  <a:cubicBezTo>
                    <a:pt x="58552" y="1714500"/>
                    <a:pt x="38284" y="1706105"/>
                    <a:pt x="23340" y="1691160"/>
                  </a:cubicBezTo>
                  <a:cubicBezTo>
                    <a:pt x="8395" y="1676216"/>
                    <a:pt x="0" y="1655948"/>
                    <a:pt x="0" y="1634814"/>
                  </a:cubicBezTo>
                  <a:lnTo>
                    <a:pt x="0" y="79686"/>
                  </a:lnTo>
                  <a:cubicBezTo>
                    <a:pt x="0" y="58552"/>
                    <a:pt x="8395" y="38284"/>
                    <a:pt x="23340" y="23340"/>
                  </a:cubicBezTo>
                  <a:cubicBezTo>
                    <a:pt x="38284" y="8395"/>
                    <a:pt x="58552" y="0"/>
                    <a:pt x="79686" y="0"/>
                  </a:cubicBezTo>
                  <a:close/>
                </a:path>
              </a:pathLst>
            </a:custGeom>
            <a:solidFill>
              <a:srgbClr val="2E7D32"/>
            </a:solidFill>
            <a:ln cap="sq">
              <a:noFill/>
              <a:prstDash val="solid"/>
              <a:miter/>
            </a:ln>
          </p:spPr>
        </p:sp>
        <p:sp>
          <p:nvSpPr>
            <p:cNvPr name="TextBox 28" id="28"/>
            <p:cNvSpPr txBox="true"/>
            <p:nvPr/>
          </p:nvSpPr>
          <p:spPr>
            <a:xfrm>
              <a:off x="0" y="-38100"/>
              <a:ext cx="3238500" cy="1752600"/>
            </a:xfrm>
            <a:prstGeom prst="rect">
              <a:avLst/>
            </a:prstGeom>
          </p:spPr>
          <p:txBody>
            <a:bodyPr anchor="ctr" rtlCol="false" tIns="50800" lIns="50800" bIns="50800" rIns="50800"/>
            <a:lstStyle/>
            <a:p>
              <a:pPr algn="ctr">
                <a:lnSpc>
                  <a:spcPts val="2520"/>
                </a:lnSpc>
              </a:pPr>
              <a:r>
                <a:rPr lang="en-US" sz="1800" b="true">
                  <a:solidFill>
                    <a:srgbClr val="FFFFFF"/>
                  </a:solidFill>
                  <a:latin typeface="Aptos Bold"/>
                  <a:ea typeface="Aptos Bold"/>
                  <a:cs typeface="Aptos Bold"/>
                  <a:sym typeface="Aptos Bold"/>
                </a:rPr>
                <a:t>Held-out evaluation</a:t>
              </a:r>
            </a:p>
          </p:txBody>
        </p:sp>
      </p:grpSp>
      <p:sp>
        <p:nvSpPr>
          <p:cNvPr name="TextBox 29" id="29"/>
          <p:cNvSpPr txBox="true"/>
          <p:nvPr/>
        </p:nvSpPr>
        <p:spPr>
          <a:xfrm rot="0">
            <a:off x="3048000" y="6496050"/>
            <a:ext cx="12192000" cy="460057"/>
          </a:xfrm>
          <a:prstGeom prst="rect">
            <a:avLst/>
          </a:prstGeom>
        </p:spPr>
        <p:txBody>
          <a:bodyPr anchor="t" rtlCol="false" tIns="0" lIns="0" bIns="0" rIns="0">
            <a:spAutoFit/>
          </a:bodyPr>
          <a:lstStyle/>
          <a:p>
            <a:pPr algn="ctr">
              <a:lnSpc>
                <a:spcPts val="3307"/>
              </a:lnSpc>
            </a:pPr>
            <a:r>
              <a:rPr lang="en-US" sz="3150" b="true">
                <a:solidFill>
                  <a:srgbClr val="2E7D32"/>
                </a:solidFill>
                <a:latin typeface="Arimo Bold"/>
                <a:ea typeface="Arimo Bold"/>
                <a:cs typeface="Arimo Bold"/>
                <a:sym typeface="Arimo Bold"/>
              </a:rPr>
              <a:t>The test set never informs feature preparation or model fitting.</a:t>
            </a:r>
          </a:p>
        </p:txBody>
      </p:sp>
      <p:sp>
        <p:nvSpPr>
          <p:cNvPr name="TextBox 30" id="30"/>
          <p:cNvSpPr txBox="true"/>
          <p:nvPr/>
        </p:nvSpPr>
        <p:spPr>
          <a:xfrm rot="0">
            <a:off x="914400" y="9734550"/>
            <a:ext cx="13811250" cy="232410"/>
          </a:xfrm>
          <a:prstGeom prst="rect">
            <a:avLst/>
          </a:prstGeom>
        </p:spPr>
        <p:txBody>
          <a:bodyPr anchor="t" rtlCol="false" tIns="0" lIns="0" bIns="0" rIns="0">
            <a:spAutoFit/>
          </a:bodyPr>
          <a:lstStyle/>
          <a:p>
            <a:pPr algn="l">
              <a:lnSpc>
                <a:spcPts val="1889"/>
              </a:lnSpc>
            </a:pPr>
            <a:r>
              <a:rPr lang="en-US" sz="1350" spc="108" b="true">
                <a:solidFill>
                  <a:srgbClr val="1F4E79"/>
                </a:solidFill>
                <a:latin typeface="Aptos Bold"/>
                <a:ea typeface="Aptos Bold"/>
                <a:cs typeface="Aptos Bold"/>
                <a:sym typeface="Aptos Bold"/>
              </a:rPr>
              <a:t>BCA FINAL-YEAR DEFENSE  •  XAVIER INTERNATIONAL COLLEGE</a:t>
            </a:r>
          </a:p>
        </p:txBody>
      </p:sp>
      <p:sp>
        <p:nvSpPr>
          <p:cNvPr name="TextBox 31" id="31"/>
          <p:cNvSpPr txBox="true"/>
          <p:nvPr/>
        </p:nvSpPr>
        <p:spPr>
          <a:xfrm rot="0">
            <a:off x="16478250" y="9734550"/>
            <a:ext cx="857250" cy="232410"/>
          </a:xfrm>
          <a:prstGeom prst="rect">
            <a:avLst/>
          </a:prstGeom>
        </p:spPr>
        <p:txBody>
          <a:bodyPr anchor="t" rtlCol="false" tIns="0" lIns="0" bIns="0" rIns="0">
            <a:spAutoFit/>
          </a:bodyPr>
          <a:lstStyle/>
          <a:p>
            <a:pPr algn="r">
              <a:lnSpc>
                <a:spcPts val="1889"/>
              </a:lnSpc>
            </a:pPr>
            <a:r>
              <a:rPr lang="en-US" b="true" sz="1350" spc="108">
                <a:solidFill>
                  <a:srgbClr val="1F4E79"/>
                </a:solidFill>
                <a:latin typeface="Aptos Bold"/>
                <a:ea typeface="Aptos Bold"/>
                <a:cs typeface="Aptos Bold"/>
                <a:sym typeface="Aptos Bold"/>
              </a:rPr>
              <a:t>08</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14400" y="393382"/>
            <a:ext cx="16459200" cy="816293"/>
            <a:chOff x="0" y="0"/>
            <a:chExt cx="21945600" cy="1088390"/>
          </a:xfrm>
        </p:grpSpPr>
        <p:sp>
          <p:nvSpPr>
            <p:cNvPr name="TextBox 3" id="3"/>
            <p:cNvSpPr txBox="true"/>
            <p:nvPr/>
          </p:nvSpPr>
          <p:spPr>
            <a:xfrm rot="0">
              <a:off x="0" y="38100"/>
              <a:ext cx="1016000" cy="363220"/>
            </a:xfrm>
            <a:prstGeom prst="rect">
              <a:avLst/>
            </a:prstGeom>
          </p:spPr>
          <p:txBody>
            <a:bodyPr anchor="t" rtlCol="false" tIns="0" lIns="0" bIns="0" rIns="0">
              <a:spAutoFit/>
            </a:bodyPr>
            <a:lstStyle/>
            <a:p>
              <a:pPr algn="l">
                <a:lnSpc>
                  <a:spcPts val="2310"/>
                </a:lnSpc>
              </a:pPr>
              <a:r>
                <a:rPr lang="en-US" sz="1650" spc="132" b="true">
                  <a:solidFill>
                    <a:srgbClr val="1F4E79"/>
                  </a:solidFill>
                  <a:latin typeface="Aptos Bold"/>
                  <a:ea typeface="Aptos Bold"/>
                  <a:cs typeface="Aptos Bold"/>
                  <a:sym typeface="Aptos Bold"/>
                </a:rPr>
                <a:t>07</a:t>
              </a:r>
            </a:p>
          </p:txBody>
        </p:sp>
        <p:sp>
          <p:nvSpPr>
            <p:cNvPr name="TextBox 4" id="4"/>
            <p:cNvSpPr txBox="true"/>
            <p:nvPr/>
          </p:nvSpPr>
          <p:spPr>
            <a:xfrm rot="0">
              <a:off x="1066800" y="28575"/>
              <a:ext cx="19050000" cy="668655"/>
            </a:xfrm>
            <a:prstGeom prst="rect">
              <a:avLst/>
            </a:prstGeom>
          </p:spPr>
          <p:txBody>
            <a:bodyPr anchor="t" rtlCol="false" tIns="0" lIns="0" bIns="0" rIns="0">
              <a:spAutoFit/>
            </a:bodyPr>
            <a:lstStyle/>
            <a:p>
              <a:pPr algn="l">
                <a:lnSpc>
                  <a:spcPts val="3622"/>
                </a:lnSpc>
              </a:pPr>
              <a:r>
                <a:rPr lang="en-US" sz="3450" b="true">
                  <a:solidFill>
                    <a:srgbClr val="1F4E79"/>
                  </a:solidFill>
                  <a:latin typeface="Arimo Bold"/>
                  <a:ea typeface="Arimo Bold"/>
                  <a:cs typeface="Arimo Bold"/>
                  <a:sym typeface="Arimo Bold"/>
                </a:rPr>
                <a:t>Models Compared</a:t>
              </a:r>
            </a:p>
          </p:txBody>
        </p:sp>
        <p:sp>
          <p:nvSpPr>
            <p:cNvPr name="AutoShape 5" id="5"/>
            <p:cNvSpPr/>
            <p:nvPr/>
          </p:nvSpPr>
          <p:spPr>
            <a:xfrm>
              <a:off x="0" y="1075690"/>
              <a:ext cx="21945600" cy="0"/>
            </a:xfrm>
            <a:prstGeom prst="line">
              <a:avLst/>
            </a:prstGeom>
            <a:ln cap="flat" w="25400">
              <a:solidFill>
                <a:srgbClr val="D9E1E8"/>
              </a:solidFill>
              <a:prstDash val="solid"/>
              <a:headEnd type="none" len="sm" w="sm"/>
              <a:tailEnd type="none" len="sm" w="sm"/>
            </a:ln>
          </p:spPr>
        </p:sp>
      </p:grpSp>
      <p:grpSp>
        <p:nvGrpSpPr>
          <p:cNvPr name="Group 6" id="6"/>
          <p:cNvGrpSpPr/>
          <p:nvPr/>
        </p:nvGrpSpPr>
        <p:grpSpPr>
          <a:xfrm rot="0">
            <a:off x="914400" y="2095500"/>
            <a:ext cx="3429000" cy="2000250"/>
            <a:chOff x="0" y="0"/>
            <a:chExt cx="4572000" cy="2667000"/>
          </a:xfrm>
        </p:grpSpPr>
        <p:sp>
          <p:nvSpPr>
            <p:cNvPr name="Freeform 7" id="7"/>
            <p:cNvSpPr/>
            <p:nvPr/>
          </p:nvSpPr>
          <p:spPr>
            <a:xfrm flipH="false" flipV="false" rot="0">
              <a:off x="0" y="0"/>
              <a:ext cx="4572000" cy="2667000"/>
            </a:xfrm>
            <a:custGeom>
              <a:avLst/>
              <a:gdLst/>
              <a:ahLst/>
              <a:cxnLst/>
              <a:rect r="r" b="b" t="t" l="l"/>
              <a:pathLst>
                <a:path h="2667000" w="4572000">
                  <a:moveTo>
                    <a:pt x="0" y="0"/>
                  </a:moveTo>
                  <a:lnTo>
                    <a:pt x="4572000" y="0"/>
                  </a:lnTo>
                  <a:lnTo>
                    <a:pt x="4572000" y="2667000"/>
                  </a:lnTo>
                  <a:lnTo>
                    <a:pt x="0" y="2667000"/>
                  </a:lnTo>
                  <a:close/>
                </a:path>
              </a:pathLst>
            </a:custGeom>
            <a:solidFill>
              <a:srgbClr val="EEF3F7"/>
            </a:solidFill>
            <a:ln cap="sq">
              <a:noFill/>
              <a:prstDash val="solid"/>
              <a:miter/>
            </a:ln>
          </p:spPr>
        </p:sp>
        <p:sp>
          <p:nvSpPr>
            <p:cNvPr name="TextBox 8" id="8"/>
            <p:cNvSpPr txBox="true"/>
            <p:nvPr/>
          </p:nvSpPr>
          <p:spPr>
            <a:xfrm>
              <a:off x="0" y="-38100"/>
              <a:ext cx="4572000" cy="2705100"/>
            </a:xfrm>
            <a:prstGeom prst="rect">
              <a:avLst/>
            </a:prstGeom>
          </p:spPr>
          <p:txBody>
            <a:bodyPr anchor="ctr" rtlCol="false" tIns="50800" lIns="50800" bIns="50800" rIns="50800"/>
            <a:lstStyle/>
            <a:p>
              <a:pPr algn="l">
                <a:lnSpc>
                  <a:spcPts val="1679"/>
                </a:lnSpc>
              </a:pPr>
            </a:p>
          </p:txBody>
        </p:sp>
      </p:grpSp>
      <p:grpSp>
        <p:nvGrpSpPr>
          <p:cNvPr name="Group 9" id="9"/>
          <p:cNvGrpSpPr/>
          <p:nvPr/>
        </p:nvGrpSpPr>
        <p:grpSpPr>
          <a:xfrm rot="0">
            <a:off x="5010150" y="2095500"/>
            <a:ext cx="3429000" cy="2000250"/>
            <a:chOff x="0" y="0"/>
            <a:chExt cx="4572000" cy="2667000"/>
          </a:xfrm>
        </p:grpSpPr>
        <p:sp>
          <p:nvSpPr>
            <p:cNvPr name="Freeform 10" id="10"/>
            <p:cNvSpPr/>
            <p:nvPr/>
          </p:nvSpPr>
          <p:spPr>
            <a:xfrm flipH="false" flipV="false" rot="0">
              <a:off x="0" y="0"/>
              <a:ext cx="4572000" cy="2667000"/>
            </a:xfrm>
            <a:custGeom>
              <a:avLst/>
              <a:gdLst/>
              <a:ahLst/>
              <a:cxnLst/>
              <a:rect r="r" b="b" t="t" l="l"/>
              <a:pathLst>
                <a:path h="2667000" w="4572000">
                  <a:moveTo>
                    <a:pt x="0" y="0"/>
                  </a:moveTo>
                  <a:lnTo>
                    <a:pt x="4572000" y="0"/>
                  </a:lnTo>
                  <a:lnTo>
                    <a:pt x="4572000" y="2667000"/>
                  </a:lnTo>
                  <a:lnTo>
                    <a:pt x="0" y="2667000"/>
                  </a:lnTo>
                  <a:close/>
                </a:path>
              </a:pathLst>
            </a:custGeom>
            <a:solidFill>
              <a:srgbClr val="EEF3F7"/>
            </a:solidFill>
            <a:ln cap="sq">
              <a:noFill/>
              <a:prstDash val="solid"/>
              <a:miter/>
            </a:ln>
          </p:spPr>
        </p:sp>
        <p:sp>
          <p:nvSpPr>
            <p:cNvPr name="TextBox 11" id="11"/>
            <p:cNvSpPr txBox="true"/>
            <p:nvPr/>
          </p:nvSpPr>
          <p:spPr>
            <a:xfrm>
              <a:off x="0" y="-38100"/>
              <a:ext cx="4572000" cy="2705100"/>
            </a:xfrm>
            <a:prstGeom prst="rect">
              <a:avLst/>
            </a:prstGeom>
          </p:spPr>
          <p:txBody>
            <a:bodyPr anchor="ctr" rtlCol="false" tIns="50800" lIns="50800" bIns="50800" rIns="50800"/>
            <a:lstStyle/>
            <a:p>
              <a:pPr algn="l">
                <a:lnSpc>
                  <a:spcPts val="1679"/>
                </a:lnSpc>
              </a:pPr>
            </a:p>
          </p:txBody>
        </p:sp>
      </p:grpSp>
      <p:grpSp>
        <p:nvGrpSpPr>
          <p:cNvPr name="Group 12" id="12"/>
          <p:cNvGrpSpPr/>
          <p:nvPr/>
        </p:nvGrpSpPr>
        <p:grpSpPr>
          <a:xfrm rot="0">
            <a:off x="9105900" y="2095500"/>
            <a:ext cx="3429000" cy="2000250"/>
            <a:chOff x="0" y="0"/>
            <a:chExt cx="4572000" cy="2667000"/>
          </a:xfrm>
        </p:grpSpPr>
        <p:sp>
          <p:nvSpPr>
            <p:cNvPr name="Freeform 13" id="13"/>
            <p:cNvSpPr/>
            <p:nvPr/>
          </p:nvSpPr>
          <p:spPr>
            <a:xfrm flipH="false" flipV="false" rot="0">
              <a:off x="0" y="0"/>
              <a:ext cx="4572000" cy="2667000"/>
            </a:xfrm>
            <a:custGeom>
              <a:avLst/>
              <a:gdLst/>
              <a:ahLst/>
              <a:cxnLst/>
              <a:rect r="r" b="b" t="t" l="l"/>
              <a:pathLst>
                <a:path h="2667000" w="4572000">
                  <a:moveTo>
                    <a:pt x="0" y="0"/>
                  </a:moveTo>
                  <a:lnTo>
                    <a:pt x="4572000" y="0"/>
                  </a:lnTo>
                  <a:lnTo>
                    <a:pt x="4572000" y="2667000"/>
                  </a:lnTo>
                  <a:lnTo>
                    <a:pt x="0" y="2667000"/>
                  </a:lnTo>
                  <a:close/>
                </a:path>
              </a:pathLst>
            </a:custGeom>
            <a:solidFill>
              <a:srgbClr val="EEF3F7"/>
            </a:solidFill>
            <a:ln cap="sq">
              <a:noFill/>
              <a:prstDash val="solid"/>
              <a:miter/>
            </a:ln>
          </p:spPr>
        </p:sp>
        <p:sp>
          <p:nvSpPr>
            <p:cNvPr name="TextBox 14" id="14"/>
            <p:cNvSpPr txBox="true"/>
            <p:nvPr/>
          </p:nvSpPr>
          <p:spPr>
            <a:xfrm>
              <a:off x="0" y="-38100"/>
              <a:ext cx="4572000" cy="2705100"/>
            </a:xfrm>
            <a:prstGeom prst="rect">
              <a:avLst/>
            </a:prstGeom>
          </p:spPr>
          <p:txBody>
            <a:bodyPr anchor="ctr" rtlCol="false" tIns="50800" lIns="50800" bIns="50800" rIns="50800"/>
            <a:lstStyle/>
            <a:p>
              <a:pPr algn="l">
                <a:lnSpc>
                  <a:spcPts val="1679"/>
                </a:lnSpc>
              </a:pPr>
            </a:p>
          </p:txBody>
        </p:sp>
      </p:grpSp>
      <p:grpSp>
        <p:nvGrpSpPr>
          <p:cNvPr name="Group 15" id="15"/>
          <p:cNvGrpSpPr/>
          <p:nvPr/>
        </p:nvGrpSpPr>
        <p:grpSpPr>
          <a:xfrm rot="0">
            <a:off x="13201650" y="2095500"/>
            <a:ext cx="3429000" cy="2000250"/>
            <a:chOff x="0" y="0"/>
            <a:chExt cx="4572000" cy="2667000"/>
          </a:xfrm>
        </p:grpSpPr>
        <p:sp>
          <p:nvSpPr>
            <p:cNvPr name="Freeform 16" id="16"/>
            <p:cNvSpPr/>
            <p:nvPr/>
          </p:nvSpPr>
          <p:spPr>
            <a:xfrm flipH="false" flipV="false" rot="0">
              <a:off x="0" y="0"/>
              <a:ext cx="4572000" cy="2667000"/>
            </a:xfrm>
            <a:custGeom>
              <a:avLst/>
              <a:gdLst/>
              <a:ahLst/>
              <a:cxnLst/>
              <a:rect r="r" b="b" t="t" l="l"/>
              <a:pathLst>
                <a:path h="2667000" w="4572000">
                  <a:moveTo>
                    <a:pt x="0" y="0"/>
                  </a:moveTo>
                  <a:lnTo>
                    <a:pt x="4572000" y="0"/>
                  </a:lnTo>
                  <a:lnTo>
                    <a:pt x="4572000" y="2667000"/>
                  </a:lnTo>
                  <a:lnTo>
                    <a:pt x="0" y="2667000"/>
                  </a:lnTo>
                  <a:close/>
                </a:path>
              </a:pathLst>
            </a:custGeom>
            <a:solidFill>
              <a:srgbClr val="EDF6EE"/>
            </a:solidFill>
            <a:ln cap="sq">
              <a:noFill/>
              <a:prstDash val="solid"/>
              <a:miter/>
            </a:ln>
          </p:spPr>
        </p:sp>
        <p:sp>
          <p:nvSpPr>
            <p:cNvPr name="TextBox 17" id="17"/>
            <p:cNvSpPr txBox="true"/>
            <p:nvPr/>
          </p:nvSpPr>
          <p:spPr>
            <a:xfrm>
              <a:off x="0" y="-38100"/>
              <a:ext cx="4572000" cy="2705100"/>
            </a:xfrm>
            <a:prstGeom prst="rect">
              <a:avLst/>
            </a:prstGeom>
          </p:spPr>
          <p:txBody>
            <a:bodyPr anchor="ctr" rtlCol="false" tIns="50800" lIns="50800" bIns="50800" rIns="50800"/>
            <a:lstStyle/>
            <a:p>
              <a:pPr algn="l">
                <a:lnSpc>
                  <a:spcPts val="1679"/>
                </a:lnSpc>
              </a:pPr>
            </a:p>
          </p:txBody>
        </p:sp>
      </p:grpSp>
      <p:grpSp>
        <p:nvGrpSpPr>
          <p:cNvPr name="Group 18" id="18"/>
          <p:cNvGrpSpPr/>
          <p:nvPr/>
        </p:nvGrpSpPr>
        <p:grpSpPr>
          <a:xfrm rot="0">
            <a:off x="914400" y="4953000"/>
            <a:ext cx="3429000" cy="2000250"/>
            <a:chOff x="0" y="0"/>
            <a:chExt cx="4572000" cy="2667000"/>
          </a:xfrm>
        </p:grpSpPr>
        <p:sp>
          <p:nvSpPr>
            <p:cNvPr name="Freeform 19" id="19"/>
            <p:cNvSpPr/>
            <p:nvPr/>
          </p:nvSpPr>
          <p:spPr>
            <a:xfrm flipH="false" flipV="false" rot="0">
              <a:off x="0" y="0"/>
              <a:ext cx="4572000" cy="2667000"/>
            </a:xfrm>
            <a:custGeom>
              <a:avLst/>
              <a:gdLst/>
              <a:ahLst/>
              <a:cxnLst/>
              <a:rect r="r" b="b" t="t" l="l"/>
              <a:pathLst>
                <a:path h="2667000" w="4572000">
                  <a:moveTo>
                    <a:pt x="0" y="0"/>
                  </a:moveTo>
                  <a:lnTo>
                    <a:pt x="4572000" y="0"/>
                  </a:lnTo>
                  <a:lnTo>
                    <a:pt x="4572000" y="2667000"/>
                  </a:lnTo>
                  <a:lnTo>
                    <a:pt x="0" y="2667000"/>
                  </a:lnTo>
                  <a:close/>
                </a:path>
              </a:pathLst>
            </a:custGeom>
            <a:solidFill>
              <a:srgbClr val="EEF3F7"/>
            </a:solidFill>
            <a:ln cap="sq">
              <a:noFill/>
              <a:prstDash val="solid"/>
              <a:miter/>
            </a:ln>
          </p:spPr>
        </p:sp>
        <p:sp>
          <p:nvSpPr>
            <p:cNvPr name="TextBox 20" id="20"/>
            <p:cNvSpPr txBox="true"/>
            <p:nvPr/>
          </p:nvSpPr>
          <p:spPr>
            <a:xfrm>
              <a:off x="0" y="-38100"/>
              <a:ext cx="4572000" cy="2705100"/>
            </a:xfrm>
            <a:prstGeom prst="rect">
              <a:avLst/>
            </a:prstGeom>
          </p:spPr>
          <p:txBody>
            <a:bodyPr anchor="ctr" rtlCol="false" tIns="50800" lIns="50800" bIns="50800" rIns="50800"/>
            <a:lstStyle/>
            <a:p>
              <a:pPr algn="l">
                <a:lnSpc>
                  <a:spcPts val="1679"/>
                </a:lnSpc>
              </a:pPr>
            </a:p>
          </p:txBody>
        </p:sp>
      </p:grpSp>
      <p:grpSp>
        <p:nvGrpSpPr>
          <p:cNvPr name="Group 21" id="21"/>
          <p:cNvGrpSpPr/>
          <p:nvPr/>
        </p:nvGrpSpPr>
        <p:grpSpPr>
          <a:xfrm rot="0">
            <a:off x="5010150" y="4953000"/>
            <a:ext cx="3429000" cy="2000250"/>
            <a:chOff x="0" y="0"/>
            <a:chExt cx="4572000" cy="2667000"/>
          </a:xfrm>
        </p:grpSpPr>
        <p:sp>
          <p:nvSpPr>
            <p:cNvPr name="Freeform 22" id="22"/>
            <p:cNvSpPr/>
            <p:nvPr/>
          </p:nvSpPr>
          <p:spPr>
            <a:xfrm flipH="false" flipV="false" rot="0">
              <a:off x="0" y="0"/>
              <a:ext cx="4572000" cy="2667000"/>
            </a:xfrm>
            <a:custGeom>
              <a:avLst/>
              <a:gdLst/>
              <a:ahLst/>
              <a:cxnLst/>
              <a:rect r="r" b="b" t="t" l="l"/>
              <a:pathLst>
                <a:path h="2667000" w="4572000">
                  <a:moveTo>
                    <a:pt x="0" y="0"/>
                  </a:moveTo>
                  <a:lnTo>
                    <a:pt x="4572000" y="0"/>
                  </a:lnTo>
                  <a:lnTo>
                    <a:pt x="4572000" y="2667000"/>
                  </a:lnTo>
                  <a:lnTo>
                    <a:pt x="0" y="2667000"/>
                  </a:lnTo>
                  <a:close/>
                </a:path>
              </a:pathLst>
            </a:custGeom>
            <a:solidFill>
              <a:srgbClr val="EEF3F7"/>
            </a:solidFill>
            <a:ln cap="sq">
              <a:noFill/>
              <a:prstDash val="solid"/>
              <a:miter/>
            </a:ln>
          </p:spPr>
        </p:sp>
        <p:sp>
          <p:nvSpPr>
            <p:cNvPr name="TextBox 23" id="23"/>
            <p:cNvSpPr txBox="true"/>
            <p:nvPr/>
          </p:nvSpPr>
          <p:spPr>
            <a:xfrm>
              <a:off x="0" y="-38100"/>
              <a:ext cx="4572000" cy="2705100"/>
            </a:xfrm>
            <a:prstGeom prst="rect">
              <a:avLst/>
            </a:prstGeom>
          </p:spPr>
          <p:txBody>
            <a:bodyPr anchor="ctr" rtlCol="false" tIns="50800" lIns="50800" bIns="50800" rIns="50800"/>
            <a:lstStyle/>
            <a:p>
              <a:pPr algn="l">
                <a:lnSpc>
                  <a:spcPts val="1679"/>
                </a:lnSpc>
              </a:pPr>
            </a:p>
          </p:txBody>
        </p:sp>
      </p:grpSp>
      <p:grpSp>
        <p:nvGrpSpPr>
          <p:cNvPr name="Group 24" id="24"/>
          <p:cNvGrpSpPr/>
          <p:nvPr/>
        </p:nvGrpSpPr>
        <p:grpSpPr>
          <a:xfrm rot="0">
            <a:off x="9105900" y="4953000"/>
            <a:ext cx="3429000" cy="2000250"/>
            <a:chOff x="0" y="0"/>
            <a:chExt cx="4572000" cy="2667000"/>
          </a:xfrm>
        </p:grpSpPr>
        <p:sp>
          <p:nvSpPr>
            <p:cNvPr name="Freeform 25" id="25"/>
            <p:cNvSpPr/>
            <p:nvPr/>
          </p:nvSpPr>
          <p:spPr>
            <a:xfrm flipH="false" flipV="false" rot="0">
              <a:off x="0" y="0"/>
              <a:ext cx="4572000" cy="2667000"/>
            </a:xfrm>
            <a:custGeom>
              <a:avLst/>
              <a:gdLst/>
              <a:ahLst/>
              <a:cxnLst/>
              <a:rect r="r" b="b" t="t" l="l"/>
              <a:pathLst>
                <a:path h="2667000" w="4572000">
                  <a:moveTo>
                    <a:pt x="0" y="0"/>
                  </a:moveTo>
                  <a:lnTo>
                    <a:pt x="4572000" y="0"/>
                  </a:lnTo>
                  <a:lnTo>
                    <a:pt x="4572000" y="2667000"/>
                  </a:lnTo>
                  <a:lnTo>
                    <a:pt x="0" y="2667000"/>
                  </a:lnTo>
                  <a:close/>
                </a:path>
              </a:pathLst>
            </a:custGeom>
            <a:solidFill>
              <a:srgbClr val="EEF3F7"/>
            </a:solidFill>
            <a:ln cap="sq">
              <a:noFill/>
              <a:prstDash val="solid"/>
              <a:miter/>
            </a:ln>
          </p:spPr>
        </p:sp>
        <p:sp>
          <p:nvSpPr>
            <p:cNvPr name="TextBox 26" id="26"/>
            <p:cNvSpPr txBox="true"/>
            <p:nvPr/>
          </p:nvSpPr>
          <p:spPr>
            <a:xfrm>
              <a:off x="0" y="-38100"/>
              <a:ext cx="4572000" cy="2705100"/>
            </a:xfrm>
            <a:prstGeom prst="rect">
              <a:avLst/>
            </a:prstGeom>
          </p:spPr>
          <p:txBody>
            <a:bodyPr anchor="ctr" rtlCol="false" tIns="50800" lIns="50800" bIns="50800" rIns="50800"/>
            <a:lstStyle/>
            <a:p>
              <a:pPr algn="l">
                <a:lnSpc>
                  <a:spcPts val="1679"/>
                </a:lnSpc>
              </a:pPr>
            </a:p>
          </p:txBody>
        </p:sp>
      </p:grpSp>
      <p:grpSp>
        <p:nvGrpSpPr>
          <p:cNvPr name="Group 27" id="27"/>
          <p:cNvGrpSpPr/>
          <p:nvPr/>
        </p:nvGrpSpPr>
        <p:grpSpPr>
          <a:xfrm rot="0">
            <a:off x="13201650" y="4953000"/>
            <a:ext cx="3429000" cy="2000250"/>
            <a:chOff x="0" y="0"/>
            <a:chExt cx="4572000" cy="2667000"/>
          </a:xfrm>
        </p:grpSpPr>
        <p:sp>
          <p:nvSpPr>
            <p:cNvPr name="Freeform 28" id="28"/>
            <p:cNvSpPr/>
            <p:nvPr/>
          </p:nvSpPr>
          <p:spPr>
            <a:xfrm flipH="false" flipV="false" rot="0">
              <a:off x="0" y="0"/>
              <a:ext cx="4572000" cy="2667000"/>
            </a:xfrm>
            <a:custGeom>
              <a:avLst/>
              <a:gdLst/>
              <a:ahLst/>
              <a:cxnLst/>
              <a:rect r="r" b="b" t="t" l="l"/>
              <a:pathLst>
                <a:path h="2667000" w="4572000">
                  <a:moveTo>
                    <a:pt x="0" y="0"/>
                  </a:moveTo>
                  <a:lnTo>
                    <a:pt x="4572000" y="0"/>
                  </a:lnTo>
                  <a:lnTo>
                    <a:pt x="4572000" y="2667000"/>
                  </a:lnTo>
                  <a:lnTo>
                    <a:pt x="0" y="2667000"/>
                  </a:lnTo>
                  <a:close/>
                </a:path>
              </a:pathLst>
            </a:custGeom>
            <a:solidFill>
              <a:srgbClr val="EEEEEE"/>
            </a:solidFill>
            <a:ln cap="sq">
              <a:noFill/>
              <a:prstDash val="solid"/>
              <a:miter/>
            </a:ln>
          </p:spPr>
        </p:sp>
        <p:sp>
          <p:nvSpPr>
            <p:cNvPr name="TextBox 29" id="29"/>
            <p:cNvSpPr txBox="true"/>
            <p:nvPr/>
          </p:nvSpPr>
          <p:spPr>
            <a:xfrm>
              <a:off x="0" y="-38100"/>
              <a:ext cx="4572000" cy="2705100"/>
            </a:xfrm>
            <a:prstGeom prst="rect">
              <a:avLst/>
            </a:prstGeom>
          </p:spPr>
          <p:txBody>
            <a:bodyPr anchor="ctr" rtlCol="false" tIns="50800" lIns="50800" bIns="50800" rIns="50800"/>
            <a:lstStyle/>
            <a:p>
              <a:pPr algn="l">
                <a:lnSpc>
                  <a:spcPts val="1679"/>
                </a:lnSpc>
              </a:pPr>
            </a:p>
          </p:txBody>
        </p:sp>
      </p:grpSp>
      <p:sp>
        <p:nvSpPr>
          <p:cNvPr name="TextBox 30" id="30"/>
          <p:cNvSpPr txBox="true"/>
          <p:nvPr/>
        </p:nvSpPr>
        <p:spPr>
          <a:xfrm rot="0">
            <a:off x="1247775" y="2676525"/>
            <a:ext cx="2762250" cy="350520"/>
          </a:xfrm>
          <a:prstGeom prst="rect">
            <a:avLst/>
          </a:prstGeom>
        </p:spPr>
        <p:txBody>
          <a:bodyPr anchor="t" rtlCol="false" tIns="0" lIns="0" bIns="0" rIns="0">
            <a:spAutoFit/>
          </a:bodyPr>
          <a:lstStyle/>
          <a:p>
            <a:pPr algn="ctr">
              <a:lnSpc>
                <a:spcPts val="2835"/>
              </a:lnSpc>
            </a:pPr>
            <a:r>
              <a:rPr lang="en-US" sz="2100" b="true">
                <a:solidFill>
                  <a:srgbClr val="1F4E79"/>
                </a:solidFill>
                <a:latin typeface="Aptos Bold"/>
                <a:ea typeface="Aptos Bold"/>
                <a:cs typeface="Aptos Bold"/>
                <a:sym typeface="Aptos Bold"/>
              </a:rPr>
              <a:t>Logistic Regression</a:t>
            </a:r>
          </a:p>
        </p:txBody>
      </p:sp>
      <p:sp>
        <p:nvSpPr>
          <p:cNvPr name="TextBox 31" id="31"/>
          <p:cNvSpPr txBox="true"/>
          <p:nvPr/>
        </p:nvSpPr>
        <p:spPr>
          <a:xfrm rot="0">
            <a:off x="5343525" y="2676525"/>
            <a:ext cx="2762250" cy="350520"/>
          </a:xfrm>
          <a:prstGeom prst="rect">
            <a:avLst/>
          </a:prstGeom>
        </p:spPr>
        <p:txBody>
          <a:bodyPr anchor="t" rtlCol="false" tIns="0" lIns="0" bIns="0" rIns="0">
            <a:spAutoFit/>
          </a:bodyPr>
          <a:lstStyle/>
          <a:p>
            <a:pPr algn="ctr">
              <a:lnSpc>
                <a:spcPts val="2835"/>
              </a:lnSpc>
            </a:pPr>
            <a:r>
              <a:rPr lang="en-US" sz="2100" b="true">
                <a:solidFill>
                  <a:srgbClr val="1F4E79"/>
                </a:solidFill>
                <a:latin typeface="Aptos Bold"/>
                <a:ea typeface="Aptos Bold"/>
                <a:cs typeface="Aptos Bold"/>
                <a:sym typeface="Aptos Bold"/>
              </a:rPr>
              <a:t>K-Nearest Neighbors</a:t>
            </a:r>
          </a:p>
        </p:txBody>
      </p:sp>
      <p:sp>
        <p:nvSpPr>
          <p:cNvPr name="TextBox 32" id="32"/>
          <p:cNvSpPr txBox="true"/>
          <p:nvPr/>
        </p:nvSpPr>
        <p:spPr>
          <a:xfrm rot="0">
            <a:off x="9439275" y="2686050"/>
            <a:ext cx="2762250" cy="324803"/>
          </a:xfrm>
          <a:prstGeom prst="rect">
            <a:avLst/>
          </a:prstGeom>
        </p:spPr>
        <p:txBody>
          <a:bodyPr anchor="t" rtlCol="false" tIns="0" lIns="0" bIns="0" rIns="0">
            <a:spAutoFit/>
          </a:bodyPr>
          <a:lstStyle/>
          <a:p>
            <a:pPr algn="ctr">
              <a:lnSpc>
                <a:spcPts val="2632"/>
              </a:lnSpc>
            </a:pPr>
            <a:r>
              <a:rPr lang="en-US" sz="1950" b="true">
                <a:solidFill>
                  <a:srgbClr val="1F4E79"/>
                </a:solidFill>
                <a:latin typeface="Aptos Bold"/>
                <a:ea typeface="Aptos Bold"/>
                <a:cs typeface="Aptos Bold"/>
                <a:sym typeface="Aptos Bold"/>
              </a:rPr>
              <a:t>Support Vector Machine</a:t>
            </a:r>
          </a:p>
        </p:txBody>
      </p:sp>
      <p:sp>
        <p:nvSpPr>
          <p:cNvPr name="TextBox 33" id="33"/>
          <p:cNvSpPr txBox="true"/>
          <p:nvPr/>
        </p:nvSpPr>
        <p:spPr>
          <a:xfrm rot="0">
            <a:off x="13535025" y="2676525"/>
            <a:ext cx="2762250" cy="350520"/>
          </a:xfrm>
          <a:prstGeom prst="rect">
            <a:avLst/>
          </a:prstGeom>
        </p:spPr>
        <p:txBody>
          <a:bodyPr anchor="t" rtlCol="false" tIns="0" lIns="0" bIns="0" rIns="0">
            <a:spAutoFit/>
          </a:bodyPr>
          <a:lstStyle/>
          <a:p>
            <a:pPr algn="ctr">
              <a:lnSpc>
                <a:spcPts val="2835"/>
              </a:lnSpc>
            </a:pPr>
            <a:r>
              <a:rPr lang="en-US" sz="2100" b="true">
                <a:solidFill>
                  <a:srgbClr val="2E7D32"/>
                </a:solidFill>
                <a:latin typeface="Aptos Bold"/>
                <a:ea typeface="Aptos Bold"/>
                <a:cs typeface="Aptos Bold"/>
                <a:sym typeface="Aptos Bold"/>
              </a:rPr>
              <a:t>Decision Tree</a:t>
            </a:r>
          </a:p>
        </p:txBody>
      </p:sp>
      <p:sp>
        <p:nvSpPr>
          <p:cNvPr name="TextBox 34" id="34"/>
          <p:cNvSpPr txBox="true"/>
          <p:nvPr/>
        </p:nvSpPr>
        <p:spPr>
          <a:xfrm rot="0">
            <a:off x="1247775" y="5534025"/>
            <a:ext cx="2762250" cy="350520"/>
          </a:xfrm>
          <a:prstGeom prst="rect">
            <a:avLst/>
          </a:prstGeom>
        </p:spPr>
        <p:txBody>
          <a:bodyPr anchor="t" rtlCol="false" tIns="0" lIns="0" bIns="0" rIns="0">
            <a:spAutoFit/>
          </a:bodyPr>
          <a:lstStyle/>
          <a:p>
            <a:pPr algn="ctr">
              <a:lnSpc>
                <a:spcPts val="2835"/>
              </a:lnSpc>
            </a:pPr>
            <a:r>
              <a:rPr lang="en-US" sz="2100" b="true">
                <a:solidFill>
                  <a:srgbClr val="1F4E79"/>
                </a:solidFill>
                <a:latin typeface="Aptos Bold"/>
                <a:ea typeface="Aptos Bold"/>
                <a:cs typeface="Aptos Bold"/>
                <a:sym typeface="Aptos Bold"/>
              </a:rPr>
              <a:t>Random Forest</a:t>
            </a:r>
          </a:p>
        </p:txBody>
      </p:sp>
      <p:sp>
        <p:nvSpPr>
          <p:cNvPr name="TextBox 35" id="35"/>
          <p:cNvSpPr txBox="true"/>
          <p:nvPr/>
        </p:nvSpPr>
        <p:spPr>
          <a:xfrm rot="0">
            <a:off x="5343525" y="5534025"/>
            <a:ext cx="2762250" cy="350570"/>
          </a:xfrm>
          <a:prstGeom prst="rect">
            <a:avLst/>
          </a:prstGeom>
        </p:spPr>
        <p:txBody>
          <a:bodyPr anchor="t" rtlCol="false" tIns="0" lIns="0" bIns="0" rIns="0">
            <a:spAutoFit/>
          </a:bodyPr>
          <a:lstStyle/>
          <a:p>
            <a:pPr algn="ctr">
              <a:lnSpc>
                <a:spcPts val="2835"/>
              </a:lnSpc>
            </a:pPr>
            <a:r>
              <a:rPr lang="en-US" sz="2100" b="true">
                <a:solidFill>
                  <a:srgbClr val="1F4E79"/>
                </a:solidFill>
                <a:latin typeface="Aptos Bold"/>
                <a:ea typeface="Aptos Bold"/>
                <a:cs typeface="Aptos Bold"/>
                <a:sym typeface="Aptos Bold"/>
              </a:rPr>
              <a:t>XGBoost</a:t>
            </a:r>
          </a:p>
        </p:txBody>
      </p:sp>
      <p:sp>
        <p:nvSpPr>
          <p:cNvPr name="TextBox 36" id="36"/>
          <p:cNvSpPr txBox="true"/>
          <p:nvPr/>
        </p:nvSpPr>
        <p:spPr>
          <a:xfrm rot="0">
            <a:off x="9439275" y="5534025"/>
            <a:ext cx="2762250" cy="350520"/>
          </a:xfrm>
          <a:prstGeom prst="rect">
            <a:avLst/>
          </a:prstGeom>
        </p:spPr>
        <p:txBody>
          <a:bodyPr anchor="t" rtlCol="false" tIns="0" lIns="0" bIns="0" rIns="0">
            <a:spAutoFit/>
          </a:bodyPr>
          <a:lstStyle/>
          <a:p>
            <a:pPr algn="ctr">
              <a:lnSpc>
                <a:spcPts val="2835"/>
              </a:lnSpc>
            </a:pPr>
            <a:r>
              <a:rPr lang="en-US" sz="2100" b="true">
                <a:solidFill>
                  <a:srgbClr val="1F4E79"/>
                </a:solidFill>
                <a:latin typeface="Aptos Bold"/>
                <a:ea typeface="Aptos Bold"/>
                <a:cs typeface="Aptos Bold"/>
                <a:sym typeface="Aptos Bold"/>
              </a:rPr>
              <a:t>Naive Bayes</a:t>
            </a:r>
          </a:p>
        </p:txBody>
      </p:sp>
      <p:sp>
        <p:nvSpPr>
          <p:cNvPr name="TextBox 37" id="37"/>
          <p:cNvSpPr txBox="true"/>
          <p:nvPr/>
        </p:nvSpPr>
        <p:spPr>
          <a:xfrm rot="0">
            <a:off x="13535025" y="5534025"/>
            <a:ext cx="2762250" cy="350520"/>
          </a:xfrm>
          <a:prstGeom prst="rect">
            <a:avLst/>
          </a:prstGeom>
        </p:spPr>
        <p:txBody>
          <a:bodyPr anchor="t" rtlCol="false" tIns="0" lIns="0" bIns="0" rIns="0">
            <a:spAutoFit/>
          </a:bodyPr>
          <a:lstStyle/>
          <a:p>
            <a:pPr algn="ctr">
              <a:lnSpc>
                <a:spcPts val="2835"/>
              </a:lnSpc>
            </a:pPr>
            <a:r>
              <a:rPr lang="en-US" sz="2100" b="true">
                <a:solidFill>
                  <a:srgbClr val="999999"/>
                </a:solidFill>
                <a:latin typeface="Aptos Bold"/>
                <a:ea typeface="Aptos Bold"/>
                <a:cs typeface="Aptos Bold"/>
                <a:sym typeface="Aptos Bold"/>
              </a:rPr>
              <a:t>Dummy baseline</a:t>
            </a:r>
          </a:p>
        </p:txBody>
      </p:sp>
      <p:sp>
        <p:nvSpPr>
          <p:cNvPr name="TextBox 38" id="38"/>
          <p:cNvSpPr txBox="true"/>
          <p:nvPr/>
        </p:nvSpPr>
        <p:spPr>
          <a:xfrm rot="0">
            <a:off x="914400" y="9734550"/>
            <a:ext cx="13811250" cy="232410"/>
          </a:xfrm>
          <a:prstGeom prst="rect">
            <a:avLst/>
          </a:prstGeom>
        </p:spPr>
        <p:txBody>
          <a:bodyPr anchor="t" rtlCol="false" tIns="0" lIns="0" bIns="0" rIns="0">
            <a:spAutoFit/>
          </a:bodyPr>
          <a:lstStyle/>
          <a:p>
            <a:pPr algn="l">
              <a:lnSpc>
                <a:spcPts val="1889"/>
              </a:lnSpc>
            </a:pPr>
            <a:r>
              <a:rPr lang="en-US" sz="1350" spc="108" b="true">
                <a:solidFill>
                  <a:srgbClr val="1F4E79"/>
                </a:solidFill>
                <a:latin typeface="Aptos Bold"/>
                <a:ea typeface="Aptos Bold"/>
                <a:cs typeface="Aptos Bold"/>
                <a:sym typeface="Aptos Bold"/>
              </a:rPr>
              <a:t>BCA FINAL-YEAR DEFENSE  •  XAVIER INTERNATIONAL COLLEGE</a:t>
            </a:r>
          </a:p>
        </p:txBody>
      </p:sp>
      <p:sp>
        <p:nvSpPr>
          <p:cNvPr name="TextBox 39" id="39"/>
          <p:cNvSpPr txBox="true"/>
          <p:nvPr/>
        </p:nvSpPr>
        <p:spPr>
          <a:xfrm rot="0">
            <a:off x="16478250" y="9734550"/>
            <a:ext cx="857250" cy="232410"/>
          </a:xfrm>
          <a:prstGeom prst="rect">
            <a:avLst/>
          </a:prstGeom>
        </p:spPr>
        <p:txBody>
          <a:bodyPr anchor="t" rtlCol="false" tIns="0" lIns="0" bIns="0" rIns="0">
            <a:spAutoFit/>
          </a:bodyPr>
          <a:lstStyle/>
          <a:p>
            <a:pPr algn="r">
              <a:lnSpc>
                <a:spcPts val="1889"/>
              </a:lnSpc>
            </a:pPr>
            <a:r>
              <a:rPr lang="en-US" b="true" sz="1350" spc="108">
                <a:solidFill>
                  <a:srgbClr val="1F4E79"/>
                </a:solidFill>
                <a:latin typeface="Aptos Bold"/>
                <a:ea typeface="Aptos Bold"/>
                <a:cs typeface="Aptos Bold"/>
                <a:sym typeface="Aptos Bold"/>
              </a:rPr>
              <a:t>09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393382"/>
            <a:ext cx="16459200" cy="816293"/>
            <a:chOff x="0" y="0"/>
            <a:chExt cx="21945600" cy="1088390"/>
          </a:xfrm>
        </p:grpSpPr>
        <p:sp>
          <p:nvSpPr>
            <p:cNvPr name="TextBox 3" id="3"/>
            <p:cNvSpPr txBox="true"/>
            <p:nvPr/>
          </p:nvSpPr>
          <p:spPr>
            <a:xfrm rot="0">
              <a:off x="0" y="38100"/>
              <a:ext cx="1016000" cy="363220"/>
            </a:xfrm>
            <a:prstGeom prst="rect">
              <a:avLst/>
            </a:prstGeom>
          </p:spPr>
          <p:txBody>
            <a:bodyPr anchor="t" rtlCol="false" tIns="0" lIns="0" bIns="0" rIns="0">
              <a:spAutoFit/>
            </a:bodyPr>
            <a:lstStyle/>
            <a:p>
              <a:pPr algn="l">
                <a:lnSpc>
                  <a:spcPts val="2310"/>
                </a:lnSpc>
              </a:pPr>
              <a:r>
                <a:rPr lang="en-US" sz="1650" spc="132" b="true">
                  <a:solidFill>
                    <a:srgbClr val="1F4E79"/>
                  </a:solidFill>
                  <a:latin typeface="Aptos Bold"/>
                  <a:ea typeface="Aptos Bold"/>
                  <a:cs typeface="Aptos Bold"/>
                  <a:sym typeface="Aptos Bold"/>
                </a:rPr>
                <a:t>08</a:t>
              </a:r>
            </a:p>
          </p:txBody>
        </p:sp>
        <p:sp>
          <p:nvSpPr>
            <p:cNvPr name="TextBox 4" id="4"/>
            <p:cNvSpPr txBox="true"/>
            <p:nvPr/>
          </p:nvSpPr>
          <p:spPr>
            <a:xfrm rot="0">
              <a:off x="1066800" y="28575"/>
              <a:ext cx="19050000" cy="668655"/>
            </a:xfrm>
            <a:prstGeom prst="rect">
              <a:avLst/>
            </a:prstGeom>
          </p:spPr>
          <p:txBody>
            <a:bodyPr anchor="t" rtlCol="false" tIns="0" lIns="0" bIns="0" rIns="0">
              <a:spAutoFit/>
            </a:bodyPr>
            <a:lstStyle/>
            <a:p>
              <a:pPr algn="l">
                <a:lnSpc>
                  <a:spcPts val="3622"/>
                </a:lnSpc>
              </a:pPr>
              <a:r>
                <a:rPr lang="en-US" sz="3450" b="true">
                  <a:solidFill>
                    <a:srgbClr val="1F4E79"/>
                  </a:solidFill>
                  <a:latin typeface="Arimo Bold"/>
                  <a:ea typeface="Arimo Bold"/>
                  <a:cs typeface="Arimo Bold"/>
                  <a:sym typeface="Arimo Bold"/>
                </a:rPr>
                <a:t>Real-Data Cross-Validation Results</a:t>
              </a:r>
            </a:p>
          </p:txBody>
        </p:sp>
        <p:sp>
          <p:nvSpPr>
            <p:cNvPr name="AutoShape 5" id="5"/>
            <p:cNvSpPr/>
            <p:nvPr/>
          </p:nvSpPr>
          <p:spPr>
            <a:xfrm>
              <a:off x="0" y="1075690"/>
              <a:ext cx="21945600" cy="0"/>
            </a:xfrm>
            <a:prstGeom prst="line">
              <a:avLst/>
            </a:prstGeom>
            <a:ln cap="flat" w="25400">
              <a:solidFill>
                <a:srgbClr val="D9E1E8"/>
              </a:solidFill>
              <a:prstDash val="solid"/>
              <a:headEnd type="none" len="sm" w="sm"/>
              <a:tailEnd type="none" len="sm" w="sm"/>
            </a:ln>
          </p:spPr>
        </p:sp>
      </p:grpSp>
      <p:pic>
        <p:nvPicPr>
          <p:cNvPr name="Picture 6" id="6"/>
          <p:cNvPicPr>
            <a:picLocks noChangeAspect="true"/>
          </p:cNvPicPr>
          <p:nvPr/>
        </p:nvPicPr>
        <p:blipFill>
          <a:blip r:embed="rId3"/>
          <a:stretch>
            <a:fillRect/>
          </a:stretch>
        </p:blipFill>
        <p:spPr>
          <a:xfrm rot="0">
            <a:off x="581458" y="1165437"/>
            <a:ext cx="11651171" cy="8051376"/>
          </a:xfrm>
          <a:prstGeom prst="rect">
            <a:avLst/>
          </a:prstGeom>
        </p:spPr>
      </p:pic>
      <p:grpSp>
        <p:nvGrpSpPr>
          <p:cNvPr name="Group 7" id="7"/>
          <p:cNvGrpSpPr/>
          <p:nvPr/>
        </p:nvGrpSpPr>
        <p:grpSpPr>
          <a:xfrm rot="0">
            <a:off x="12001500" y="2000250"/>
            <a:ext cx="4953000" cy="5905500"/>
            <a:chOff x="0" y="0"/>
            <a:chExt cx="6604000" cy="7874000"/>
          </a:xfrm>
        </p:grpSpPr>
        <p:sp>
          <p:nvSpPr>
            <p:cNvPr name="Freeform 8" id="8"/>
            <p:cNvSpPr/>
            <p:nvPr/>
          </p:nvSpPr>
          <p:spPr>
            <a:xfrm flipH="false" flipV="false" rot="0">
              <a:off x="0" y="0"/>
              <a:ext cx="6604000" cy="7874000"/>
            </a:xfrm>
            <a:custGeom>
              <a:avLst/>
              <a:gdLst/>
              <a:ahLst/>
              <a:cxnLst/>
              <a:rect r="r" b="b" t="t" l="l"/>
              <a:pathLst>
                <a:path h="7874000" w="6604000">
                  <a:moveTo>
                    <a:pt x="0" y="0"/>
                  </a:moveTo>
                  <a:lnTo>
                    <a:pt x="6604000" y="0"/>
                  </a:lnTo>
                  <a:lnTo>
                    <a:pt x="6604000" y="7874000"/>
                  </a:lnTo>
                  <a:lnTo>
                    <a:pt x="0" y="7874000"/>
                  </a:lnTo>
                  <a:close/>
                </a:path>
              </a:pathLst>
            </a:custGeom>
            <a:solidFill>
              <a:srgbClr val="EEF3F7"/>
            </a:solidFill>
            <a:ln cap="sq">
              <a:noFill/>
              <a:prstDash val="solid"/>
              <a:miter/>
            </a:ln>
          </p:spPr>
        </p:sp>
        <p:sp>
          <p:nvSpPr>
            <p:cNvPr name="TextBox 9" id="9"/>
            <p:cNvSpPr txBox="true"/>
            <p:nvPr/>
          </p:nvSpPr>
          <p:spPr>
            <a:xfrm>
              <a:off x="0" y="-38100"/>
              <a:ext cx="6604000" cy="79121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12573000" y="2200275"/>
            <a:ext cx="3810000" cy="281940"/>
          </a:xfrm>
          <a:prstGeom prst="rect">
            <a:avLst/>
          </a:prstGeom>
        </p:spPr>
        <p:txBody>
          <a:bodyPr anchor="t" rtlCol="false" tIns="0" lIns="0" bIns="0" rIns="0">
            <a:spAutoFit/>
          </a:bodyPr>
          <a:lstStyle/>
          <a:p>
            <a:pPr algn="ctr">
              <a:lnSpc>
                <a:spcPts val="2310"/>
              </a:lnSpc>
            </a:pPr>
            <a:r>
              <a:rPr lang="en-US" b="true" sz="1650" spc="132">
                <a:solidFill>
                  <a:srgbClr val="1F4E79"/>
                </a:solidFill>
                <a:latin typeface="Aptos Bold"/>
                <a:ea typeface="Aptos Bold"/>
                <a:cs typeface="Aptos Bold"/>
                <a:sym typeface="Aptos Bold"/>
              </a:rPr>
              <a:t>REAL DATA</a:t>
            </a:r>
          </a:p>
        </p:txBody>
      </p:sp>
      <p:sp>
        <p:nvSpPr>
          <p:cNvPr name="TextBox 11" id="11"/>
          <p:cNvSpPr txBox="true"/>
          <p:nvPr/>
        </p:nvSpPr>
        <p:spPr>
          <a:xfrm rot="0">
            <a:off x="12573000" y="2924175"/>
            <a:ext cx="3810000" cy="1076325"/>
          </a:xfrm>
          <a:prstGeom prst="rect">
            <a:avLst/>
          </a:prstGeom>
        </p:spPr>
        <p:txBody>
          <a:bodyPr anchor="t" rtlCol="false" tIns="0" lIns="0" bIns="0" rIns="0">
            <a:spAutoFit/>
          </a:bodyPr>
          <a:lstStyle/>
          <a:p>
            <a:pPr algn="ctr">
              <a:lnSpc>
                <a:spcPts val="7875"/>
              </a:lnSpc>
            </a:pPr>
            <a:r>
              <a:rPr lang="en-US" sz="7500" b="true">
                <a:solidFill>
                  <a:srgbClr val="2E7D32"/>
                </a:solidFill>
                <a:latin typeface="Arimo Bold"/>
                <a:ea typeface="Arimo Bold"/>
                <a:cs typeface="Arimo Bold"/>
                <a:sym typeface="Arimo Bold"/>
              </a:rPr>
              <a:t>n=39</a:t>
            </a:r>
          </a:p>
        </p:txBody>
      </p:sp>
      <p:sp>
        <p:nvSpPr>
          <p:cNvPr name="TextBox 12" id="12"/>
          <p:cNvSpPr txBox="true"/>
          <p:nvPr/>
        </p:nvSpPr>
        <p:spPr>
          <a:xfrm rot="0">
            <a:off x="12573000" y="4533900"/>
            <a:ext cx="3810000" cy="811530"/>
          </a:xfrm>
          <a:prstGeom prst="rect">
            <a:avLst/>
          </a:prstGeom>
        </p:spPr>
        <p:txBody>
          <a:bodyPr anchor="t" rtlCol="false" tIns="0" lIns="0" bIns="0" rIns="0">
            <a:spAutoFit/>
          </a:bodyPr>
          <a:lstStyle/>
          <a:p>
            <a:pPr algn="ctr">
              <a:lnSpc>
                <a:spcPts val="3240"/>
              </a:lnSpc>
            </a:pPr>
            <a:r>
              <a:rPr lang="en-US" sz="2400" b="true">
                <a:solidFill>
                  <a:srgbClr val="17212B"/>
                </a:solidFill>
                <a:latin typeface="Aptos Bold"/>
                <a:ea typeface="Aptos Bold"/>
                <a:cs typeface="Aptos Bold"/>
                <a:sym typeface="Aptos Bold"/>
              </a:rPr>
              <a:t>Decision Tree</a:t>
            </a:r>
          </a:p>
          <a:p>
            <a:pPr algn="ctr">
              <a:lnSpc>
                <a:spcPts val="3240"/>
              </a:lnSpc>
            </a:pPr>
            <a:r>
              <a:rPr lang="en-US" sz="2400" b="true">
                <a:solidFill>
                  <a:srgbClr val="17212B"/>
                </a:solidFill>
                <a:latin typeface="Aptos Bold"/>
                <a:ea typeface="Aptos Bold"/>
                <a:cs typeface="Aptos Bold"/>
                <a:sym typeface="Aptos Bold"/>
              </a:rPr>
              <a:t>CV Macro F1 0.562</a:t>
            </a:r>
          </a:p>
        </p:txBody>
      </p:sp>
      <p:sp>
        <p:nvSpPr>
          <p:cNvPr name="TextBox 13" id="13"/>
          <p:cNvSpPr txBox="true"/>
          <p:nvPr/>
        </p:nvSpPr>
        <p:spPr>
          <a:xfrm rot="0">
            <a:off x="12192000" y="6829425"/>
            <a:ext cx="4572000" cy="299085"/>
          </a:xfrm>
          <a:prstGeom prst="rect">
            <a:avLst/>
          </a:prstGeom>
        </p:spPr>
        <p:txBody>
          <a:bodyPr anchor="t" rtlCol="false" tIns="0" lIns="0" bIns="0" rIns="0">
            <a:spAutoFit/>
          </a:bodyPr>
          <a:lstStyle/>
          <a:p>
            <a:pPr algn="ctr">
              <a:lnSpc>
                <a:spcPts val="2430"/>
              </a:lnSpc>
            </a:pPr>
            <a:r>
              <a:rPr lang="en-US" sz="1800">
                <a:solidFill>
                  <a:srgbClr val="999999"/>
                </a:solidFill>
                <a:latin typeface="Aptos"/>
                <a:ea typeface="Aptos"/>
                <a:cs typeface="Aptos"/>
                <a:sym typeface="Aptos"/>
              </a:rPr>
              <a:t>Only values reported in the study are shown.</a:t>
            </a:r>
          </a:p>
        </p:txBody>
      </p:sp>
      <p:sp>
        <p:nvSpPr>
          <p:cNvPr name="TextBox 14" id="14"/>
          <p:cNvSpPr txBox="true"/>
          <p:nvPr/>
        </p:nvSpPr>
        <p:spPr>
          <a:xfrm rot="0">
            <a:off x="914400" y="9734550"/>
            <a:ext cx="13811250" cy="232410"/>
          </a:xfrm>
          <a:prstGeom prst="rect">
            <a:avLst/>
          </a:prstGeom>
        </p:spPr>
        <p:txBody>
          <a:bodyPr anchor="t" rtlCol="false" tIns="0" lIns="0" bIns="0" rIns="0">
            <a:spAutoFit/>
          </a:bodyPr>
          <a:lstStyle/>
          <a:p>
            <a:pPr algn="l">
              <a:lnSpc>
                <a:spcPts val="1889"/>
              </a:lnSpc>
            </a:pPr>
            <a:r>
              <a:rPr lang="en-US" sz="1350" spc="108" b="true">
                <a:solidFill>
                  <a:srgbClr val="1F4E79"/>
                </a:solidFill>
                <a:latin typeface="Aptos Bold"/>
                <a:ea typeface="Aptos Bold"/>
                <a:cs typeface="Aptos Bold"/>
                <a:sym typeface="Aptos Bold"/>
              </a:rPr>
              <a:t>BCA FINAL-YEAR DEFENSE  •  XAVIER INTERNATIONAL COLLEGE</a:t>
            </a:r>
          </a:p>
        </p:txBody>
      </p:sp>
      <p:sp>
        <p:nvSpPr>
          <p:cNvPr name="TextBox 15" id="15"/>
          <p:cNvSpPr txBox="true"/>
          <p:nvPr/>
        </p:nvSpPr>
        <p:spPr>
          <a:xfrm rot="0">
            <a:off x="16478250" y="9734550"/>
            <a:ext cx="857250" cy="232410"/>
          </a:xfrm>
          <a:prstGeom prst="rect">
            <a:avLst/>
          </a:prstGeom>
        </p:spPr>
        <p:txBody>
          <a:bodyPr anchor="t" rtlCol="false" tIns="0" lIns="0" bIns="0" rIns="0">
            <a:spAutoFit/>
          </a:bodyPr>
          <a:lstStyle/>
          <a:p>
            <a:pPr algn="r">
              <a:lnSpc>
                <a:spcPts val="1889"/>
              </a:lnSpc>
            </a:pPr>
            <a:r>
              <a:rPr lang="en-US" b="true" sz="1350" spc="108">
                <a:solidFill>
                  <a:srgbClr val="1F4E79"/>
                </a:solidFill>
                <a:latin typeface="Aptos Bold"/>
                <a:ea typeface="Aptos Bold"/>
                <a:cs typeface="Aptos Bold"/>
                <a:sym typeface="Aptos Bold"/>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476250"/>
            <a:ext cx="16459200" cy="733425"/>
            <a:chOff x="0" y="0"/>
            <a:chExt cx="21945600" cy="977900"/>
          </a:xfrm>
        </p:grpSpPr>
        <p:sp>
          <p:nvSpPr>
            <p:cNvPr name="TextBox 3" id="3"/>
            <p:cNvSpPr txBox="true"/>
            <p:nvPr/>
          </p:nvSpPr>
          <p:spPr>
            <a:xfrm rot="0">
              <a:off x="0" y="38100"/>
              <a:ext cx="1016000" cy="363220"/>
            </a:xfrm>
            <a:prstGeom prst="rect">
              <a:avLst/>
            </a:prstGeom>
          </p:spPr>
          <p:txBody>
            <a:bodyPr anchor="t" rtlCol="false" tIns="0" lIns="0" bIns="0" rIns="0">
              <a:spAutoFit/>
            </a:bodyPr>
            <a:lstStyle/>
            <a:p>
              <a:pPr algn="l">
                <a:lnSpc>
                  <a:spcPts val="2310"/>
                </a:lnSpc>
              </a:pPr>
              <a:r>
                <a:rPr lang="en-US" sz="1650" spc="132" b="true">
                  <a:solidFill>
                    <a:srgbClr val="1F4E79"/>
                  </a:solidFill>
                  <a:latin typeface="Aptos Bold"/>
                  <a:ea typeface="Aptos Bold"/>
                  <a:cs typeface="Aptos Bold"/>
                  <a:sym typeface="Aptos Bold"/>
                </a:rPr>
                <a:t>09</a:t>
              </a:r>
            </a:p>
          </p:txBody>
        </p:sp>
        <p:sp>
          <p:nvSpPr>
            <p:cNvPr name="TextBox 4" id="4"/>
            <p:cNvSpPr txBox="true"/>
            <p:nvPr/>
          </p:nvSpPr>
          <p:spPr>
            <a:xfrm rot="0">
              <a:off x="1066800" y="28575"/>
              <a:ext cx="19050000" cy="668655"/>
            </a:xfrm>
            <a:prstGeom prst="rect">
              <a:avLst/>
            </a:prstGeom>
          </p:spPr>
          <p:txBody>
            <a:bodyPr anchor="t" rtlCol="false" tIns="0" lIns="0" bIns="0" rIns="0">
              <a:spAutoFit/>
            </a:bodyPr>
            <a:lstStyle/>
            <a:p>
              <a:pPr algn="l">
                <a:lnSpc>
                  <a:spcPts val="3622"/>
                </a:lnSpc>
              </a:pPr>
              <a:r>
                <a:rPr lang="en-US" sz="3450" b="true">
                  <a:solidFill>
                    <a:srgbClr val="1F4E79"/>
                  </a:solidFill>
                  <a:latin typeface="Arimo Bold"/>
                  <a:ea typeface="Arimo Bold"/>
                  <a:cs typeface="Arimo Bold"/>
                  <a:sym typeface="Arimo Bold"/>
                </a:rPr>
                <a:t>Real-Data Generalization Gap</a:t>
              </a:r>
            </a:p>
          </p:txBody>
        </p:sp>
        <p:sp>
          <p:nvSpPr>
            <p:cNvPr name="AutoShape 5" id="5"/>
            <p:cNvSpPr/>
            <p:nvPr/>
          </p:nvSpPr>
          <p:spPr>
            <a:xfrm>
              <a:off x="0" y="965200"/>
              <a:ext cx="21945600" cy="0"/>
            </a:xfrm>
            <a:prstGeom prst="line">
              <a:avLst/>
            </a:prstGeom>
            <a:ln cap="flat" w="25400">
              <a:solidFill>
                <a:srgbClr val="D9E1E8"/>
              </a:solidFill>
              <a:prstDash val="solid"/>
              <a:headEnd type="none" len="sm" w="sm"/>
              <a:tailEnd type="none" len="sm" w="sm"/>
            </a:ln>
          </p:spPr>
        </p:sp>
      </p:grpSp>
      <p:pic>
        <p:nvPicPr>
          <p:cNvPr name="Picture 6" id="6"/>
          <p:cNvPicPr>
            <a:picLocks noChangeAspect="true"/>
          </p:cNvPicPr>
          <p:nvPr/>
        </p:nvPicPr>
        <p:blipFill>
          <a:blip r:embed="rId3"/>
          <a:stretch>
            <a:fillRect/>
          </a:stretch>
        </p:blipFill>
        <p:spPr>
          <a:xfrm rot="0">
            <a:off x="117716" y="1357815"/>
            <a:ext cx="11861320" cy="7761872"/>
          </a:xfrm>
          <a:prstGeom prst="rect">
            <a:avLst/>
          </a:prstGeom>
        </p:spPr>
      </p:pic>
      <p:grpSp>
        <p:nvGrpSpPr>
          <p:cNvPr name="Group 7" id="7"/>
          <p:cNvGrpSpPr/>
          <p:nvPr/>
        </p:nvGrpSpPr>
        <p:grpSpPr>
          <a:xfrm rot="0">
            <a:off x="11477625" y="1905000"/>
            <a:ext cx="133350" cy="6191250"/>
            <a:chOff x="0" y="0"/>
            <a:chExt cx="177800" cy="8255000"/>
          </a:xfrm>
        </p:grpSpPr>
        <p:sp>
          <p:nvSpPr>
            <p:cNvPr name="Freeform 8" id="8"/>
            <p:cNvSpPr/>
            <p:nvPr/>
          </p:nvSpPr>
          <p:spPr>
            <a:xfrm flipH="false" flipV="false" rot="0">
              <a:off x="0" y="0"/>
              <a:ext cx="177800" cy="8255000"/>
            </a:xfrm>
            <a:custGeom>
              <a:avLst/>
              <a:gdLst/>
              <a:ahLst/>
              <a:cxnLst/>
              <a:rect r="r" b="b" t="t" l="l"/>
              <a:pathLst>
                <a:path h="8255000" w="177800">
                  <a:moveTo>
                    <a:pt x="0" y="0"/>
                  </a:moveTo>
                  <a:lnTo>
                    <a:pt x="177800" y="0"/>
                  </a:lnTo>
                  <a:lnTo>
                    <a:pt x="177800" y="8255000"/>
                  </a:lnTo>
                  <a:lnTo>
                    <a:pt x="0" y="8255000"/>
                  </a:lnTo>
                  <a:close/>
                </a:path>
              </a:pathLst>
            </a:custGeom>
            <a:solidFill>
              <a:srgbClr val="D62728"/>
            </a:solidFill>
            <a:ln cap="sq">
              <a:noFill/>
              <a:prstDash val="solid"/>
              <a:miter/>
            </a:ln>
          </p:spPr>
        </p:sp>
        <p:sp>
          <p:nvSpPr>
            <p:cNvPr name="TextBox 9" id="9"/>
            <p:cNvSpPr txBox="true"/>
            <p:nvPr/>
          </p:nvSpPr>
          <p:spPr>
            <a:xfrm>
              <a:off x="0" y="-38100"/>
              <a:ext cx="177800" cy="82931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11906250" y="2152650"/>
            <a:ext cx="4762500" cy="306705"/>
          </a:xfrm>
          <a:prstGeom prst="rect">
            <a:avLst/>
          </a:prstGeom>
        </p:spPr>
        <p:txBody>
          <a:bodyPr anchor="t" rtlCol="false" tIns="0" lIns="0" bIns="0" rIns="0">
            <a:spAutoFit/>
          </a:bodyPr>
          <a:lstStyle/>
          <a:p>
            <a:pPr algn="l">
              <a:lnSpc>
                <a:spcPts val="2520"/>
              </a:lnSpc>
            </a:pPr>
            <a:r>
              <a:rPr lang="en-US" sz="1800" spc="144" b="true">
                <a:solidFill>
                  <a:srgbClr val="D62728"/>
                </a:solidFill>
                <a:latin typeface="Aptos Bold"/>
                <a:ea typeface="Aptos Bold"/>
                <a:cs typeface="Aptos Bold"/>
                <a:sym typeface="Aptos Bold"/>
              </a:rPr>
              <a:t>HONEST FINDING</a:t>
            </a:r>
          </a:p>
        </p:txBody>
      </p:sp>
      <p:sp>
        <p:nvSpPr>
          <p:cNvPr name="TextBox 11" id="11"/>
          <p:cNvSpPr txBox="true"/>
          <p:nvPr/>
        </p:nvSpPr>
        <p:spPr>
          <a:xfrm rot="0">
            <a:off x="11906250" y="3095625"/>
            <a:ext cx="5238750" cy="725805"/>
          </a:xfrm>
          <a:prstGeom prst="rect">
            <a:avLst/>
          </a:prstGeom>
        </p:spPr>
        <p:txBody>
          <a:bodyPr anchor="t" rtlCol="false" tIns="0" lIns="0" bIns="0" rIns="0">
            <a:spAutoFit/>
          </a:bodyPr>
          <a:lstStyle/>
          <a:p>
            <a:pPr algn="l">
              <a:lnSpc>
                <a:spcPts val="5355"/>
              </a:lnSpc>
            </a:pPr>
            <a:r>
              <a:rPr lang="en-US" sz="5100" b="true">
                <a:solidFill>
                  <a:srgbClr val="D62728"/>
                </a:solidFill>
                <a:latin typeface="Arimo Bold"/>
                <a:ea typeface="Arimo Bold"/>
                <a:cs typeface="Arimo Bold"/>
                <a:sym typeface="Arimo Bold"/>
              </a:rPr>
              <a:t>0.562 → 0.267</a:t>
            </a:r>
          </a:p>
        </p:txBody>
      </p:sp>
      <p:sp>
        <p:nvSpPr>
          <p:cNvPr name="TextBox 12" id="12"/>
          <p:cNvSpPr txBox="true"/>
          <p:nvPr/>
        </p:nvSpPr>
        <p:spPr>
          <a:xfrm rot="0">
            <a:off x="11906250" y="3962400"/>
            <a:ext cx="4762500" cy="350520"/>
          </a:xfrm>
          <a:prstGeom prst="rect">
            <a:avLst/>
          </a:prstGeom>
        </p:spPr>
        <p:txBody>
          <a:bodyPr anchor="t" rtlCol="false" tIns="0" lIns="0" bIns="0" rIns="0">
            <a:spAutoFit/>
          </a:bodyPr>
          <a:lstStyle/>
          <a:p>
            <a:pPr algn="l">
              <a:lnSpc>
                <a:spcPts val="2835"/>
              </a:lnSpc>
            </a:pPr>
            <a:r>
              <a:rPr lang="en-US" sz="2100">
                <a:solidFill>
                  <a:srgbClr val="17212B"/>
                </a:solidFill>
                <a:latin typeface="Aptos"/>
                <a:ea typeface="Aptos"/>
                <a:cs typeface="Aptos"/>
                <a:sym typeface="Aptos"/>
              </a:rPr>
              <a:t>CV Macro F1 to held-out Macro F1</a:t>
            </a:r>
          </a:p>
        </p:txBody>
      </p:sp>
      <p:sp>
        <p:nvSpPr>
          <p:cNvPr name="TextBox 13" id="13"/>
          <p:cNvSpPr txBox="true"/>
          <p:nvPr/>
        </p:nvSpPr>
        <p:spPr>
          <a:xfrm rot="0">
            <a:off x="11906250" y="5686425"/>
            <a:ext cx="4762500" cy="1128713"/>
          </a:xfrm>
          <a:prstGeom prst="rect">
            <a:avLst/>
          </a:prstGeom>
        </p:spPr>
        <p:txBody>
          <a:bodyPr anchor="t" rtlCol="false" tIns="0" lIns="0" bIns="0" rIns="0">
            <a:spAutoFit/>
          </a:bodyPr>
          <a:lstStyle/>
          <a:p>
            <a:pPr algn="l">
              <a:lnSpc>
                <a:spcPts val="3037"/>
              </a:lnSpc>
            </a:pPr>
            <a:r>
              <a:rPr lang="en-US" sz="2250">
                <a:solidFill>
                  <a:srgbClr val="17212B"/>
                </a:solidFill>
                <a:latin typeface="Aptos"/>
                <a:ea typeface="Aptos"/>
                <a:cs typeface="Aptos"/>
                <a:sym typeface="Aptos"/>
              </a:rPr>
              <a:t>The strongest cross-validation result did not generalize to the held-out sample.</a:t>
            </a:r>
          </a:p>
        </p:txBody>
      </p:sp>
      <p:sp>
        <p:nvSpPr>
          <p:cNvPr name="TextBox 14" id="14"/>
          <p:cNvSpPr txBox="true"/>
          <p:nvPr/>
        </p:nvSpPr>
        <p:spPr>
          <a:xfrm rot="0">
            <a:off x="914400" y="9734550"/>
            <a:ext cx="13811250" cy="232410"/>
          </a:xfrm>
          <a:prstGeom prst="rect">
            <a:avLst/>
          </a:prstGeom>
        </p:spPr>
        <p:txBody>
          <a:bodyPr anchor="t" rtlCol="false" tIns="0" lIns="0" bIns="0" rIns="0">
            <a:spAutoFit/>
          </a:bodyPr>
          <a:lstStyle/>
          <a:p>
            <a:pPr algn="l">
              <a:lnSpc>
                <a:spcPts val="1889"/>
              </a:lnSpc>
            </a:pPr>
            <a:r>
              <a:rPr lang="en-US" sz="1350" spc="108" b="true">
                <a:solidFill>
                  <a:srgbClr val="1F4E79"/>
                </a:solidFill>
                <a:latin typeface="Aptos Bold"/>
                <a:ea typeface="Aptos Bold"/>
                <a:cs typeface="Aptos Bold"/>
                <a:sym typeface="Aptos Bold"/>
              </a:rPr>
              <a:t>BCA FINAL-YEAR DEFENSE  •  XAVIER INTERNATIONAL COLLEGE</a:t>
            </a:r>
          </a:p>
        </p:txBody>
      </p:sp>
      <p:sp>
        <p:nvSpPr>
          <p:cNvPr name="TextBox 15" id="15"/>
          <p:cNvSpPr txBox="true"/>
          <p:nvPr/>
        </p:nvSpPr>
        <p:spPr>
          <a:xfrm rot="0">
            <a:off x="16478250" y="9734550"/>
            <a:ext cx="857250" cy="232410"/>
          </a:xfrm>
          <a:prstGeom prst="rect">
            <a:avLst/>
          </a:prstGeom>
        </p:spPr>
        <p:txBody>
          <a:bodyPr anchor="t" rtlCol="false" tIns="0" lIns="0" bIns="0" rIns="0">
            <a:spAutoFit/>
          </a:bodyPr>
          <a:lstStyle/>
          <a:p>
            <a:pPr algn="r">
              <a:lnSpc>
                <a:spcPts val="1889"/>
              </a:lnSpc>
            </a:pPr>
            <a:r>
              <a:rPr lang="en-US" b="true" sz="1350" spc="108">
                <a:solidFill>
                  <a:srgbClr val="1F4E79"/>
                </a:solidFill>
                <a:latin typeface="Aptos Bold"/>
                <a:ea typeface="Aptos Bold"/>
                <a:cs typeface="Aptos Bold"/>
                <a:sym typeface="Aptos Bold"/>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476250"/>
            <a:ext cx="16459200" cy="733425"/>
            <a:chOff x="0" y="0"/>
            <a:chExt cx="21945600" cy="977900"/>
          </a:xfrm>
        </p:grpSpPr>
        <p:sp>
          <p:nvSpPr>
            <p:cNvPr name="TextBox 3" id="3"/>
            <p:cNvSpPr txBox="true"/>
            <p:nvPr/>
          </p:nvSpPr>
          <p:spPr>
            <a:xfrm rot="0">
              <a:off x="0" y="38100"/>
              <a:ext cx="1016000" cy="363220"/>
            </a:xfrm>
            <a:prstGeom prst="rect">
              <a:avLst/>
            </a:prstGeom>
          </p:spPr>
          <p:txBody>
            <a:bodyPr anchor="t" rtlCol="false" tIns="0" lIns="0" bIns="0" rIns="0">
              <a:spAutoFit/>
            </a:bodyPr>
            <a:lstStyle/>
            <a:p>
              <a:pPr algn="l">
                <a:lnSpc>
                  <a:spcPts val="2310"/>
                </a:lnSpc>
              </a:pPr>
              <a:r>
                <a:rPr lang="en-US" sz="1650" spc="132" b="true">
                  <a:solidFill>
                    <a:srgbClr val="1F4E79"/>
                  </a:solidFill>
                  <a:latin typeface="Aptos Bold"/>
                  <a:ea typeface="Aptos Bold"/>
                  <a:cs typeface="Aptos Bold"/>
                  <a:sym typeface="Aptos Bold"/>
                </a:rPr>
                <a:t>10</a:t>
              </a:r>
            </a:p>
          </p:txBody>
        </p:sp>
        <p:sp>
          <p:nvSpPr>
            <p:cNvPr name="TextBox 4" id="4"/>
            <p:cNvSpPr txBox="true"/>
            <p:nvPr/>
          </p:nvSpPr>
          <p:spPr>
            <a:xfrm rot="0">
              <a:off x="1066800" y="28575"/>
              <a:ext cx="19050000" cy="668655"/>
            </a:xfrm>
            <a:prstGeom prst="rect">
              <a:avLst/>
            </a:prstGeom>
          </p:spPr>
          <p:txBody>
            <a:bodyPr anchor="t" rtlCol="false" tIns="0" lIns="0" bIns="0" rIns="0">
              <a:spAutoFit/>
            </a:bodyPr>
            <a:lstStyle/>
            <a:p>
              <a:pPr algn="l">
                <a:lnSpc>
                  <a:spcPts val="3622"/>
                </a:lnSpc>
              </a:pPr>
              <a:r>
                <a:rPr lang="en-US" sz="3450" b="true">
                  <a:solidFill>
                    <a:srgbClr val="1F4E79"/>
                  </a:solidFill>
                  <a:latin typeface="Arimo Bold"/>
                  <a:ea typeface="Arimo Bold"/>
                  <a:cs typeface="Arimo Bold"/>
                  <a:sym typeface="Arimo Bold"/>
                </a:rPr>
                <a:t>Constrained Decision Tree Experiment</a:t>
              </a:r>
            </a:p>
          </p:txBody>
        </p:sp>
        <p:sp>
          <p:nvSpPr>
            <p:cNvPr name="AutoShape 5" id="5"/>
            <p:cNvSpPr/>
            <p:nvPr/>
          </p:nvSpPr>
          <p:spPr>
            <a:xfrm>
              <a:off x="0" y="965200"/>
              <a:ext cx="21945600" cy="0"/>
            </a:xfrm>
            <a:prstGeom prst="line">
              <a:avLst/>
            </a:prstGeom>
            <a:ln cap="flat" w="25400">
              <a:solidFill>
                <a:srgbClr val="D9E1E8"/>
              </a:solidFill>
              <a:prstDash val="solid"/>
              <a:headEnd type="none" len="sm" w="sm"/>
              <a:tailEnd type="none" len="sm" w="sm"/>
            </a:ln>
          </p:spPr>
        </p:sp>
      </p:grpSp>
      <p:pic>
        <p:nvPicPr>
          <p:cNvPr name="Picture 6" id="6"/>
          <p:cNvPicPr>
            <a:picLocks noChangeAspect="true"/>
          </p:cNvPicPr>
          <p:nvPr/>
        </p:nvPicPr>
        <p:blipFill>
          <a:blip r:embed="rId3"/>
          <a:stretch>
            <a:fillRect/>
          </a:stretch>
        </p:blipFill>
        <p:spPr>
          <a:xfrm rot="0">
            <a:off x="-61939" y="1480361"/>
            <a:ext cx="12506378" cy="7707279"/>
          </a:xfrm>
          <a:prstGeom prst="rect">
            <a:avLst/>
          </a:prstGeom>
        </p:spPr>
      </p:pic>
      <p:grpSp>
        <p:nvGrpSpPr>
          <p:cNvPr name="Group 7" id="7"/>
          <p:cNvGrpSpPr/>
          <p:nvPr/>
        </p:nvGrpSpPr>
        <p:grpSpPr>
          <a:xfrm rot="0">
            <a:off x="12001500" y="2095500"/>
            <a:ext cx="5334000" cy="6191250"/>
            <a:chOff x="0" y="0"/>
            <a:chExt cx="7112000" cy="8255000"/>
          </a:xfrm>
        </p:grpSpPr>
        <p:sp>
          <p:nvSpPr>
            <p:cNvPr name="Freeform 8" id="8"/>
            <p:cNvSpPr/>
            <p:nvPr/>
          </p:nvSpPr>
          <p:spPr>
            <a:xfrm flipH="false" flipV="false" rot="0">
              <a:off x="0" y="0"/>
              <a:ext cx="7112000" cy="8255000"/>
            </a:xfrm>
            <a:custGeom>
              <a:avLst/>
              <a:gdLst/>
              <a:ahLst/>
              <a:cxnLst/>
              <a:rect r="r" b="b" t="t" l="l"/>
              <a:pathLst>
                <a:path h="8255000" w="7112000">
                  <a:moveTo>
                    <a:pt x="0" y="0"/>
                  </a:moveTo>
                  <a:lnTo>
                    <a:pt x="7112000" y="0"/>
                  </a:lnTo>
                  <a:lnTo>
                    <a:pt x="7112000" y="8255000"/>
                  </a:lnTo>
                  <a:lnTo>
                    <a:pt x="0" y="8255000"/>
                  </a:lnTo>
                  <a:close/>
                </a:path>
              </a:pathLst>
            </a:custGeom>
            <a:solidFill>
              <a:srgbClr val="EEF3F7"/>
            </a:solidFill>
            <a:ln cap="sq">
              <a:noFill/>
              <a:prstDash val="solid"/>
              <a:miter/>
            </a:ln>
          </p:spPr>
        </p:sp>
        <p:sp>
          <p:nvSpPr>
            <p:cNvPr name="TextBox 9" id="9"/>
            <p:cNvSpPr txBox="true"/>
            <p:nvPr/>
          </p:nvSpPr>
          <p:spPr>
            <a:xfrm>
              <a:off x="0" y="-38100"/>
              <a:ext cx="7112000" cy="82931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12573000" y="2457450"/>
            <a:ext cx="4095750" cy="686753"/>
          </a:xfrm>
          <a:prstGeom prst="rect">
            <a:avLst/>
          </a:prstGeom>
        </p:spPr>
        <p:txBody>
          <a:bodyPr anchor="t" rtlCol="false" tIns="0" lIns="0" bIns="0" rIns="0">
            <a:spAutoFit/>
          </a:bodyPr>
          <a:lstStyle/>
          <a:p>
            <a:pPr algn="l">
              <a:lnSpc>
                <a:spcPts val="2677"/>
              </a:lnSpc>
            </a:pPr>
            <a:r>
              <a:rPr lang="en-US" sz="2550" b="true">
                <a:solidFill>
                  <a:srgbClr val="1F4E79"/>
                </a:solidFill>
                <a:latin typeface="Arimo Bold"/>
                <a:ea typeface="Arimo Bold"/>
                <a:cs typeface="Arimo Bold"/>
                <a:sym typeface="Arimo Bold"/>
              </a:rPr>
              <a:t>max_depth=3</a:t>
            </a:r>
          </a:p>
          <a:p>
            <a:pPr algn="l">
              <a:lnSpc>
                <a:spcPts val="2677"/>
              </a:lnSpc>
            </a:pPr>
            <a:r>
              <a:rPr lang="en-US" sz="2550" b="true">
                <a:solidFill>
                  <a:srgbClr val="1F4E79"/>
                </a:solidFill>
                <a:latin typeface="Arimo Bold"/>
                <a:ea typeface="Arimo Bold"/>
                <a:cs typeface="Arimo Bold"/>
                <a:sym typeface="Arimo Bold"/>
              </a:rPr>
              <a:t>min_samples_leaf=3</a:t>
            </a:r>
          </a:p>
        </p:txBody>
      </p:sp>
      <p:sp>
        <p:nvSpPr>
          <p:cNvPr name="TextBox 11" id="11"/>
          <p:cNvSpPr txBox="true"/>
          <p:nvPr/>
        </p:nvSpPr>
        <p:spPr>
          <a:xfrm rot="0">
            <a:off x="12573000" y="4810125"/>
            <a:ext cx="4095750" cy="769620"/>
          </a:xfrm>
          <a:prstGeom prst="rect">
            <a:avLst/>
          </a:prstGeom>
        </p:spPr>
        <p:txBody>
          <a:bodyPr anchor="t" rtlCol="false" tIns="0" lIns="0" bIns="0" rIns="0">
            <a:spAutoFit/>
          </a:bodyPr>
          <a:lstStyle/>
          <a:p>
            <a:pPr algn="l">
              <a:lnSpc>
                <a:spcPts val="5670"/>
              </a:lnSpc>
            </a:pPr>
            <a:r>
              <a:rPr lang="en-US" sz="5400" b="true">
                <a:solidFill>
                  <a:srgbClr val="2E7D32"/>
                </a:solidFill>
                <a:latin typeface="Arimo Bold"/>
                <a:ea typeface="Arimo Bold"/>
                <a:cs typeface="Arimo Bold"/>
                <a:sym typeface="Arimo Bold"/>
              </a:rPr>
              <a:t>+0.125</a:t>
            </a:r>
          </a:p>
        </p:txBody>
      </p:sp>
      <p:sp>
        <p:nvSpPr>
          <p:cNvPr name="TextBox 12" id="12"/>
          <p:cNvSpPr txBox="true"/>
          <p:nvPr/>
        </p:nvSpPr>
        <p:spPr>
          <a:xfrm rot="0">
            <a:off x="12573000" y="5543550"/>
            <a:ext cx="4095750" cy="299085"/>
          </a:xfrm>
          <a:prstGeom prst="rect">
            <a:avLst/>
          </a:prstGeom>
        </p:spPr>
        <p:txBody>
          <a:bodyPr anchor="t" rtlCol="false" tIns="0" lIns="0" bIns="0" rIns="0">
            <a:spAutoFit/>
          </a:bodyPr>
          <a:lstStyle/>
          <a:p>
            <a:pPr algn="l">
              <a:lnSpc>
                <a:spcPts val="2430"/>
              </a:lnSpc>
            </a:pPr>
            <a:r>
              <a:rPr lang="en-US" sz="1800">
                <a:solidFill>
                  <a:srgbClr val="17212B"/>
                </a:solidFill>
                <a:latin typeface="Aptos"/>
                <a:ea typeface="Aptos"/>
                <a:cs typeface="Aptos"/>
                <a:sym typeface="Aptos"/>
              </a:rPr>
              <a:t>accuracy gain</a:t>
            </a:r>
          </a:p>
        </p:txBody>
      </p:sp>
      <p:sp>
        <p:nvSpPr>
          <p:cNvPr name="TextBox 13" id="13"/>
          <p:cNvSpPr txBox="true"/>
          <p:nvPr/>
        </p:nvSpPr>
        <p:spPr>
          <a:xfrm rot="0">
            <a:off x="12573000" y="6619875"/>
            <a:ext cx="4095750" cy="769620"/>
          </a:xfrm>
          <a:prstGeom prst="rect">
            <a:avLst/>
          </a:prstGeom>
        </p:spPr>
        <p:txBody>
          <a:bodyPr anchor="t" rtlCol="false" tIns="0" lIns="0" bIns="0" rIns="0">
            <a:spAutoFit/>
          </a:bodyPr>
          <a:lstStyle/>
          <a:p>
            <a:pPr algn="l">
              <a:lnSpc>
                <a:spcPts val="5670"/>
              </a:lnSpc>
            </a:pPr>
            <a:r>
              <a:rPr lang="en-US" sz="5400" b="true">
                <a:solidFill>
                  <a:srgbClr val="2E7D32"/>
                </a:solidFill>
                <a:latin typeface="Arimo Bold"/>
                <a:ea typeface="Arimo Bold"/>
                <a:cs typeface="Arimo Bold"/>
                <a:sym typeface="Arimo Bold"/>
              </a:rPr>
              <a:t>+0.090</a:t>
            </a:r>
          </a:p>
        </p:txBody>
      </p:sp>
      <p:sp>
        <p:nvSpPr>
          <p:cNvPr name="TextBox 14" id="14"/>
          <p:cNvSpPr txBox="true"/>
          <p:nvPr/>
        </p:nvSpPr>
        <p:spPr>
          <a:xfrm rot="0">
            <a:off x="12573000" y="7353300"/>
            <a:ext cx="4095750" cy="299085"/>
          </a:xfrm>
          <a:prstGeom prst="rect">
            <a:avLst/>
          </a:prstGeom>
        </p:spPr>
        <p:txBody>
          <a:bodyPr anchor="t" rtlCol="false" tIns="0" lIns="0" bIns="0" rIns="0">
            <a:spAutoFit/>
          </a:bodyPr>
          <a:lstStyle/>
          <a:p>
            <a:pPr algn="l">
              <a:lnSpc>
                <a:spcPts val="2430"/>
              </a:lnSpc>
            </a:pPr>
            <a:r>
              <a:rPr lang="en-US" sz="1800">
                <a:solidFill>
                  <a:srgbClr val="17212B"/>
                </a:solidFill>
                <a:latin typeface="Aptos"/>
                <a:ea typeface="Aptos"/>
                <a:cs typeface="Aptos"/>
                <a:sym typeface="Aptos"/>
              </a:rPr>
              <a:t>Macro F1 gain</a:t>
            </a:r>
          </a:p>
        </p:txBody>
      </p:sp>
      <p:sp>
        <p:nvSpPr>
          <p:cNvPr name="TextBox 15" id="15"/>
          <p:cNvSpPr txBox="true"/>
          <p:nvPr/>
        </p:nvSpPr>
        <p:spPr>
          <a:xfrm rot="0">
            <a:off x="914400" y="9734550"/>
            <a:ext cx="13811250" cy="232410"/>
          </a:xfrm>
          <a:prstGeom prst="rect">
            <a:avLst/>
          </a:prstGeom>
        </p:spPr>
        <p:txBody>
          <a:bodyPr anchor="t" rtlCol="false" tIns="0" lIns="0" bIns="0" rIns="0">
            <a:spAutoFit/>
          </a:bodyPr>
          <a:lstStyle/>
          <a:p>
            <a:pPr algn="l">
              <a:lnSpc>
                <a:spcPts val="1889"/>
              </a:lnSpc>
            </a:pPr>
            <a:r>
              <a:rPr lang="en-US" sz="1350" spc="108" b="true">
                <a:solidFill>
                  <a:srgbClr val="1F4E79"/>
                </a:solidFill>
                <a:latin typeface="Aptos Bold"/>
                <a:ea typeface="Aptos Bold"/>
                <a:cs typeface="Aptos Bold"/>
                <a:sym typeface="Aptos Bold"/>
              </a:rPr>
              <a:t>BCA FINAL-YEAR DEFENSE  •  XAVIER INTERNATIONAL COLLEGE</a:t>
            </a:r>
          </a:p>
        </p:txBody>
      </p:sp>
      <p:sp>
        <p:nvSpPr>
          <p:cNvPr name="TextBox 16" id="16"/>
          <p:cNvSpPr txBox="true"/>
          <p:nvPr/>
        </p:nvSpPr>
        <p:spPr>
          <a:xfrm rot="0">
            <a:off x="16478250" y="9734550"/>
            <a:ext cx="857250" cy="232410"/>
          </a:xfrm>
          <a:prstGeom prst="rect">
            <a:avLst/>
          </a:prstGeom>
        </p:spPr>
        <p:txBody>
          <a:bodyPr anchor="t" rtlCol="false" tIns="0" lIns="0" bIns="0" rIns="0">
            <a:spAutoFit/>
          </a:bodyPr>
          <a:lstStyle/>
          <a:p>
            <a:pPr algn="r">
              <a:lnSpc>
                <a:spcPts val="1889"/>
              </a:lnSpc>
            </a:pPr>
            <a:r>
              <a:rPr lang="en-US" b="true" sz="1350" spc="108">
                <a:solidFill>
                  <a:srgbClr val="1F4E79"/>
                </a:solidFill>
                <a:latin typeface="Aptos Bold"/>
                <a:ea typeface="Aptos Bold"/>
                <a:cs typeface="Aptos Bold"/>
                <a:sym typeface="Aptos Bold"/>
              </a:rPr>
              <a:t>12</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14400" y="476250"/>
            <a:ext cx="16459200" cy="733425"/>
            <a:chOff x="0" y="0"/>
            <a:chExt cx="21945600" cy="977900"/>
          </a:xfrm>
        </p:grpSpPr>
        <p:sp>
          <p:nvSpPr>
            <p:cNvPr name="TextBox 3" id="3"/>
            <p:cNvSpPr txBox="true"/>
            <p:nvPr/>
          </p:nvSpPr>
          <p:spPr>
            <a:xfrm rot="0">
              <a:off x="0" y="38100"/>
              <a:ext cx="1016000" cy="363220"/>
            </a:xfrm>
            <a:prstGeom prst="rect">
              <a:avLst/>
            </a:prstGeom>
          </p:spPr>
          <p:txBody>
            <a:bodyPr anchor="t" rtlCol="false" tIns="0" lIns="0" bIns="0" rIns="0">
              <a:spAutoFit/>
            </a:bodyPr>
            <a:lstStyle/>
            <a:p>
              <a:pPr algn="l">
                <a:lnSpc>
                  <a:spcPts val="2310"/>
                </a:lnSpc>
              </a:pPr>
              <a:r>
                <a:rPr lang="en-US" sz="1650" spc="132" b="true">
                  <a:solidFill>
                    <a:srgbClr val="1F4E79"/>
                  </a:solidFill>
                  <a:latin typeface="Aptos Bold"/>
                  <a:ea typeface="Aptos Bold"/>
                  <a:cs typeface="Aptos Bold"/>
                  <a:sym typeface="Aptos Bold"/>
                </a:rPr>
                <a:t>11</a:t>
              </a:r>
            </a:p>
          </p:txBody>
        </p:sp>
        <p:sp>
          <p:nvSpPr>
            <p:cNvPr name="TextBox 4" id="4"/>
            <p:cNvSpPr txBox="true"/>
            <p:nvPr/>
          </p:nvSpPr>
          <p:spPr>
            <a:xfrm rot="0">
              <a:off x="1066800" y="28575"/>
              <a:ext cx="19050000" cy="668655"/>
            </a:xfrm>
            <a:prstGeom prst="rect">
              <a:avLst/>
            </a:prstGeom>
          </p:spPr>
          <p:txBody>
            <a:bodyPr anchor="t" rtlCol="false" tIns="0" lIns="0" bIns="0" rIns="0">
              <a:spAutoFit/>
            </a:bodyPr>
            <a:lstStyle/>
            <a:p>
              <a:pPr algn="l">
                <a:lnSpc>
                  <a:spcPts val="3622"/>
                </a:lnSpc>
              </a:pPr>
              <a:r>
                <a:rPr lang="en-US" sz="3450" b="true">
                  <a:solidFill>
                    <a:srgbClr val="1F4E79"/>
                  </a:solidFill>
                  <a:latin typeface="Arimo Bold"/>
                  <a:ea typeface="Arimo Bold"/>
                  <a:cs typeface="Arimo Bold"/>
                  <a:sym typeface="Arimo Bold"/>
                </a:rPr>
                <a:t>Synthetic Pipeline Validation (Validation Only)</a:t>
              </a:r>
            </a:p>
          </p:txBody>
        </p:sp>
        <p:sp>
          <p:nvSpPr>
            <p:cNvPr name="AutoShape 5" id="5"/>
            <p:cNvSpPr/>
            <p:nvPr/>
          </p:nvSpPr>
          <p:spPr>
            <a:xfrm>
              <a:off x="0" y="965200"/>
              <a:ext cx="21945600" cy="0"/>
            </a:xfrm>
            <a:prstGeom prst="line">
              <a:avLst/>
            </a:prstGeom>
            <a:ln cap="flat" w="25400">
              <a:solidFill>
                <a:srgbClr val="D9E1E8"/>
              </a:solidFill>
              <a:prstDash val="solid"/>
              <a:headEnd type="none" len="sm" w="sm"/>
              <a:tailEnd type="none" len="sm" w="sm"/>
            </a:ln>
          </p:spPr>
        </p:sp>
      </p:grpSp>
      <p:grpSp>
        <p:nvGrpSpPr>
          <p:cNvPr name="Group 6" id="6"/>
          <p:cNvGrpSpPr/>
          <p:nvPr/>
        </p:nvGrpSpPr>
        <p:grpSpPr>
          <a:xfrm rot="0">
            <a:off x="952500" y="3619500"/>
            <a:ext cx="4095750" cy="2667000"/>
            <a:chOff x="0" y="0"/>
            <a:chExt cx="5461000" cy="3556000"/>
          </a:xfrm>
        </p:grpSpPr>
        <p:sp>
          <p:nvSpPr>
            <p:cNvPr name="Freeform 7" id="7"/>
            <p:cNvSpPr/>
            <p:nvPr/>
          </p:nvSpPr>
          <p:spPr>
            <a:xfrm flipH="false" flipV="false" rot="0">
              <a:off x="0" y="0"/>
              <a:ext cx="5461000" cy="3556000"/>
            </a:xfrm>
            <a:custGeom>
              <a:avLst/>
              <a:gdLst/>
              <a:ahLst/>
              <a:cxnLst/>
              <a:rect r="r" b="b" t="t" l="l"/>
              <a:pathLst>
                <a:path h="3556000" w="5461000">
                  <a:moveTo>
                    <a:pt x="0" y="0"/>
                  </a:moveTo>
                  <a:lnTo>
                    <a:pt x="5461000" y="0"/>
                  </a:lnTo>
                  <a:lnTo>
                    <a:pt x="5461000" y="3556000"/>
                  </a:lnTo>
                  <a:lnTo>
                    <a:pt x="0" y="3556000"/>
                  </a:lnTo>
                  <a:close/>
                </a:path>
              </a:pathLst>
            </a:custGeom>
            <a:solidFill>
              <a:srgbClr val="FFF0F0"/>
            </a:solidFill>
            <a:ln cap="sq">
              <a:noFill/>
              <a:prstDash val="solid"/>
              <a:miter/>
            </a:ln>
          </p:spPr>
        </p:sp>
        <p:sp>
          <p:nvSpPr>
            <p:cNvPr name="TextBox 8" id="8"/>
            <p:cNvSpPr txBox="true"/>
            <p:nvPr/>
          </p:nvSpPr>
          <p:spPr>
            <a:xfrm>
              <a:off x="0" y="-38100"/>
              <a:ext cx="5461000" cy="3594100"/>
            </a:xfrm>
            <a:prstGeom prst="rect">
              <a:avLst/>
            </a:prstGeom>
          </p:spPr>
          <p:txBody>
            <a:bodyPr anchor="ctr" rtlCol="false" tIns="50800" lIns="50800" bIns="50800" rIns="50800"/>
            <a:lstStyle/>
            <a:p>
              <a:pPr algn="l">
                <a:lnSpc>
                  <a:spcPts val="1679"/>
                </a:lnSpc>
              </a:pPr>
            </a:p>
          </p:txBody>
        </p:sp>
      </p:grpSp>
      <p:grpSp>
        <p:nvGrpSpPr>
          <p:cNvPr name="Group 9" id="9"/>
          <p:cNvGrpSpPr/>
          <p:nvPr/>
        </p:nvGrpSpPr>
        <p:grpSpPr>
          <a:xfrm rot="0">
            <a:off x="7096125" y="3619500"/>
            <a:ext cx="4095750" cy="2667000"/>
            <a:chOff x="0" y="0"/>
            <a:chExt cx="5461000" cy="3556000"/>
          </a:xfrm>
        </p:grpSpPr>
        <p:sp>
          <p:nvSpPr>
            <p:cNvPr name="Freeform 10" id="10"/>
            <p:cNvSpPr/>
            <p:nvPr/>
          </p:nvSpPr>
          <p:spPr>
            <a:xfrm flipH="false" flipV="false" rot="0">
              <a:off x="0" y="0"/>
              <a:ext cx="5461000" cy="3556000"/>
            </a:xfrm>
            <a:custGeom>
              <a:avLst/>
              <a:gdLst/>
              <a:ahLst/>
              <a:cxnLst/>
              <a:rect r="r" b="b" t="t" l="l"/>
              <a:pathLst>
                <a:path h="3556000" w="5461000">
                  <a:moveTo>
                    <a:pt x="0" y="0"/>
                  </a:moveTo>
                  <a:lnTo>
                    <a:pt x="5461000" y="0"/>
                  </a:lnTo>
                  <a:lnTo>
                    <a:pt x="5461000" y="3556000"/>
                  </a:lnTo>
                  <a:lnTo>
                    <a:pt x="0" y="3556000"/>
                  </a:lnTo>
                  <a:close/>
                </a:path>
              </a:pathLst>
            </a:custGeom>
            <a:solidFill>
              <a:srgbClr val="EDF6EE"/>
            </a:solidFill>
            <a:ln cap="sq">
              <a:noFill/>
              <a:prstDash val="solid"/>
              <a:miter/>
            </a:ln>
          </p:spPr>
        </p:sp>
        <p:sp>
          <p:nvSpPr>
            <p:cNvPr name="TextBox 11" id="11"/>
            <p:cNvSpPr txBox="true"/>
            <p:nvPr/>
          </p:nvSpPr>
          <p:spPr>
            <a:xfrm>
              <a:off x="0" y="-38100"/>
              <a:ext cx="5461000" cy="3594100"/>
            </a:xfrm>
            <a:prstGeom prst="rect">
              <a:avLst/>
            </a:prstGeom>
          </p:spPr>
          <p:txBody>
            <a:bodyPr anchor="ctr" rtlCol="false" tIns="50800" lIns="50800" bIns="50800" rIns="50800"/>
            <a:lstStyle/>
            <a:p>
              <a:pPr algn="l">
                <a:lnSpc>
                  <a:spcPts val="1679"/>
                </a:lnSpc>
              </a:pPr>
            </a:p>
          </p:txBody>
        </p:sp>
      </p:grpSp>
      <p:grpSp>
        <p:nvGrpSpPr>
          <p:cNvPr name="Group 12" id="12"/>
          <p:cNvGrpSpPr/>
          <p:nvPr/>
        </p:nvGrpSpPr>
        <p:grpSpPr>
          <a:xfrm rot="0">
            <a:off x="13239750" y="3619500"/>
            <a:ext cx="4095750" cy="2667000"/>
            <a:chOff x="0" y="0"/>
            <a:chExt cx="5461000" cy="3556000"/>
          </a:xfrm>
        </p:grpSpPr>
        <p:sp>
          <p:nvSpPr>
            <p:cNvPr name="Freeform 13" id="13"/>
            <p:cNvSpPr/>
            <p:nvPr/>
          </p:nvSpPr>
          <p:spPr>
            <a:xfrm flipH="false" flipV="false" rot="0">
              <a:off x="0" y="0"/>
              <a:ext cx="5461000" cy="3556000"/>
            </a:xfrm>
            <a:custGeom>
              <a:avLst/>
              <a:gdLst/>
              <a:ahLst/>
              <a:cxnLst/>
              <a:rect r="r" b="b" t="t" l="l"/>
              <a:pathLst>
                <a:path h="3556000" w="5461000">
                  <a:moveTo>
                    <a:pt x="0" y="0"/>
                  </a:moveTo>
                  <a:lnTo>
                    <a:pt x="5461000" y="0"/>
                  </a:lnTo>
                  <a:lnTo>
                    <a:pt x="5461000" y="3556000"/>
                  </a:lnTo>
                  <a:lnTo>
                    <a:pt x="0" y="3556000"/>
                  </a:lnTo>
                  <a:close/>
                </a:path>
              </a:pathLst>
            </a:custGeom>
            <a:solidFill>
              <a:srgbClr val="EEEEEE"/>
            </a:solidFill>
            <a:ln cap="sq">
              <a:noFill/>
              <a:prstDash val="solid"/>
              <a:miter/>
            </a:ln>
          </p:spPr>
        </p:sp>
        <p:sp>
          <p:nvSpPr>
            <p:cNvPr name="TextBox 14" id="14"/>
            <p:cNvSpPr txBox="true"/>
            <p:nvPr/>
          </p:nvSpPr>
          <p:spPr>
            <a:xfrm>
              <a:off x="0" y="-38100"/>
              <a:ext cx="5461000" cy="3594100"/>
            </a:xfrm>
            <a:prstGeom prst="rect">
              <a:avLst/>
            </a:prstGeom>
          </p:spPr>
          <p:txBody>
            <a:bodyPr anchor="ctr" rtlCol="false" tIns="50800" lIns="50800" bIns="50800" rIns="50800"/>
            <a:lstStyle/>
            <a:p>
              <a:pPr algn="l">
                <a:lnSpc>
                  <a:spcPts val="1679"/>
                </a:lnSpc>
              </a:pPr>
            </a:p>
          </p:txBody>
        </p:sp>
      </p:grpSp>
      <p:sp>
        <p:nvSpPr>
          <p:cNvPr name="AutoShape 15" id="15"/>
          <p:cNvSpPr/>
          <p:nvPr/>
        </p:nvSpPr>
        <p:spPr>
          <a:xfrm>
            <a:off x="5048250" y="4953000"/>
            <a:ext cx="2047875" cy="0"/>
          </a:xfrm>
          <a:prstGeom prst="line">
            <a:avLst/>
          </a:prstGeom>
          <a:ln cap="flat" w="38100">
            <a:solidFill>
              <a:srgbClr val="999999"/>
            </a:solidFill>
            <a:prstDash val="solid"/>
            <a:headEnd type="none" len="sm" w="sm"/>
            <a:tailEnd type="none" len="sm" w="sm"/>
          </a:ln>
        </p:spPr>
      </p:sp>
      <p:sp>
        <p:nvSpPr>
          <p:cNvPr name="AutoShape 16" id="16"/>
          <p:cNvSpPr/>
          <p:nvPr/>
        </p:nvSpPr>
        <p:spPr>
          <a:xfrm>
            <a:off x="11191875" y="4953000"/>
            <a:ext cx="2047875" cy="0"/>
          </a:xfrm>
          <a:prstGeom prst="line">
            <a:avLst/>
          </a:prstGeom>
          <a:ln cap="flat" w="38100">
            <a:solidFill>
              <a:srgbClr val="999999"/>
            </a:solidFill>
            <a:prstDash val="solid"/>
            <a:headEnd type="none" len="sm" w="sm"/>
            <a:tailEnd type="none" len="sm" w="sm"/>
          </a:ln>
        </p:spPr>
      </p:sp>
      <p:sp>
        <p:nvSpPr>
          <p:cNvPr name="TextBox 17" id="17"/>
          <p:cNvSpPr txBox="true"/>
          <p:nvPr/>
        </p:nvSpPr>
        <p:spPr>
          <a:xfrm rot="0">
            <a:off x="914400" y="1485900"/>
            <a:ext cx="6191250" cy="281940"/>
          </a:xfrm>
          <a:prstGeom prst="rect">
            <a:avLst/>
          </a:prstGeom>
        </p:spPr>
        <p:txBody>
          <a:bodyPr anchor="t" rtlCol="false" tIns="0" lIns="0" bIns="0" rIns="0">
            <a:spAutoFit/>
          </a:bodyPr>
          <a:lstStyle/>
          <a:p>
            <a:pPr algn="l">
              <a:lnSpc>
                <a:spcPts val="2310"/>
              </a:lnSpc>
            </a:pPr>
            <a:r>
              <a:rPr lang="en-US" sz="1650" spc="132" b="true">
                <a:solidFill>
                  <a:srgbClr val="D62728"/>
                </a:solidFill>
                <a:latin typeface="Aptos Bold"/>
                <a:ea typeface="Aptos Bold"/>
                <a:cs typeface="Aptos Bold"/>
                <a:sym typeface="Aptos Bold"/>
              </a:rPr>
              <a:t>LLM-GENERATED SYNTHETIC DATA</a:t>
            </a:r>
          </a:p>
        </p:txBody>
      </p:sp>
      <p:sp>
        <p:nvSpPr>
          <p:cNvPr name="TextBox 18" id="18"/>
          <p:cNvSpPr txBox="true"/>
          <p:nvPr/>
        </p:nvSpPr>
        <p:spPr>
          <a:xfrm rot="0">
            <a:off x="914400" y="2028825"/>
            <a:ext cx="10001250" cy="992505"/>
          </a:xfrm>
          <a:prstGeom prst="rect">
            <a:avLst/>
          </a:prstGeom>
        </p:spPr>
        <p:txBody>
          <a:bodyPr anchor="t" rtlCol="false" tIns="0" lIns="0" bIns="0" rIns="0">
            <a:spAutoFit/>
          </a:bodyPr>
          <a:lstStyle/>
          <a:p>
            <a:pPr algn="l">
              <a:lnSpc>
                <a:spcPts val="3780"/>
              </a:lnSpc>
            </a:pPr>
            <a:r>
              <a:rPr lang="en-US" sz="3600" b="true">
                <a:solidFill>
                  <a:srgbClr val="1F4E79"/>
                </a:solidFill>
                <a:latin typeface="Arimo Bold"/>
                <a:ea typeface="Arimo Bold"/>
                <a:cs typeface="Arimo Bold"/>
                <a:sym typeface="Arimo Bold"/>
              </a:rPr>
              <a:t>Methodological flaw — or insufficient sample size?</a:t>
            </a:r>
          </a:p>
        </p:txBody>
      </p:sp>
      <p:sp>
        <p:nvSpPr>
          <p:cNvPr name="TextBox 19" id="19"/>
          <p:cNvSpPr txBox="true"/>
          <p:nvPr/>
        </p:nvSpPr>
        <p:spPr>
          <a:xfrm rot="0">
            <a:off x="1143000" y="3876675"/>
            <a:ext cx="3714750" cy="1358265"/>
          </a:xfrm>
          <a:prstGeom prst="rect">
            <a:avLst/>
          </a:prstGeom>
        </p:spPr>
        <p:txBody>
          <a:bodyPr anchor="t" rtlCol="false" tIns="0" lIns="0" bIns="0" rIns="0">
            <a:spAutoFit/>
          </a:bodyPr>
          <a:lstStyle/>
          <a:p>
            <a:pPr algn="ctr">
              <a:lnSpc>
                <a:spcPts val="3465"/>
              </a:lnSpc>
            </a:pPr>
            <a:r>
              <a:rPr lang="en-US" sz="3300" b="true">
                <a:solidFill>
                  <a:srgbClr val="D62728"/>
                </a:solidFill>
                <a:latin typeface="Arimo Bold"/>
                <a:ea typeface="Arimo Bold"/>
                <a:cs typeface="Arimo Bold"/>
                <a:sym typeface="Arimo Bold"/>
              </a:rPr>
              <a:t>REAL</a:t>
            </a:r>
          </a:p>
          <a:p>
            <a:pPr algn="ctr">
              <a:lnSpc>
                <a:spcPts val="3465"/>
              </a:lnSpc>
            </a:pPr>
            <a:r>
              <a:rPr lang="en-US" sz="3300" b="true">
                <a:solidFill>
                  <a:srgbClr val="D62728"/>
                </a:solidFill>
                <a:latin typeface="Arimo Bold"/>
                <a:ea typeface="Arimo Bold"/>
                <a:cs typeface="Arimo Bold"/>
                <a:sym typeface="Arimo Bold"/>
              </a:rPr>
              <a:t>n=31</a:t>
            </a:r>
          </a:p>
          <a:p>
            <a:pPr algn="ctr">
              <a:lnSpc>
                <a:spcPts val="3465"/>
              </a:lnSpc>
            </a:pPr>
            <a:r>
              <a:rPr lang="en-US" sz="3300" b="true">
                <a:solidFill>
                  <a:srgbClr val="D62728"/>
                </a:solidFill>
                <a:latin typeface="Arimo Bold"/>
                <a:ea typeface="Arimo Bold"/>
                <a:cs typeface="Arimo Bold"/>
                <a:sym typeface="Arimo Bold"/>
              </a:rPr>
              <a:t>F1 0.267</a:t>
            </a:r>
          </a:p>
        </p:txBody>
      </p:sp>
      <p:sp>
        <p:nvSpPr>
          <p:cNvPr name="TextBox 20" id="20"/>
          <p:cNvSpPr txBox="true"/>
          <p:nvPr/>
        </p:nvSpPr>
        <p:spPr>
          <a:xfrm rot="0">
            <a:off x="7286625" y="3876675"/>
            <a:ext cx="3714750" cy="920115"/>
          </a:xfrm>
          <a:prstGeom prst="rect">
            <a:avLst/>
          </a:prstGeom>
        </p:spPr>
        <p:txBody>
          <a:bodyPr anchor="t" rtlCol="false" tIns="0" lIns="0" bIns="0" rIns="0">
            <a:spAutoFit/>
          </a:bodyPr>
          <a:lstStyle/>
          <a:p>
            <a:pPr algn="ctr">
              <a:lnSpc>
                <a:spcPts val="3465"/>
              </a:lnSpc>
            </a:pPr>
            <a:r>
              <a:rPr lang="en-US" sz="3300" b="true">
                <a:solidFill>
                  <a:srgbClr val="2E7D32"/>
                </a:solidFill>
                <a:latin typeface="Arimo Bold"/>
                <a:ea typeface="Arimo Bold"/>
                <a:cs typeface="Arimo Bold"/>
                <a:sym typeface="Arimo Bold"/>
              </a:rPr>
              <a:t>SYNTHETIC</a:t>
            </a:r>
          </a:p>
          <a:p>
            <a:pPr algn="ctr">
              <a:lnSpc>
                <a:spcPts val="3465"/>
              </a:lnSpc>
            </a:pPr>
            <a:r>
              <a:rPr lang="en-US" sz="3300" b="true">
                <a:solidFill>
                  <a:srgbClr val="2E7D32"/>
                </a:solidFill>
                <a:latin typeface="Arimo Bold"/>
                <a:ea typeface="Arimo Bold"/>
                <a:cs typeface="Arimo Bold"/>
                <a:sym typeface="Arimo Bold"/>
              </a:rPr>
              <a:t>n=800</a:t>
            </a:r>
          </a:p>
        </p:txBody>
      </p:sp>
      <p:sp>
        <p:nvSpPr>
          <p:cNvPr name="TextBox 21" id="21"/>
          <p:cNvSpPr txBox="true"/>
          <p:nvPr/>
        </p:nvSpPr>
        <p:spPr>
          <a:xfrm rot="0">
            <a:off x="13430250" y="3886200"/>
            <a:ext cx="3714750" cy="686753"/>
          </a:xfrm>
          <a:prstGeom prst="rect">
            <a:avLst/>
          </a:prstGeom>
        </p:spPr>
        <p:txBody>
          <a:bodyPr anchor="t" rtlCol="false" tIns="0" lIns="0" bIns="0" rIns="0">
            <a:spAutoFit/>
          </a:bodyPr>
          <a:lstStyle/>
          <a:p>
            <a:pPr algn="ctr">
              <a:lnSpc>
                <a:spcPts val="2677"/>
              </a:lnSpc>
            </a:pPr>
            <a:r>
              <a:rPr lang="en-US" sz="2550" b="true">
                <a:solidFill>
                  <a:srgbClr val="999999"/>
                </a:solidFill>
                <a:latin typeface="Arimo Bold"/>
                <a:ea typeface="Arimo Bold"/>
                <a:cs typeface="Arimo Bold"/>
                <a:sym typeface="Arimo Bold"/>
              </a:rPr>
              <a:t>DELTA</a:t>
            </a:r>
          </a:p>
          <a:p>
            <a:pPr algn="ctr">
              <a:lnSpc>
                <a:spcPts val="2677"/>
              </a:lnSpc>
            </a:pPr>
            <a:r>
              <a:rPr lang="en-US" sz="2550" b="true">
                <a:solidFill>
                  <a:srgbClr val="999999"/>
                </a:solidFill>
                <a:latin typeface="Arimo Bold"/>
                <a:ea typeface="Arimo Bold"/>
                <a:cs typeface="Arimo Bold"/>
                <a:sym typeface="Arimo Bold"/>
              </a:rPr>
              <a:t>reported comparison</a:t>
            </a:r>
          </a:p>
        </p:txBody>
      </p:sp>
      <p:sp>
        <p:nvSpPr>
          <p:cNvPr name="TextBox 22" id="22"/>
          <p:cNvSpPr txBox="true"/>
          <p:nvPr/>
        </p:nvSpPr>
        <p:spPr>
          <a:xfrm rot="0">
            <a:off x="1905000" y="7210425"/>
            <a:ext cx="14478000" cy="1018699"/>
          </a:xfrm>
          <a:prstGeom prst="rect">
            <a:avLst/>
          </a:prstGeom>
        </p:spPr>
        <p:txBody>
          <a:bodyPr anchor="t" rtlCol="false" tIns="0" lIns="0" bIns="0" rIns="0">
            <a:spAutoFit/>
          </a:bodyPr>
          <a:lstStyle/>
          <a:p>
            <a:pPr algn="ctr">
              <a:lnSpc>
                <a:spcPts val="2733"/>
              </a:lnSpc>
            </a:pPr>
            <a:r>
              <a:rPr lang="en-US" sz="2025">
                <a:solidFill>
                  <a:srgbClr val="17212B"/>
                </a:solidFill>
                <a:latin typeface="Aptos"/>
                <a:ea typeface="Aptos"/>
                <a:cs typeface="Aptos"/>
                <a:sym typeface="Aptos"/>
              </a:rPr>
              <a:t>Synthetic dataset: 1,000 rows  •  35 columns  •  Data_Source = Synthetic</a:t>
            </a:r>
          </a:p>
          <a:p>
            <a:pPr algn="ctr">
              <a:lnSpc>
                <a:spcPts val="2733"/>
              </a:lnSpc>
            </a:pPr>
            <a:r>
              <a:rPr lang="en-US" sz="2025">
                <a:solidFill>
                  <a:srgbClr val="17212B"/>
                </a:solidFill>
                <a:latin typeface="Aptos"/>
                <a:ea typeface="Aptos"/>
                <a:cs typeface="Aptos"/>
                <a:sym typeface="Aptos"/>
              </a:rPr>
              <a:t>Classes: Low 332  •  Moderate 342  •  High 326  •  Train 800 / Test 200</a:t>
            </a:r>
          </a:p>
          <a:p>
            <a:pPr algn="ctr">
              <a:lnSpc>
                <a:spcPts val="2733"/>
              </a:lnSpc>
            </a:pPr>
            <a:r>
              <a:rPr lang="en-US" sz="2025">
                <a:solidFill>
                  <a:srgbClr val="17212B"/>
                </a:solidFill>
                <a:latin typeface="Aptos"/>
                <a:ea typeface="Aptos"/>
                <a:cs typeface="Aptos"/>
                <a:sym typeface="Aptos"/>
              </a:rPr>
              <a:t>Synthetic best model: Random Forest</a:t>
            </a:r>
          </a:p>
        </p:txBody>
      </p:sp>
      <p:sp>
        <p:nvSpPr>
          <p:cNvPr name="TextBox 23" id="23"/>
          <p:cNvSpPr txBox="true"/>
          <p:nvPr/>
        </p:nvSpPr>
        <p:spPr>
          <a:xfrm rot="0">
            <a:off x="914400" y="9734550"/>
            <a:ext cx="13811250" cy="232410"/>
          </a:xfrm>
          <a:prstGeom prst="rect">
            <a:avLst/>
          </a:prstGeom>
        </p:spPr>
        <p:txBody>
          <a:bodyPr anchor="t" rtlCol="false" tIns="0" lIns="0" bIns="0" rIns="0">
            <a:spAutoFit/>
          </a:bodyPr>
          <a:lstStyle/>
          <a:p>
            <a:pPr algn="l">
              <a:lnSpc>
                <a:spcPts val="1889"/>
              </a:lnSpc>
            </a:pPr>
            <a:r>
              <a:rPr lang="en-US" sz="1350" spc="108" b="true">
                <a:solidFill>
                  <a:srgbClr val="1F4E79"/>
                </a:solidFill>
                <a:latin typeface="Aptos Bold"/>
                <a:ea typeface="Aptos Bold"/>
                <a:cs typeface="Aptos Bold"/>
                <a:sym typeface="Aptos Bold"/>
              </a:rPr>
              <a:t>BCA FINAL-YEAR DEFENSE  •  XAVIER INTERNATIONAL COLLEGE</a:t>
            </a:r>
          </a:p>
        </p:txBody>
      </p:sp>
      <p:sp>
        <p:nvSpPr>
          <p:cNvPr name="TextBox 24" id="24"/>
          <p:cNvSpPr txBox="true"/>
          <p:nvPr/>
        </p:nvSpPr>
        <p:spPr>
          <a:xfrm rot="0">
            <a:off x="16478250" y="9734550"/>
            <a:ext cx="857250" cy="232410"/>
          </a:xfrm>
          <a:prstGeom prst="rect">
            <a:avLst/>
          </a:prstGeom>
        </p:spPr>
        <p:txBody>
          <a:bodyPr anchor="t" rtlCol="false" tIns="0" lIns="0" bIns="0" rIns="0">
            <a:spAutoFit/>
          </a:bodyPr>
          <a:lstStyle/>
          <a:p>
            <a:pPr algn="r">
              <a:lnSpc>
                <a:spcPts val="1889"/>
              </a:lnSpc>
            </a:pPr>
            <a:r>
              <a:rPr lang="en-US" b="true" sz="1350" spc="108">
                <a:solidFill>
                  <a:srgbClr val="1F4E79"/>
                </a:solidFill>
                <a:latin typeface="Aptos Bold"/>
                <a:ea typeface="Aptos Bold"/>
                <a:cs typeface="Aptos Bold"/>
                <a:sym typeface="Aptos Bold"/>
              </a:rPr>
              <a:t>13</a:t>
            </a:r>
          </a:p>
        </p:txBody>
      </p:sp>
      <p:sp>
        <p:nvSpPr>
          <p:cNvPr name="TextBox 25" id="25"/>
          <p:cNvSpPr txBox="true"/>
          <p:nvPr/>
        </p:nvSpPr>
        <p:spPr>
          <a:xfrm rot="0">
            <a:off x="13544550" y="5018722"/>
            <a:ext cx="3714750" cy="686753"/>
          </a:xfrm>
          <a:prstGeom prst="rect">
            <a:avLst/>
          </a:prstGeom>
        </p:spPr>
        <p:txBody>
          <a:bodyPr anchor="t" rtlCol="false" tIns="0" lIns="0" bIns="0" rIns="0">
            <a:spAutoFit/>
          </a:bodyPr>
          <a:lstStyle/>
          <a:p>
            <a:pPr algn="ctr">
              <a:lnSpc>
                <a:spcPts val="2677"/>
              </a:lnSpc>
            </a:pPr>
            <a:r>
              <a:rPr lang="en-US" sz="2550" b="true">
                <a:solidFill>
                  <a:srgbClr val="999999"/>
                </a:solidFill>
                <a:latin typeface="Arimo Bold"/>
                <a:ea typeface="Arimo Bold"/>
                <a:cs typeface="Arimo Bold"/>
                <a:sym typeface="Arimo Bold"/>
              </a:rPr>
              <a:t>+0.34 mean F1(0.366 → 0.701)</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476250"/>
            <a:ext cx="16459200" cy="733425"/>
            <a:chOff x="0" y="0"/>
            <a:chExt cx="21945600" cy="977900"/>
          </a:xfrm>
        </p:grpSpPr>
        <p:sp>
          <p:nvSpPr>
            <p:cNvPr name="TextBox 3" id="3"/>
            <p:cNvSpPr txBox="true"/>
            <p:nvPr/>
          </p:nvSpPr>
          <p:spPr>
            <a:xfrm rot="0">
              <a:off x="0" y="38100"/>
              <a:ext cx="1016000" cy="363220"/>
            </a:xfrm>
            <a:prstGeom prst="rect">
              <a:avLst/>
            </a:prstGeom>
          </p:spPr>
          <p:txBody>
            <a:bodyPr anchor="t" rtlCol="false" tIns="0" lIns="0" bIns="0" rIns="0">
              <a:spAutoFit/>
            </a:bodyPr>
            <a:lstStyle/>
            <a:p>
              <a:pPr algn="l">
                <a:lnSpc>
                  <a:spcPts val="2310"/>
                </a:lnSpc>
              </a:pPr>
              <a:r>
                <a:rPr lang="en-US" sz="1650" spc="132" b="true">
                  <a:solidFill>
                    <a:srgbClr val="1F4E79"/>
                  </a:solidFill>
                  <a:latin typeface="Aptos Bold"/>
                  <a:ea typeface="Aptos Bold"/>
                  <a:cs typeface="Aptos Bold"/>
                  <a:sym typeface="Aptos Bold"/>
                </a:rPr>
                <a:t>12</a:t>
              </a:r>
            </a:p>
          </p:txBody>
        </p:sp>
        <p:sp>
          <p:nvSpPr>
            <p:cNvPr name="TextBox 4" id="4"/>
            <p:cNvSpPr txBox="true"/>
            <p:nvPr/>
          </p:nvSpPr>
          <p:spPr>
            <a:xfrm rot="0">
              <a:off x="1066800" y="28575"/>
              <a:ext cx="19050000" cy="668655"/>
            </a:xfrm>
            <a:prstGeom prst="rect">
              <a:avLst/>
            </a:prstGeom>
          </p:spPr>
          <p:txBody>
            <a:bodyPr anchor="t" rtlCol="false" tIns="0" lIns="0" bIns="0" rIns="0">
              <a:spAutoFit/>
            </a:bodyPr>
            <a:lstStyle/>
            <a:p>
              <a:pPr algn="l">
                <a:lnSpc>
                  <a:spcPts val="3622"/>
                </a:lnSpc>
              </a:pPr>
              <a:r>
                <a:rPr lang="en-US" sz="3450" b="true">
                  <a:solidFill>
                    <a:srgbClr val="1F4E79"/>
                  </a:solidFill>
                  <a:latin typeface="Arimo Bold"/>
                  <a:ea typeface="Arimo Bold"/>
                  <a:cs typeface="Arimo Bold"/>
                  <a:sym typeface="Arimo Bold"/>
                </a:rPr>
                <a:t>Explainability (SHAP) and Error Analysis</a:t>
              </a:r>
            </a:p>
          </p:txBody>
        </p:sp>
        <p:sp>
          <p:nvSpPr>
            <p:cNvPr name="AutoShape 5" id="5"/>
            <p:cNvSpPr/>
            <p:nvPr/>
          </p:nvSpPr>
          <p:spPr>
            <a:xfrm>
              <a:off x="0" y="965200"/>
              <a:ext cx="21945600" cy="0"/>
            </a:xfrm>
            <a:prstGeom prst="line">
              <a:avLst/>
            </a:prstGeom>
            <a:ln cap="flat" w="25400">
              <a:solidFill>
                <a:srgbClr val="D9E1E8"/>
              </a:solidFill>
              <a:prstDash val="solid"/>
              <a:headEnd type="none" len="sm" w="sm"/>
              <a:tailEnd type="none" len="sm" w="sm"/>
            </a:ln>
          </p:spPr>
        </p:sp>
      </p:grpSp>
      <p:grpSp>
        <p:nvGrpSpPr>
          <p:cNvPr name="Group 6" id="6"/>
          <p:cNvGrpSpPr/>
          <p:nvPr/>
        </p:nvGrpSpPr>
        <p:grpSpPr>
          <a:xfrm rot="0">
            <a:off x="11334750" y="1714500"/>
            <a:ext cx="5905500" cy="3632881"/>
            <a:chOff x="0" y="0"/>
            <a:chExt cx="7874000" cy="4843841"/>
          </a:xfrm>
        </p:grpSpPr>
        <p:sp>
          <p:nvSpPr>
            <p:cNvPr name="Freeform 7" id="7"/>
            <p:cNvSpPr/>
            <p:nvPr/>
          </p:nvSpPr>
          <p:spPr>
            <a:xfrm flipH="false" flipV="false" rot="0">
              <a:off x="0" y="0"/>
              <a:ext cx="7874000" cy="4843841"/>
            </a:xfrm>
            <a:custGeom>
              <a:avLst/>
              <a:gdLst/>
              <a:ahLst/>
              <a:cxnLst/>
              <a:rect r="r" b="b" t="t" l="l"/>
              <a:pathLst>
                <a:path h="4843841" w="7874000">
                  <a:moveTo>
                    <a:pt x="0" y="0"/>
                  </a:moveTo>
                  <a:lnTo>
                    <a:pt x="7874000" y="0"/>
                  </a:lnTo>
                  <a:lnTo>
                    <a:pt x="7874000" y="4843841"/>
                  </a:lnTo>
                  <a:lnTo>
                    <a:pt x="0" y="4843841"/>
                  </a:lnTo>
                  <a:close/>
                </a:path>
              </a:pathLst>
            </a:custGeom>
            <a:solidFill>
              <a:srgbClr val="EEF3F7"/>
            </a:solidFill>
            <a:ln cap="sq">
              <a:noFill/>
              <a:prstDash val="solid"/>
              <a:miter/>
            </a:ln>
          </p:spPr>
        </p:sp>
        <p:sp>
          <p:nvSpPr>
            <p:cNvPr name="TextBox 8" id="8"/>
            <p:cNvSpPr txBox="true"/>
            <p:nvPr/>
          </p:nvSpPr>
          <p:spPr>
            <a:xfrm>
              <a:off x="0" y="-38100"/>
              <a:ext cx="7874000" cy="4881941"/>
            </a:xfrm>
            <a:prstGeom prst="rect">
              <a:avLst/>
            </a:prstGeom>
          </p:spPr>
          <p:txBody>
            <a:bodyPr anchor="ctr" rtlCol="false" tIns="50800" lIns="50800" bIns="50800" rIns="50800"/>
            <a:lstStyle/>
            <a:p>
              <a:pPr algn="l">
                <a:lnSpc>
                  <a:spcPts val="1679"/>
                </a:lnSpc>
              </a:pPr>
            </a:p>
          </p:txBody>
        </p:sp>
      </p:grpSp>
      <p:sp>
        <p:nvSpPr>
          <p:cNvPr name="Freeform 9" id="9"/>
          <p:cNvSpPr/>
          <p:nvPr/>
        </p:nvSpPr>
        <p:spPr>
          <a:xfrm flipH="false" flipV="false" rot="0">
            <a:off x="1028700" y="2526971"/>
            <a:ext cx="8671305" cy="6731329"/>
          </a:xfrm>
          <a:custGeom>
            <a:avLst/>
            <a:gdLst/>
            <a:ahLst/>
            <a:cxnLst/>
            <a:rect r="r" b="b" t="t" l="l"/>
            <a:pathLst>
              <a:path h="6731329" w="8671305">
                <a:moveTo>
                  <a:pt x="0" y="0"/>
                </a:moveTo>
                <a:lnTo>
                  <a:pt x="8671305" y="0"/>
                </a:lnTo>
                <a:lnTo>
                  <a:pt x="8671305" y="6731329"/>
                </a:lnTo>
                <a:lnTo>
                  <a:pt x="0" y="6731329"/>
                </a:lnTo>
                <a:lnTo>
                  <a:pt x="0" y="0"/>
                </a:lnTo>
                <a:close/>
              </a:path>
            </a:pathLst>
          </a:custGeom>
          <a:blipFill>
            <a:blip r:embed="rId3"/>
            <a:stretch>
              <a:fillRect l="0" t="0" r="0" b="0"/>
            </a:stretch>
          </a:blipFill>
        </p:spPr>
      </p:sp>
      <p:sp>
        <p:nvSpPr>
          <p:cNvPr name="TextBox 10" id="10"/>
          <p:cNvSpPr txBox="true"/>
          <p:nvPr/>
        </p:nvSpPr>
        <p:spPr>
          <a:xfrm rot="0">
            <a:off x="952500" y="1533525"/>
            <a:ext cx="9048750" cy="657225"/>
          </a:xfrm>
          <a:prstGeom prst="rect">
            <a:avLst/>
          </a:prstGeom>
        </p:spPr>
        <p:txBody>
          <a:bodyPr anchor="t" rtlCol="false" tIns="0" lIns="0" bIns="0" rIns="0">
            <a:spAutoFit/>
          </a:bodyPr>
          <a:lstStyle/>
          <a:p>
            <a:pPr algn="l">
              <a:lnSpc>
                <a:spcPts val="2625"/>
              </a:lnSpc>
            </a:pPr>
            <a:r>
              <a:rPr lang="en-US" sz="1875" spc="150" b="true">
                <a:solidFill>
                  <a:srgbClr val="1F4E79"/>
                </a:solidFill>
                <a:latin typeface="Aptos Bold"/>
                <a:ea typeface="Aptos Bold"/>
                <a:cs typeface="Aptos Bold"/>
                <a:sym typeface="Aptos Bold"/>
              </a:rPr>
              <a:t>Top 7 features by mean absolute SHAP</a:t>
            </a:r>
          </a:p>
          <a:p>
            <a:pPr algn="l">
              <a:lnSpc>
                <a:spcPts val="2625"/>
              </a:lnSpc>
            </a:pPr>
            <a:r>
              <a:rPr lang="en-US" sz="1875" spc="150" b="true">
                <a:solidFill>
                  <a:srgbClr val="1F4E79"/>
                </a:solidFill>
                <a:latin typeface="Aptos Bold"/>
                <a:ea typeface="Aptos Bold"/>
                <a:cs typeface="Aptos Bold"/>
                <a:sym typeface="Aptos Bold"/>
              </a:rPr>
              <a:t>Real data • Decision Tree</a:t>
            </a:r>
          </a:p>
        </p:txBody>
      </p:sp>
      <p:sp>
        <p:nvSpPr>
          <p:cNvPr name="TextBox 11" id="11"/>
          <p:cNvSpPr txBox="true"/>
          <p:nvPr/>
        </p:nvSpPr>
        <p:spPr>
          <a:xfrm rot="0">
            <a:off x="11906250" y="1962150"/>
            <a:ext cx="4572000" cy="306705"/>
          </a:xfrm>
          <a:prstGeom prst="rect">
            <a:avLst/>
          </a:prstGeom>
        </p:spPr>
        <p:txBody>
          <a:bodyPr anchor="t" rtlCol="false" tIns="0" lIns="0" bIns="0" rIns="0">
            <a:spAutoFit/>
          </a:bodyPr>
          <a:lstStyle/>
          <a:p>
            <a:pPr algn="l">
              <a:lnSpc>
                <a:spcPts val="2520"/>
              </a:lnSpc>
            </a:pPr>
            <a:r>
              <a:rPr lang="en-US" sz="1800" spc="144" b="true">
                <a:solidFill>
                  <a:srgbClr val="D62728"/>
                </a:solidFill>
                <a:latin typeface="Aptos Bold"/>
                <a:ea typeface="Aptos Bold"/>
                <a:cs typeface="Aptos Bold"/>
                <a:sym typeface="Aptos Bold"/>
              </a:rPr>
              <a:t>ERROR ANALYSIS</a:t>
            </a:r>
          </a:p>
        </p:txBody>
      </p:sp>
      <p:sp>
        <p:nvSpPr>
          <p:cNvPr name="TextBox 12" id="12"/>
          <p:cNvSpPr txBox="true"/>
          <p:nvPr/>
        </p:nvSpPr>
        <p:spPr>
          <a:xfrm rot="0">
            <a:off x="11906250" y="2546021"/>
            <a:ext cx="4572000" cy="384810"/>
          </a:xfrm>
          <a:prstGeom prst="rect">
            <a:avLst/>
          </a:prstGeom>
        </p:spPr>
        <p:txBody>
          <a:bodyPr anchor="t" rtlCol="false" tIns="0" lIns="0" bIns="0" rIns="0">
            <a:spAutoFit/>
          </a:bodyPr>
          <a:lstStyle/>
          <a:p>
            <a:pPr algn="l">
              <a:lnSpc>
                <a:spcPts val="2835"/>
              </a:lnSpc>
            </a:pPr>
            <a:r>
              <a:rPr lang="en-US" sz="2700" b="true">
                <a:solidFill>
                  <a:srgbClr val="1F4E79"/>
                </a:solidFill>
                <a:latin typeface="Arimo Bold"/>
                <a:ea typeface="Arimo Bold"/>
                <a:cs typeface="Arimo Bold"/>
                <a:sym typeface="Arimo Bold"/>
              </a:rPr>
              <a:t>Small held-out sample</a:t>
            </a:r>
          </a:p>
        </p:txBody>
      </p:sp>
      <p:sp>
        <p:nvSpPr>
          <p:cNvPr name="TextBox 13" id="13"/>
          <p:cNvSpPr txBox="true"/>
          <p:nvPr/>
        </p:nvSpPr>
        <p:spPr>
          <a:xfrm rot="0">
            <a:off x="11906250" y="3207056"/>
            <a:ext cx="4572000" cy="737235"/>
          </a:xfrm>
          <a:prstGeom prst="rect">
            <a:avLst/>
          </a:prstGeom>
        </p:spPr>
        <p:txBody>
          <a:bodyPr anchor="t" rtlCol="false" tIns="0" lIns="0" bIns="0" rIns="0">
            <a:spAutoFit/>
          </a:bodyPr>
          <a:lstStyle/>
          <a:p>
            <a:pPr algn="l">
              <a:lnSpc>
                <a:spcPts val="2835"/>
              </a:lnSpc>
            </a:pPr>
            <a:r>
              <a:rPr lang="en-US" sz="2700" b="true">
                <a:solidFill>
                  <a:srgbClr val="1F4E79"/>
                </a:solidFill>
                <a:latin typeface="Arimo Bold"/>
                <a:ea typeface="Arimo Bold"/>
                <a:cs typeface="Arimo Bold"/>
                <a:sym typeface="Arimo Bold"/>
              </a:rPr>
              <a:t>High feature-to-sample ratio</a:t>
            </a:r>
          </a:p>
        </p:txBody>
      </p:sp>
      <p:sp>
        <p:nvSpPr>
          <p:cNvPr name="TextBox 14" id="14"/>
          <p:cNvSpPr txBox="true"/>
          <p:nvPr/>
        </p:nvSpPr>
        <p:spPr>
          <a:xfrm rot="0">
            <a:off x="11906250" y="4230041"/>
            <a:ext cx="4572000" cy="666274"/>
          </a:xfrm>
          <a:prstGeom prst="rect">
            <a:avLst/>
          </a:prstGeom>
        </p:spPr>
        <p:txBody>
          <a:bodyPr anchor="t" rtlCol="false" tIns="0" lIns="0" bIns="0" rIns="0">
            <a:spAutoFit/>
          </a:bodyPr>
          <a:lstStyle/>
          <a:p>
            <a:pPr algn="l">
              <a:lnSpc>
                <a:spcPts val="2598"/>
              </a:lnSpc>
            </a:pPr>
            <a:r>
              <a:rPr lang="en-US" sz="2475" b="true">
                <a:solidFill>
                  <a:srgbClr val="1F4E79"/>
                </a:solidFill>
                <a:latin typeface="Arimo Bold"/>
                <a:ea typeface="Arimo Bold"/>
                <a:cs typeface="Arimo Bold"/>
                <a:sym typeface="Arimo Bold"/>
              </a:rPr>
              <a:t>Cross-validation winner was unstable</a:t>
            </a:r>
          </a:p>
        </p:txBody>
      </p:sp>
      <p:sp>
        <p:nvSpPr>
          <p:cNvPr name="TextBox 15" id="15"/>
          <p:cNvSpPr txBox="true"/>
          <p:nvPr/>
        </p:nvSpPr>
        <p:spPr>
          <a:xfrm rot="0">
            <a:off x="914400" y="9734550"/>
            <a:ext cx="13811250" cy="232410"/>
          </a:xfrm>
          <a:prstGeom prst="rect">
            <a:avLst/>
          </a:prstGeom>
        </p:spPr>
        <p:txBody>
          <a:bodyPr anchor="t" rtlCol="false" tIns="0" lIns="0" bIns="0" rIns="0">
            <a:spAutoFit/>
          </a:bodyPr>
          <a:lstStyle/>
          <a:p>
            <a:pPr algn="l">
              <a:lnSpc>
                <a:spcPts val="1889"/>
              </a:lnSpc>
            </a:pPr>
            <a:r>
              <a:rPr lang="en-US" sz="1350" spc="108" b="true">
                <a:solidFill>
                  <a:srgbClr val="1F4E79"/>
                </a:solidFill>
                <a:latin typeface="Aptos Bold"/>
                <a:ea typeface="Aptos Bold"/>
                <a:cs typeface="Aptos Bold"/>
                <a:sym typeface="Aptos Bold"/>
              </a:rPr>
              <a:t>BCA FINAL-YEAR DEFENSE  •  XAVIER INTERNATIONAL COLLEGE</a:t>
            </a:r>
          </a:p>
        </p:txBody>
      </p:sp>
      <p:sp>
        <p:nvSpPr>
          <p:cNvPr name="TextBox 16" id="16"/>
          <p:cNvSpPr txBox="true"/>
          <p:nvPr/>
        </p:nvSpPr>
        <p:spPr>
          <a:xfrm rot="0">
            <a:off x="16478250" y="9734550"/>
            <a:ext cx="857250" cy="232410"/>
          </a:xfrm>
          <a:prstGeom prst="rect">
            <a:avLst/>
          </a:prstGeom>
        </p:spPr>
        <p:txBody>
          <a:bodyPr anchor="t" rtlCol="false" tIns="0" lIns="0" bIns="0" rIns="0">
            <a:spAutoFit/>
          </a:bodyPr>
          <a:lstStyle/>
          <a:p>
            <a:pPr algn="r">
              <a:lnSpc>
                <a:spcPts val="1889"/>
              </a:lnSpc>
            </a:pPr>
            <a:r>
              <a:rPr lang="en-US" b="true" sz="1350" spc="108">
                <a:solidFill>
                  <a:srgbClr val="1F4E79"/>
                </a:solidFill>
                <a:latin typeface="Aptos Bold"/>
                <a:ea typeface="Aptos Bold"/>
                <a:cs typeface="Aptos Bold"/>
                <a:sym typeface="Aptos Bold"/>
              </a:rPr>
              <a:t>14</a:t>
            </a:r>
          </a:p>
        </p:txBody>
      </p:sp>
      <p:grpSp>
        <p:nvGrpSpPr>
          <p:cNvPr name="Group 17" id="17"/>
          <p:cNvGrpSpPr/>
          <p:nvPr/>
        </p:nvGrpSpPr>
        <p:grpSpPr>
          <a:xfrm rot="0">
            <a:off x="11334750" y="5604556"/>
            <a:ext cx="5905500" cy="3632881"/>
            <a:chOff x="0" y="0"/>
            <a:chExt cx="7874000" cy="4843841"/>
          </a:xfrm>
        </p:grpSpPr>
        <p:sp>
          <p:nvSpPr>
            <p:cNvPr name="Freeform 18" id="18"/>
            <p:cNvSpPr/>
            <p:nvPr/>
          </p:nvSpPr>
          <p:spPr>
            <a:xfrm flipH="false" flipV="false" rot="0">
              <a:off x="0" y="0"/>
              <a:ext cx="7874000" cy="4843841"/>
            </a:xfrm>
            <a:custGeom>
              <a:avLst/>
              <a:gdLst/>
              <a:ahLst/>
              <a:cxnLst/>
              <a:rect r="r" b="b" t="t" l="l"/>
              <a:pathLst>
                <a:path h="4843841" w="7874000">
                  <a:moveTo>
                    <a:pt x="0" y="0"/>
                  </a:moveTo>
                  <a:lnTo>
                    <a:pt x="7874000" y="0"/>
                  </a:lnTo>
                  <a:lnTo>
                    <a:pt x="7874000" y="4843841"/>
                  </a:lnTo>
                  <a:lnTo>
                    <a:pt x="0" y="4843841"/>
                  </a:lnTo>
                  <a:close/>
                </a:path>
              </a:pathLst>
            </a:custGeom>
            <a:solidFill>
              <a:srgbClr val="EEF3F7"/>
            </a:solidFill>
            <a:ln cap="sq">
              <a:noFill/>
              <a:prstDash val="solid"/>
              <a:miter/>
            </a:ln>
          </p:spPr>
        </p:sp>
        <p:sp>
          <p:nvSpPr>
            <p:cNvPr name="TextBox 19" id="19"/>
            <p:cNvSpPr txBox="true"/>
            <p:nvPr/>
          </p:nvSpPr>
          <p:spPr>
            <a:xfrm>
              <a:off x="0" y="-38100"/>
              <a:ext cx="7874000" cy="4881941"/>
            </a:xfrm>
            <a:prstGeom prst="rect">
              <a:avLst/>
            </a:prstGeom>
          </p:spPr>
          <p:txBody>
            <a:bodyPr anchor="ctr" rtlCol="false" tIns="50800" lIns="50800" bIns="50800" rIns="50800"/>
            <a:lstStyle/>
            <a:p>
              <a:pPr algn="l">
                <a:lnSpc>
                  <a:spcPts val="1679"/>
                </a:lnSpc>
              </a:pPr>
            </a:p>
          </p:txBody>
        </p:sp>
      </p:grpSp>
      <p:sp>
        <p:nvSpPr>
          <p:cNvPr name="TextBox 20" id="20"/>
          <p:cNvSpPr txBox="true"/>
          <p:nvPr/>
        </p:nvSpPr>
        <p:spPr>
          <a:xfrm rot="0">
            <a:off x="11906250" y="6164098"/>
            <a:ext cx="4786840" cy="2246218"/>
          </a:xfrm>
          <a:prstGeom prst="rect">
            <a:avLst/>
          </a:prstGeom>
        </p:spPr>
        <p:txBody>
          <a:bodyPr anchor="t" rtlCol="false" tIns="0" lIns="0" bIns="0" rIns="0">
            <a:spAutoFit/>
          </a:bodyPr>
          <a:lstStyle/>
          <a:p>
            <a:pPr algn="l">
              <a:lnSpc>
                <a:spcPts val="1994"/>
              </a:lnSpc>
            </a:pPr>
            <a:r>
              <a:rPr lang="en-US" sz="1899" b="true">
                <a:solidFill>
                  <a:srgbClr val="1F4E79"/>
                </a:solidFill>
                <a:latin typeface="Arimo Bold"/>
                <a:ea typeface="Arimo Bold"/>
                <a:cs typeface="Arimo Bold"/>
                <a:sym typeface="Arimo Bold"/>
              </a:rPr>
              <a:t>The SHAP analysis identified academic life satisfaction, social support, and academic performance as the most influential features. Error analysis showed that all 6 held-out errors were between adjacent classes — never Low↔High. But the model was overconfident on wrong predictions, which is consistent with overfitting.</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476250"/>
            <a:ext cx="16459200" cy="733425"/>
            <a:chOff x="0" y="0"/>
            <a:chExt cx="21945600" cy="977900"/>
          </a:xfrm>
        </p:grpSpPr>
        <p:sp>
          <p:nvSpPr>
            <p:cNvPr name="TextBox 3" id="3"/>
            <p:cNvSpPr txBox="true"/>
            <p:nvPr/>
          </p:nvSpPr>
          <p:spPr>
            <a:xfrm rot="0">
              <a:off x="0" y="38100"/>
              <a:ext cx="1016000" cy="363220"/>
            </a:xfrm>
            <a:prstGeom prst="rect">
              <a:avLst/>
            </a:prstGeom>
          </p:spPr>
          <p:txBody>
            <a:bodyPr anchor="t" rtlCol="false" tIns="0" lIns="0" bIns="0" rIns="0">
              <a:spAutoFit/>
            </a:bodyPr>
            <a:lstStyle/>
            <a:p>
              <a:pPr algn="l">
                <a:lnSpc>
                  <a:spcPts val="2310"/>
                </a:lnSpc>
              </a:pPr>
              <a:r>
                <a:rPr lang="en-US" sz="1650" spc="132" b="true">
                  <a:solidFill>
                    <a:srgbClr val="1F4E79"/>
                  </a:solidFill>
                  <a:latin typeface="Aptos Bold"/>
                  <a:ea typeface="Aptos Bold"/>
                  <a:cs typeface="Aptos Bold"/>
                  <a:sym typeface="Aptos Bold"/>
                </a:rPr>
                <a:t>13</a:t>
              </a:r>
            </a:p>
          </p:txBody>
        </p:sp>
        <p:sp>
          <p:nvSpPr>
            <p:cNvPr name="TextBox 4" id="4"/>
            <p:cNvSpPr txBox="true"/>
            <p:nvPr/>
          </p:nvSpPr>
          <p:spPr>
            <a:xfrm rot="0">
              <a:off x="1066800" y="28575"/>
              <a:ext cx="19050000" cy="668655"/>
            </a:xfrm>
            <a:prstGeom prst="rect">
              <a:avLst/>
            </a:prstGeom>
          </p:spPr>
          <p:txBody>
            <a:bodyPr anchor="t" rtlCol="false" tIns="0" lIns="0" bIns="0" rIns="0">
              <a:spAutoFit/>
            </a:bodyPr>
            <a:lstStyle/>
            <a:p>
              <a:pPr algn="l">
                <a:lnSpc>
                  <a:spcPts val="3622"/>
                </a:lnSpc>
              </a:pPr>
              <a:r>
                <a:rPr lang="en-US" sz="3450" b="true">
                  <a:solidFill>
                    <a:srgbClr val="1F4E79"/>
                  </a:solidFill>
                  <a:latin typeface="Arimo Bold"/>
                  <a:ea typeface="Arimo Bold"/>
                  <a:cs typeface="Arimo Bold"/>
                  <a:sym typeface="Arimo Bold"/>
                </a:rPr>
                <a:t>Streamlit Prototype</a:t>
              </a:r>
            </a:p>
          </p:txBody>
        </p:sp>
        <p:sp>
          <p:nvSpPr>
            <p:cNvPr name="AutoShape 5" id="5"/>
            <p:cNvSpPr/>
            <p:nvPr/>
          </p:nvSpPr>
          <p:spPr>
            <a:xfrm>
              <a:off x="0" y="965200"/>
              <a:ext cx="21945600" cy="0"/>
            </a:xfrm>
            <a:prstGeom prst="line">
              <a:avLst/>
            </a:prstGeom>
            <a:ln cap="flat" w="25400">
              <a:solidFill>
                <a:srgbClr val="D9E1E8"/>
              </a:solidFill>
              <a:prstDash val="solid"/>
              <a:headEnd type="none" len="sm" w="sm"/>
              <a:tailEnd type="none" len="sm" w="sm"/>
            </a:ln>
          </p:spPr>
        </p:sp>
      </p:grpSp>
      <p:grpSp>
        <p:nvGrpSpPr>
          <p:cNvPr name="Group 6" id="6"/>
          <p:cNvGrpSpPr/>
          <p:nvPr/>
        </p:nvGrpSpPr>
        <p:grpSpPr>
          <a:xfrm rot="0">
            <a:off x="1524000" y="1714500"/>
            <a:ext cx="15240000" cy="6858000"/>
            <a:chOff x="0" y="0"/>
            <a:chExt cx="20320000" cy="9144000"/>
          </a:xfrm>
        </p:grpSpPr>
        <p:sp>
          <p:nvSpPr>
            <p:cNvPr name="Freeform 7" id="7"/>
            <p:cNvSpPr/>
            <p:nvPr/>
          </p:nvSpPr>
          <p:spPr>
            <a:xfrm flipH="false" flipV="false" rot="0">
              <a:off x="0" y="0"/>
              <a:ext cx="20320000" cy="9144000"/>
            </a:xfrm>
            <a:custGeom>
              <a:avLst/>
              <a:gdLst/>
              <a:ahLst/>
              <a:cxnLst/>
              <a:rect r="r" b="b" t="t" l="l"/>
              <a:pathLst>
                <a:path h="9144000" w="20320000">
                  <a:moveTo>
                    <a:pt x="0" y="0"/>
                  </a:moveTo>
                  <a:lnTo>
                    <a:pt x="20320000" y="0"/>
                  </a:lnTo>
                  <a:lnTo>
                    <a:pt x="20320000" y="9144000"/>
                  </a:lnTo>
                  <a:lnTo>
                    <a:pt x="0" y="9144000"/>
                  </a:lnTo>
                  <a:close/>
                </a:path>
              </a:pathLst>
            </a:custGeom>
            <a:solidFill>
              <a:srgbClr val="EEF3F7"/>
            </a:solidFill>
            <a:ln cap="sq">
              <a:noFill/>
              <a:prstDash val="solid"/>
              <a:miter/>
            </a:ln>
          </p:spPr>
        </p:sp>
        <p:sp>
          <p:nvSpPr>
            <p:cNvPr name="TextBox 8" id="8"/>
            <p:cNvSpPr txBox="true"/>
            <p:nvPr/>
          </p:nvSpPr>
          <p:spPr>
            <a:xfrm>
              <a:off x="0" y="-38100"/>
              <a:ext cx="20320000" cy="9182100"/>
            </a:xfrm>
            <a:prstGeom prst="rect">
              <a:avLst/>
            </a:prstGeom>
          </p:spPr>
          <p:txBody>
            <a:bodyPr anchor="ctr" rtlCol="false" tIns="50800" lIns="50800" bIns="50800" rIns="50800"/>
            <a:lstStyle/>
            <a:p>
              <a:pPr algn="l">
                <a:lnSpc>
                  <a:spcPts val="1679"/>
                </a:lnSpc>
              </a:pPr>
            </a:p>
          </p:txBody>
        </p:sp>
      </p:grpSp>
      <p:grpSp>
        <p:nvGrpSpPr>
          <p:cNvPr name="Group 9" id="9"/>
          <p:cNvGrpSpPr/>
          <p:nvPr/>
        </p:nvGrpSpPr>
        <p:grpSpPr>
          <a:xfrm rot="0">
            <a:off x="1524000" y="1714500"/>
            <a:ext cx="3905250" cy="6858000"/>
            <a:chOff x="0" y="0"/>
            <a:chExt cx="5207000" cy="9144000"/>
          </a:xfrm>
        </p:grpSpPr>
        <p:sp>
          <p:nvSpPr>
            <p:cNvPr name="Freeform 10" id="10"/>
            <p:cNvSpPr/>
            <p:nvPr/>
          </p:nvSpPr>
          <p:spPr>
            <a:xfrm flipH="false" flipV="false" rot="0">
              <a:off x="0" y="0"/>
              <a:ext cx="5207000" cy="9144000"/>
            </a:xfrm>
            <a:custGeom>
              <a:avLst/>
              <a:gdLst/>
              <a:ahLst/>
              <a:cxnLst/>
              <a:rect r="r" b="b" t="t" l="l"/>
              <a:pathLst>
                <a:path h="9144000" w="5207000">
                  <a:moveTo>
                    <a:pt x="0" y="0"/>
                  </a:moveTo>
                  <a:lnTo>
                    <a:pt x="5207000" y="0"/>
                  </a:lnTo>
                  <a:lnTo>
                    <a:pt x="5207000" y="9144000"/>
                  </a:lnTo>
                  <a:lnTo>
                    <a:pt x="0" y="9144000"/>
                  </a:lnTo>
                  <a:close/>
                </a:path>
              </a:pathLst>
            </a:custGeom>
            <a:solidFill>
              <a:srgbClr val="1F4E79"/>
            </a:solidFill>
            <a:ln cap="sq">
              <a:noFill/>
              <a:prstDash val="solid"/>
              <a:miter/>
            </a:ln>
          </p:spPr>
        </p:sp>
        <p:sp>
          <p:nvSpPr>
            <p:cNvPr name="TextBox 11" id="11"/>
            <p:cNvSpPr txBox="true"/>
            <p:nvPr/>
          </p:nvSpPr>
          <p:spPr>
            <a:xfrm>
              <a:off x="0" y="-38100"/>
              <a:ext cx="5207000" cy="9182100"/>
            </a:xfrm>
            <a:prstGeom prst="rect">
              <a:avLst/>
            </a:prstGeom>
          </p:spPr>
          <p:txBody>
            <a:bodyPr anchor="ctr" rtlCol="false" tIns="50800" lIns="50800" bIns="50800" rIns="50800"/>
            <a:lstStyle/>
            <a:p>
              <a:pPr algn="l">
                <a:lnSpc>
                  <a:spcPts val="1679"/>
                </a:lnSpc>
              </a:pPr>
            </a:p>
          </p:txBody>
        </p:sp>
      </p:grpSp>
      <p:sp>
        <p:nvSpPr>
          <p:cNvPr name="Freeform 12" id="12"/>
          <p:cNvSpPr/>
          <p:nvPr/>
        </p:nvSpPr>
        <p:spPr>
          <a:xfrm flipH="false" flipV="false" rot="0">
            <a:off x="7778110" y="1894200"/>
            <a:ext cx="6947540" cy="6498600"/>
          </a:xfrm>
          <a:custGeom>
            <a:avLst/>
            <a:gdLst/>
            <a:ahLst/>
            <a:cxnLst/>
            <a:rect r="r" b="b" t="t" l="l"/>
            <a:pathLst>
              <a:path h="6498600" w="6947540">
                <a:moveTo>
                  <a:pt x="0" y="0"/>
                </a:moveTo>
                <a:lnTo>
                  <a:pt x="6947540" y="0"/>
                </a:lnTo>
                <a:lnTo>
                  <a:pt x="6947540" y="6498600"/>
                </a:lnTo>
                <a:lnTo>
                  <a:pt x="0" y="6498600"/>
                </a:lnTo>
                <a:lnTo>
                  <a:pt x="0" y="0"/>
                </a:lnTo>
                <a:close/>
              </a:path>
            </a:pathLst>
          </a:custGeom>
          <a:blipFill>
            <a:blip r:embed="rId3"/>
            <a:stretch>
              <a:fillRect l="0" t="0" r="0" b="0"/>
            </a:stretch>
          </a:blipFill>
        </p:spPr>
      </p:sp>
      <p:sp>
        <p:nvSpPr>
          <p:cNvPr name="TextBox 13" id="13"/>
          <p:cNvSpPr txBox="true"/>
          <p:nvPr/>
        </p:nvSpPr>
        <p:spPr>
          <a:xfrm rot="0">
            <a:off x="2095500" y="2409825"/>
            <a:ext cx="2762250" cy="1020127"/>
          </a:xfrm>
          <a:prstGeom prst="rect">
            <a:avLst/>
          </a:prstGeom>
        </p:spPr>
        <p:txBody>
          <a:bodyPr anchor="t" rtlCol="false" tIns="0" lIns="0" bIns="0" rIns="0">
            <a:spAutoFit/>
          </a:bodyPr>
          <a:lstStyle/>
          <a:p>
            <a:pPr algn="l">
              <a:lnSpc>
                <a:spcPts val="2677"/>
              </a:lnSpc>
            </a:pPr>
            <a:r>
              <a:rPr lang="en-US" sz="2550" b="true">
                <a:solidFill>
                  <a:srgbClr val="FFFFFF"/>
                </a:solidFill>
                <a:latin typeface="Arimo Bold"/>
                <a:ea typeface="Arimo Bold"/>
                <a:cs typeface="Arimo Bold"/>
                <a:sym typeface="Arimo Bold"/>
              </a:rPr>
              <a:t>ACADEMIC STRESS</a:t>
            </a:r>
          </a:p>
          <a:p>
            <a:pPr algn="l">
              <a:lnSpc>
                <a:spcPts val="2677"/>
              </a:lnSpc>
            </a:pPr>
            <a:r>
              <a:rPr lang="en-US" sz="2550" b="true">
                <a:solidFill>
                  <a:srgbClr val="FFFFFF"/>
                </a:solidFill>
                <a:latin typeface="Arimo Bold"/>
                <a:ea typeface="Arimo Bold"/>
                <a:cs typeface="Arimo Bold"/>
                <a:sym typeface="Arimo Bold"/>
              </a:rPr>
              <a:t>PREDICTION</a:t>
            </a:r>
          </a:p>
        </p:txBody>
      </p:sp>
      <p:sp>
        <p:nvSpPr>
          <p:cNvPr name="TextBox 14" id="14"/>
          <p:cNvSpPr txBox="true"/>
          <p:nvPr/>
        </p:nvSpPr>
        <p:spPr>
          <a:xfrm rot="0">
            <a:off x="2095500" y="4067175"/>
            <a:ext cx="2762250" cy="1250156"/>
          </a:xfrm>
          <a:prstGeom prst="rect">
            <a:avLst/>
          </a:prstGeom>
        </p:spPr>
        <p:txBody>
          <a:bodyPr anchor="t" rtlCol="false" tIns="0" lIns="0" bIns="0" rIns="0">
            <a:spAutoFit/>
          </a:bodyPr>
          <a:lstStyle/>
          <a:p>
            <a:pPr algn="l">
              <a:lnSpc>
                <a:spcPts val="2531"/>
              </a:lnSpc>
            </a:pPr>
            <a:r>
              <a:rPr lang="en-US" sz="1875">
                <a:solidFill>
                  <a:srgbClr val="FFFFFF"/>
                </a:solidFill>
                <a:latin typeface="Aptos"/>
                <a:ea typeface="Aptos"/>
                <a:cs typeface="Aptos"/>
                <a:sym typeface="Aptos"/>
              </a:rPr>
              <a:t>Student information</a:t>
            </a:r>
          </a:p>
          <a:p>
            <a:pPr algn="l">
              <a:lnSpc>
                <a:spcPts val="2531"/>
              </a:lnSpc>
            </a:pPr>
            <a:r>
              <a:rPr lang="en-US" sz="1875">
                <a:solidFill>
                  <a:srgbClr val="FFFFFF"/>
                </a:solidFill>
                <a:latin typeface="Aptos"/>
                <a:ea typeface="Aptos"/>
                <a:cs typeface="Aptos"/>
                <a:sym typeface="Aptos"/>
              </a:rPr>
              <a:t>Academic factors</a:t>
            </a:r>
          </a:p>
          <a:p>
            <a:pPr algn="l">
              <a:lnSpc>
                <a:spcPts val="2531"/>
              </a:lnSpc>
            </a:pPr>
            <a:r>
              <a:rPr lang="en-US" sz="1875">
                <a:solidFill>
                  <a:srgbClr val="FFFFFF"/>
                </a:solidFill>
                <a:latin typeface="Aptos"/>
                <a:ea typeface="Aptos"/>
                <a:cs typeface="Aptos"/>
                <a:sym typeface="Aptos"/>
              </a:rPr>
              <a:t>Lifestyle factors</a:t>
            </a:r>
          </a:p>
          <a:p>
            <a:pPr algn="l">
              <a:lnSpc>
                <a:spcPts val="2531"/>
              </a:lnSpc>
            </a:pPr>
            <a:r>
              <a:rPr lang="en-US" sz="1875">
                <a:solidFill>
                  <a:srgbClr val="FFFFFF"/>
                </a:solidFill>
                <a:latin typeface="Aptos"/>
                <a:ea typeface="Aptos"/>
                <a:cs typeface="Aptos"/>
                <a:sym typeface="Aptos"/>
              </a:rPr>
              <a:t>Psychosocial factors</a:t>
            </a:r>
          </a:p>
        </p:txBody>
      </p:sp>
      <p:sp>
        <p:nvSpPr>
          <p:cNvPr name="TextBox 15" id="15"/>
          <p:cNvSpPr txBox="true"/>
          <p:nvPr/>
        </p:nvSpPr>
        <p:spPr>
          <a:xfrm rot="0">
            <a:off x="914400" y="9734550"/>
            <a:ext cx="13811250" cy="232410"/>
          </a:xfrm>
          <a:prstGeom prst="rect">
            <a:avLst/>
          </a:prstGeom>
        </p:spPr>
        <p:txBody>
          <a:bodyPr anchor="t" rtlCol="false" tIns="0" lIns="0" bIns="0" rIns="0">
            <a:spAutoFit/>
          </a:bodyPr>
          <a:lstStyle/>
          <a:p>
            <a:pPr algn="l">
              <a:lnSpc>
                <a:spcPts val="1889"/>
              </a:lnSpc>
            </a:pPr>
            <a:r>
              <a:rPr lang="en-US" sz="1350" spc="108" b="true">
                <a:solidFill>
                  <a:srgbClr val="1F4E79"/>
                </a:solidFill>
                <a:latin typeface="Aptos Bold"/>
                <a:ea typeface="Aptos Bold"/>
                <a:cs typeface="Aptos Bold"/>
                <a:sym typeface="Aptos Bold"/>
              </a:rPr>
              <a:t>BCA FINAL-YEAR DEFENSE  •  XAVIER INTERNATIONAL COLLEGE</a:t>
            </a:r>
          </a:p>
        </p:txBody>
      </p:sp>
      <p:sp>
        <p:nvSpPr>
          <p:cNvPr name="TextBox 16" id="16"/>
          <p:cNvSpPr txBox="true"/>
          <p:nvPr/>
        </p:nvSpPr>
        <p:spPr>
          <a:xfrm rot="0">
            <a:off x="16478250" y="9734550"/>
            <a:ext cx="857250" cy="232410"/>
          </a:xfrm>
          <a:prstGeom prst="rect">
            <a:avLst/>
          </a:prstGeom>
        </p:spPr>
        <p:txBody>
          <a:bodyPr anchor="t" rtlCol="false" tIns="0" lIns="0" bIns="0" rIns="0">
            <a:spAutoFit/>
          </a:bodyPr>
          <a:lstStyle/>
          <a:p>
            <a:pPr algn="r">
              <a:lnSpc>
                <a:spcPts val="1889"/>
              </a:lnSpc>
            </a:pPr>
            <a:r>
              <a:rPr lang="en-US" b="true" sz="1350" spc="108">
                <a:solidFill>
                  <a:srgbClr val="1F4E79"/>
                </a:solidFill>
                <a:latin typeface="Aptos Bold"/>
                <a:ea typeface="Aptos Bold"/>
                <a:cs typeface="Aptos Bold"/>
                <a:sym typeface="Aptos Bold"/>
              </a:rPr>
              <a:t>15</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14400" y="393382"/>
            <a:ext cx="16459200" cy="816293"/>
            <a:chOff x="0" y="0"/>
            <a:chExt cx="21945600" cy="1088390"/>
          </a:xfrm>
        </p:grpSpPr>
        <p:sp>
          <p:nvSpPr>
            <p:cNvPr name="TextBox 3" id="3"/>
            <p:cNvSpPr txBox="true"/>
            <p:nvPr/>
          </p:nvSpPr>
          <p:spPr>
            <a:xfrm rot="0">
              <a:off x="0" y="38100"/>
              <a:ext cx="1016000" cy="363220"/>
            </a:xfrm>
            <a:prstGeom prst="rect">
              <a:avLst/>
            </a:prstGeom>
          </p:spPr>
          <p:txBody>
            <a:bodyPr anchor="t" rtlCol="false" tIns="0" lIns="0" bIns="0" rIns="0">
              <a:spAutoFit/>
            </a:bodyPr>
            <a:lstStyle/>
            <a:p>
              <a:pPr algn="l">
                <a:lnSpc>
                  <a:spcPts val="2310"/>
                </a:lnSpc>
              </a:pPr>
              <a:r>
                <a:rPr lang="en-US" sz="1650" spc="132" b="true">
                  <a:solidFill>
                    <a:srgbClr val="1F4E79"/>
                  </a:solidFill>
                  <a:latin typeface="Aptos Bold"/>
                  <a:ea typeface="Aptos Bold"/>
                  <a:cs typeface="Aptos Bold"/>
                  <a:sym typeface="Aptos Bold"/>
                </a:rPr>
                <a:t>14</a:t>
              </a:r>
            </a:p>
          </p:txBody>
        </p:sp>
        <p:sp>
          <p:nvSpPr>
            <p:cNvPr name="TextBox 4" id="4"/>
            <p:cNvSpPr txBox="true"/>
            <p:nvPr/>
          </p:nvSpPr>
          <p:spPr>
            <a:xfrm rot="0">
              <a:off x="1066800" y="28575"/>
              <a:ext cx="19050000" cy="668655"/>
            </a:xfrm>
            <a:prstGeom prst="rect">
              <a:avLst/>
            </a:prstGeom>
          </p:spPr>
          <p:txBody>
            <a:bodyPr anchor="t" rtlCol="false" tIns="0" lIns="0" bIns="0" rIns="0">
              <a:spAutoFit/>
            </a:bodyPr>
            <a:lstStyle/>
            <a:p>
              <a:pPr algn="l">
                <a:lnSpc>
                  <a:spcPts val="3622"/>
                </a:lnSpc>
              </a:pPr>
              <a:r>
                <a:rPr lang="en-US" sz="3450" b="true">
                  <a:solidFill>
                    <a:srgbClr val="1F4E79"/>
                  </a:solidFill>
                  <a:latin typeface="Arimo Bold"/>
                  <a:ea typeface="Arimo Bold"/>
                  <a:cs typeface="Arimo Bold"/>
                  <a:sym typeface="Arimo Bold"/>
                </a:rPr>
                <a:t>Conclusion and Future Work</a:t>
              </a:r>
            </a:p>
          </p:txBody>
        </p:sp>
        <p:sp>
          <p:nvSpPr>
            <p:cNvPr name="AutoShape 5" id="5"/>
            <p:cNvSpPr/>
            <p:nvPr/>
          </p:nvSpPr>
          <p:spPr>
            <a:xfrm>
              <a:off x="0" y="1075690"/>
              <a:ext cx="21945600" cy="0"/>
            </a:xfrm>
            <a:prstGeom prst="line">
              <a:avLst/>
            </a:prstGeom>
            <a:ln cap="flat" w="25400">
              <a:solidFill>
                <a:srgbClr val="D9E1E8"/>
              </a:solidFill>
              <a:prstDash val="solid"/>
              <a:headEnd type="none" len="sm" w="sm"/>
              <a:tailEnd type="none" len="sm" w="sm"/>
            </a:ln>
          </p:spPr>
        </p:sp>
      </p:grpSp>
      <p:grpSp>
        <p:nvGrpSpPr>
          <p:cNvPr name="Group 6" id="6"/>
          <p:cNvGrpSpPr/>
          <p:nvPr/>
        </p:nvGrpSpPr>
        <p:grpSpPr>
          <a:xfrm rot="0">
            <a:off x="857250" y="1619250"/>
            <a:ext cx="7810500" cy="6667500"/>
            <a:chOff x="0" y="0"/>
            <a:chExt cx="10414000" cy="8890000"/>
          </a:xfrm>
        </p:grpSpPr>
        <p:sp>
          <p:nvSpPr>
            <p:cNvPr name="Freeform 7" id="7"/>
            <p:cNvSpPr/>
            <p:nvPr/>
          </p:nvSpPr>
          <p:spPr>
            <a:xfrm flipH="false" flipV="false" rot="0">
              <a:off x="0" y="0"/>
              <a:ext cx="10414000" cy="8890000"/>
            </a:xfrm>
            <a:custGeom>
              <a:avLst/>
              <a:gdLst/>
              <a:ahLst/>
              <a:cxnLst/>
              <a:rect r="r" b="b" t="t" l="l"/>
              <a:pathLst>
                <a:path h="8890000" w="10414000">
                  <a:moveTo>
                    <a:pt x="0" y="0"/>
                  </a:moveTo>
                  <a:lnTo>
                    <a:pt x="10414000" y="0"/>
                  </a:lnTo>
                  <a:lnTo>
                    <a:pt x="10414000" y="8890000"/>
                  </a:lnTo>
                  <a:lnTo>
                    <a:pt x="0" y="8890000"/>
                  </a:lnTo>
                  <a:close/>
                </a:path>
              </a:pathLst>
            </a:custGeom>
            <a:solidFill>
              <a:srgbClr val="EEF3F7"/>
            </a:solidFill>
            <a:ln cap="sq">
              <a:noFill/>
              <a:prstDash val="solid"/>
              <a:miter/>
            </a:ln>
          </p:spPr>
        </p:sp>
        <p:sp>
          <p:nvSpPr>
            <p:cNvPr name="TextBox 8" id="8"/>
            <p:cNvSpPr txBox="true"/>
            <p:nvPr/>
          </p:nvSpPr>
          <p:spPr>
            <a:xfrm>
              <a:off x="0" y="-38100"/>
              <a:ext cx="10414000" cy="8928100"/>
            </a:xfrm>
            <a:prstGeom prst="rect">
              <a:avLst/>
            </a:prstGeom>
          </p:spPr>
          <p:txBody>
            <a:bodyPr anchor="ctr" rtlCol="false" tIns="50800" lIns="50800" bIns="50800" rIns="50800"/>
            <a:lstStyle/>
            <a:p>
              <a:pPr algn="l">
                <a:lnSpc>
                  <a:spcPts val="1679"/>
                </a:lnSpc>
              </a:pPr>
            </a:p>
          </p:txBody>
        </p:sp>
      </p:grpSp>
      <p:grpSp>
        <p:nvGrpSpPr>
          <p:cNvPr name="Group 9" id="9"/>
          <p:cNvGrpSpPr/>
          <p:nvPr/>
        </p:nvGrpSpPr>
        <p:grpSpPr>
          <a:xfrm rot="0">
            <a:off x="9810750" y="1619250"/>
            <a:ext cx="7620000" cy="6667500"/>
            <a:chOff x="0" y="0"/>
            <a:chExt cx="10160000" cy="8890000"/>
          </a:xfrm>
        </p:grpSpPr>
        <p:sp>
          <p:nvSpPr>
            <p:cNvPr name="Freeform 10" id="10"/>
            <p:cNvSpPr/>
            <p:nvPr/>
          </p:nvSpPr>
          <p:spPr>
            <a:xfrm flipH="false" flipV="false" rot="0">
              <a:off x="0" y="0"/>
              <a:ext cx="10160000" cy="8890000"/>
            </a:xfrm>
            <a:custGeom>
              <a:avLst/>
              <a:gdLst/>
              <a:ahLst/>
              <a:cxnLst/>
              <a:rect r="r" b="b" t="t" l="l"/>
              <a:pathLst>
                <a:path h="8890000" w="10160000">
                  <a:moveTo>
                    <a:pt x="0" y="0"/>
                  </a:moveTo>
                  <a:lnTo>
                    <a:pt x="10160000" y="0"/>
                  </a:lnTo>
                  <a:lnTo>
                    <a:pt x="10160000" y="8890000"/>
                  </a:lnTo>
                  <a:lnTo>
                    <a:pt x="0" y="8890000"/>
                  </a:lnTo>
                  <a:close/>
                </a:path>
              </a:pathLst>
            </a:custGeom>
            <a:solidFill>
              <a:srgbClr val="EDF6EE"/>
            </a:solidFill>
            <a:ln cap="sq">
              <a:noFill/>
              <a:prstDash val="solid"/>
              <a:miter/>
            </a:ln>
          </p:spPr>
        </p:sp>
        <p:sp>
          <p:nvSpPr>
            <p:cNvPr name="TextBox 11" id="11"/>
            <p:cNvSpPr txBox="true"/>
            <p:nvPr/>
          </p:nvSpPr>
          <p:spPr>
            <a:xfrm>
              <a:off x="0" y="-38100"/>
              <a:ext cx="10160000" cy="8928100"/>
            </a:xfrm>
            <a:prstGeom prst="rect">
              <a:avLst/>
            </a:prstGeom>
          </p:spPr>
          <p:txBody>
            <a:bodyPr anchor="ctr" rtlCol="false" tIns="50800" lIns="50800" bIns="50800" rIns="50800"/>
            <a:lstStyle/>
            <a:p>
              <a:pPr algn="l">
                <a:lnSpc>
                  <a:spcPts val="1679"/>
                </a:lnSpc>
              </a:pPr>
            </a:p>
          </p:txBody>
        </p:sp>
      </p:grpSp>
      <p:sp>
        <p:nvSpPr>
          <p:cNvPr name="TextBox 12" id="12"/>
          <p:cNvSpPr txBox="true"/>
          <p:nvPr/>
        </p:nvSpPr>
        <p:spPr>
          <a:xfrm rot="0">
            <a:off x="1238250" y="1866900"/>
            <a:ext cx="6858000" cy="306705"/>
          </a:xfrm>
          <a:prstGeom prst="rect">
            <a:avLst/>
          </a:prstGeom>
        </p:spPr>
        <p:txBody>
          <a:bodyPr anchor="t" rtlCol="false" tIns="0" lIns="0" bIns="0" rIns="0">
            <a:spAutoFit/>
          </a:bodyPr>
          <a:lstStyle/>
          <a:p>
            <a:pPr algn="l">
              <a:lnSpc>
                <a:spcPts val="2520"/>
              </a:lnSpc>
            </a:pPr>
            <a:r>
              <a:rPr lang="en-US" sz="1800" spc="144" b="true">
                <a:solidFill>
                  <a:srgbClr val="1F4E79"/>
                </a:solidFill>
                <a:latin typeface="Aptos Bold"/>
                <a:ea typeface="Aptos Bold"/>
                <a:cs typeface="Aptos Bold"/>
                <a:sym typeface="Aptos Bold"/>
              </a:rPr>
              <a:t>CONCLUSION &amp; LIMITATIONS</a:t>
            </a:r>
          </a:p>
        </p:txBody>
      </p:sp>
      <p:sp>
        <p:nvSpPr>
          <p:cNvPr name="TextBox 13" id="13"/>
          <p:cNvSpPr txBox="true"/>
          <p:nvPr/>
        </p:nvSpPr>
        <p:spPr>
          <a:xfrm rot="0">
            <a:off x="1238250" y="2676525"/>
            <a:ext cx="6858000" cy="1704023"/>
          </a:xfrm>
          <a:prstGeom prst="rect">
            <a:avLst/>
          </a:prstGeom>
        </p:spPr>
        <p:txBody>
          <a:bodyPr anchor="t" rtlCol="false" tIns="0" lIns="0" bIns="0" rIns="0">
            <a:spAutoFit/>
          </a:bodyPr>
          <a:lstStyle/>
          <a:p>
            <a:pPr algn="just">
              <a:lnSpc>
                <a:spcPts val="3442"/>
              </a:lnSpc>
            </a:pPr>
            <a:r>
              <a:rPr lang="en-US" sz="2550">
                <a:solidFill>
                  <a:srgbClr val="17212B"/>
                </a:solidFill>
                <a:latin typeface="Aptos"/>
                <a:ea typeface="Aptos"/>
                <a:cs typeface="Aptos"/>
                <a:sym typeface="Aptos"/>
              </a:rPr>
              <a:t>A leakage-safe pipeline was implemented, but the real dataset did not support reliable held-out generalization. Constraining the tree improved both test metrics.</a:t>
            </a:r>
          </a:p>
        </p:txBody>
      </p:sp>
      <p:sp>
        <p:nvSpPr>
          <p:cNvPr name="TextBox 14" id="14"/>
          <p:cNvSpPr txBox="true"/>
          <p:nvPr/>
        </p:nvSpPr>
        <p:spPr>
          <a:xfrm rot="0">
            <a:off x="10191750" y="1866900"/>
            <a:ext cx="6191250" cy="306705"/>
          </a:xfrm>
          <a:prstGeom prst="rect">
            <a:avLst/>
          </a:prstGeom>
        </p:spPr>
        <p:txBody>
          <a:bodyPr anchor="t" rtlCol="false" tIns="0" lIns="0" bIns="0" rIns="0">
            <a:spAutoFit/>
          </a:bodyPr>
          <a:lstStyle/>
          <a:p>
            <a:pPr algn="l">
              <a:lnSpc>
                <a:spcPts val="2520"/>
              </a:lnSpc>
            </a:pPr>
            <a:r>
              <a:rPr lang="en-US" sz="1800" spc="144" b="true">
                <a:solidFill>
                  <a:srgbClr val="2E7D32"/>
                </a:solidFill>
                <a:latin typeface="Aptos Bold"/>
                <a:ea typeface="Aptos Bold"/>
                <a:cs typeface="Aptos Bold"/>
                <a:sym typeface="Aptos Bold"/>
              </a:rPr>
              <a:t>FUTURE WORK</a:t>
            </a:r>
          </a:p>
        </p:txBody>
      </p:sp>
      <p:sp>
        <p:nvSpPr>
          <p:cNvPr name="TextBox 15" id="15"/>
          <p:cNvSpPr txBox="true"/>
          <p:nvPr/>
        </p:nvSpPr>
        <p:spPr>
          <a:xfrm rot="0">
            <a:off x="10191750" y="2676525"/>
            <a:ext cx="6191250" cy="4275772"/>
          </a:xfrm>
          <a:prstGeom prst="rect">
            <a:avLst/>
          </a:prstGeom>
        </p:spPr>
        <p:txBody>
          <a:bodyPr anchor="t" rtlCol="false" tIns="0" lIns="0" bIns="0" rIns="0">
            <a:spAutoFit/>
          </a:bodyPr>
          <a:lstStyle/>
          <a:p>
            <a:pPr algn="just">
              <a:lnSpc>
                <a:spcPts val="3442"/>
              </a:lnSpc>
            </a:pPr>
            <a:r>
              <a:rPr lang="en-US" sz="2550">
                <a:solidFill>
                  <a:srgbClr val="17212B"/>
                </a:solidFill>
                <a:latin typeface="Aptos"/>
                <a:ea typeface="Aptos"/>
                <a:cs typeface="Aptos"/>
                <a:sym typeface="Aptos"/>
              </a:rPr>
              <a:t>•Collect 300–500 genuine responses• Deploy the Streamlit prototype publicly to  accelerate data collection via SQLite</a:t>
            </a:r>
          </a:p>
          <a:p>
            <a:pPr algn="just">
              <a:lnSpc>
                <a:spcPts val="3442"/>
              </a:lnSpc>
            </a:pPr>
            <a:r>
              <a:rPr lang="en-US" sz="2550">
                <a:solidFill>
                  <a:srgbClr val="17212B"/>
                </a:solidFill>
                <a:latin typeface="Aptos"/>
                <a:ea typeface="Aptos"/>
                <a:cs typeface="Aptos"/>
                <a:sym typeface="Aptos"/>
              </a:rPr>
              <a:t>• Re-run the pipeline once sufficient real data  is collected</a:t>
            </a:r>
          </a:p>
          <a:p>
            <a:pPr algn="just">
              <a:lnSpc>
                <a:spcPts val="3442"/>
              </a:lnSpc>
            </a:pPr>
            <a:r>
              <a:rPr lang="en-US" sz="2550">
                <a:solidFill>
                  <a:srgbClr val="17212B"/>
                </a:solidFill>
                <a:latin typeface="Aptos"/>
                <a:ea typeface="Aptos"/>
                <a:cs typeface="Aptos"/>
                <a:sym typeface="Aptos"/>
              </a:rPr>
              <a:t>•Investigate feature reduction and regularization</a:t>
            </a:r>
          </a:p>
          <a:p>
            <a:pPr algn="just">
              <a:lnSpc>
                <a:spcPts val="3442"/>
              </a:lnSpc>
            </a:pPr>
            <a:r>
              <a:rPr lang="en-US" sz="2550">
                <a:solidFill>
                  <a:srgbClr val="17212B"/>
                </a:solidFill>
                <a:latin typeface="Aptos"/>
                <a:ea typeface="Aptos"/>
                <a:cs typeface="Aptos"/>
                <a:sym typeface="Aptos"/>
              </a:rPr>
              <a:t>•Perform external validation across institutions</a:t>
            </a:r>
          </a:p>
          <a:p>
            <a:pPr algn="just">
              <a:lnSpc>
                <a:spcPts val="3442"/>
              </a:lnSpc>
            </a:pPr>
          </a:p>
        </p:txBody>
      </p:sp>
      <p:sp>
        <p:nvSpPr>
          <p:cNvPr name="TextBox 16" id="16"/>
          <p:cNvSpPr txBox="true"/>
          <p:nvPr/>
        </p:nvSpPr>
        <p:spPr>
          <a:xfrm rot="0">
            <a:off x="914400" y="9734550"/>
            <a:ext cx="13811250" cy="232410"/>
          </a:xfrm>
          <a:prstGeom prst="rect">
            <a:avLst/>
          </a:prstGeom>
        </p:spPr>
        <p:txBody>
          <a:bodyPr anchor="t" rtlCol="false" tIns="0" lIns="0" bIns="0" rIns="0">
            <a:spAutoFit/>
          </a:bodyPr>
          <a:lstStyle/>
          <a:p>
            <a:pPr algn="l">
              <a:lnSpc>
                <a:spcPts val="1889"/>
              </a:lnSpc>
            </a:pPr>
            <a:r>
              <a:rPr lang="en-US" sz="1350" spc="108" b="true">
                <a:solidFill>
                  <a:srgbClr val="1F4E79"/>
                </a:solidFill>
                <a:latin typeface="Aptos Bold"/>
                <a:ea typeface="Aptos Bold"/>
                <a:cs typeface="Aptos Bold"/>
                <a:sym typeface="Aptos Bold"/>
              </a:rPr>
              <a:t>BCA FINAL-YEAR DEFENSE  •  XAVIER INTERNATIONAL COLLEGE</a:t>
            </a:r>
          </a:p>
        </p:txBody>
      </p:sp>
      <p:sp>
        <p:nvSpPr>
          <p:cNvPr name="TextBox 17" id="17"/>
          <p:cNvSpPr txBox="true"/>
          <p:nvPr/>
        </p:nvSpPr>
        <p:spPr>
          <a:xfrm rot="0">
            <a:off x="16478250" y="9734550"/>
            <a:ext cx="857250" cy="232410"/>
          </a:xfrm>
          <a:prstGeom prst="rect">
            <a:avLst/>
          </a:prstGeom>
        </p:spPr>
        <p:txBody>
          <a:bodyPr anchor="t" rtlCol="false" tIns="0" lIns="0" bIns="0" rIns="0">
            <a:spAutoFit/>
          </a:bodyPr>
          <a:lstStyle/>
          <a:p>
            <a:pPr algn="r">
              <a:lnSpc>
                <a:spcPts val="1889"/>
              </a:lnSpc>
            </a:pPr>
            <a:r>
              <a:rPr lang="en-US" b="true" sz="1350" spc="108">
                <a:solidFill>
                  <a:srgbClr val="1F4E79"/>
                </a:solidFill>
                <a:latin typeface="Aptos Bold"/>
                <a:ea typeface="Aptos Bold"/>
                <a:cs typeface="Aptos Bold"/>
                <a:sym typeface="Aptos Bold"/>
              </a:rPr>
              <a:t>16</a:t>
            </a:r>
          </a:p>
        </p:txBody>
      </p:sp>
      <p:sp>
        <p:nvSpPr>
          <p:cNvPr name="TextBox 18" id="18"/>
          <p:cNvSpPr txBox="true"/>
          <p:nvPr/>
        </p:nvSpPr>
        <p:spPr>
          <a:xfrm rot="0">
            <a:off x="1184540" y="4672513"/>
            <a:ext cx="6858000" cy="2301240"/>
          </a:xfrm>
          <a:prstGeom prst="rect">
            <a:avLst/>
          </a:prstGeom>
        </p:spPr>
        <p:txBody>
          <a:bodyPr anchor="t" rtlCol="false" tIns="0" lIns="0" bIns="0" rIns="0">
            <a:spAutoFit/>
          </a:bodyPr>
          <a:lstStyle/>
          <a:p>
            <a:pPr algn="l">
              <a:lnSpc>
                <a:spcPts val="2310"/>
              </a:lnSpc>
              <a:spcBef>
                <a:spcPct val="0"/>
              </a:spcBef>
            </a:pPr>
            <a:r>
              <a:rPr lang="en-US" b="true" sz="1650" spc="132">
                <a:solidFill>
                  <a:srgbClr val="000000"/>
                </a:solidFill>
                <a:latin typeface="Arimo Bold"/>
                <a:ea typeface="Arimo Bold"/>
                <a:cs typeface="Arimo Bold"/>
                <a:sym typeface="Arimo Bold"/>
              </a:rPr>
              <a:t>• End-to-end leakage-safe pipeline implemented</a:t>
            </a:r>
          </a:p>
          <a:p>
            <a:pPr algn="l">
              <a:lnSpc>
                <a:spcPts val="2310"/>
              </a:lnSpc>
              <a:spcBef>
                <a:spcPct val="0"/>
              </a:spcBef>
            </a:pPr>
            <a:r>
              <a:rPr lang="en-US" b="true" sz="1650" spc="132">
                <a:solidFill>
                  <a:srgbClr val="000000"/>
                </a:solidFill>
                <a:latin typeface="Arimo Bold"/>
                <a:ea typeface="Arimo Bold"/>
                <a:cs typeface="Arimo Bold"/>
                <a:sym typeface="Arimo Bold"/>
              </a:rPr>
              <a:t>• Real-data CV F1 = 0.562; held-out F1 = 0.267</a:t>
            </a:r>
          </a:p>
          <a:p>
            <a:pPr algn="l">
              <a:lnSpc>
                <a:spcPts val="2310"/>
              </a:lnSpc>
              <a:spcBef>
                <a:spcPct val="0"/>
              </a:spcBef>
            </a:pPr>
            <a:r>
              <a:rPr lang="en-US" b="true" sz="1650" spc="132">
                <a:solidFill>
                  <a:srgbClr val="000000"/>
                </a:solidFill>
                <a:latin typeface="Arimo Bold"/>
                <a:ea typeface="Arimo Bold"/>
                <a:cs typeface="Arimo Bold"/>
                <a:sym typeface="Arimo Bold"/>
              </a:rPr>
              <a:t>• Constrained tree (max_depth=3, min_samples_leaf=3)</a:t>
            </a:r>
          </a:p>
          <a:p>
            <a:pPr algn="l">
              <a:lnSpc>
                <a:spcPts val="2310"/>
              </a:lnSpc>
              <a:spcBef>
                <a:spcPct val="0"/>
              </a:spcBef>
            </a:pPr>
            <a:r>
              <a:rPr lang="en-US" b="true" sz="1650" spc="132">
                <a:solidFill>
                  <a:srgbClr val="000000"/>
                </a:solidFill>
                <a:latin typeface="Arimo Bold"/>
                <a:ea typeface="Arimo Bold"/>
                <a:cs typeface="Arimo Bold"/>
                <a:sym typeface="Arimo Bold"/>
              </a:rPr>
              <a:t>  improved held-out F1 to 0.357</a:t>
            </a:r>
          </a:p>
          <a:p>
            <a:pPr algn="l">
              <a:lnSpc>
                <a:spcPts val="2310"/>
              </a:lnSpc>
              <a:spcBef>
                <a:spcPct val="0"/>
              </a:spcBef>
            </a:pPr>
            <a:r>
              <a:rPr lang="en-US" b="true" sz="1650" spc="132">
                <a:solidFill>
                  <a:srgbClr val="000000"/>
                </a:solidFill>
                <a:latin typeface="Arimo Bold"/>
                <a:ea typeface="Arimo Bold"/>
                <a:cs typeface="Arimo Bold"/>
                <a:sym typeface="Arimo Bold"/>
              </a:rPr>
              <a:t>• Controlled synthetic experiment (n=1,000):</a:t>
            </a:r>
          </a:p>
          <a:p>
            <a:pPr algn="l">
              <a:lnSpc>
                <a:spcPts val="2310"/>
              </a:lnSpc>
              <a:spcBef>
                <a:spcPct val="0"/>
              </a:spcBef>
            </a:pPr>
            <a:r>
              <a:rPr lang="en-US" b="true" sz="1650" spc="132">
                <a:solidFill>
                  <a:srgbClr val="000000"/>
                </a:solidFill>
                <a:latin typeface="Arimo Bold"/>
                <a:ea typeface="Arimo Bold"/>
                <a:cs typeface="Arimo Bold"/>
                <a:sym typeface="Arimo Bold"/>
              </a:rPr>
              <a:t>  mean F1 = 0.701</a:t>
            </a:r>
          </a:p>
          <a:p>
            <a:pPr algn="l">
              <a:lnSpc>
                <a:spcPts val="2310"/>
              </a:lnSpc>
              <a:spcBef>
                <a:spcPct val="0"/>
              </a:spcBef>
            </a:pPr>
            <a:r>
              <a:rPr lang="en-US" b="true" sz="1650" spc="132">
                <a:solidFill>
                  <a:srgbClr val="000000"/>
                </a:solidFill>
                <a:latin typeface="Arimo Bold"/>
                <a:ea typeface="Arimo Bold"/>
                <a:cs typeface="Arimo Bold"/>
                <a:sym typeface="Arimo Bold"/>
              </a:rPr>
              <a:t>• Isolates sample size — not methodology — as</a:t>
            </a:r>
          </a:p>
          <a:p>
            <a:pPr algn="l">
              <a:lnSpc>
                <a:spcPts val="2310"/>
              </a:lnSpc>
              <a:spcBef>
                <a:spcPct val="0"/>
              </a:spcBef>
            </a:pPr>
            <a:r>
              <a:rPr lang="en-US" b="true" sz="1650" spc="132">
                <a:solidFill>
                  <a:srgbClr val="000000"/>
                </a:solidFill>
                <a:latin typeface="Arimo Bold"/>
                <a:ea typeface="Arimo Bold"/>
                <a:cs typeface="Arimo Bold"/>
                <a:sym typeface="Arimo Bold"/>
              </a:rPr>
              <a:t>  the primary constraint</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1F4E79"/>
        </a:solidFill>
      </p:bgPr>
    </p:bg>
    <p:spTree>
      <p:nvGrpSpPr>
        <p:cNvPr id="1" name=""/>
        <p:cNvGrpSpPr/>
        <p:nvPr/>
      </p:nvGrpSpPr>
      <p:grpSpPr>
        <a:xfrm>
          <a:off x="0" y="0"/>
          <a:ext cx="0" cy="0"/>
          <a:chOff x="0" y="0"/>
          <a:chExt cx="0" cy="0"/>
        </a:xfrm>
      </p:grpSpPr>
      <p:grpSp>
        <p:nvGrpSpPr>
          <p:cNvPr name="Group 2" id="2"/>
          <p:cNvGrpSpPr/>
          <p:nvPr/>
        </p:nvGrpSpPr>
        <p:grpSpPr>
          <a:xfrm rot="0">
            <a:off x="7429500" y="4762500"/>
            <a:ext cx="3429000" cy="76200"/>
            <a:chOff x="0" y="0"/>
            <a:chExt cx="4572000" cy="101600"/>
          </a:xfrm>
        </p:grpSpPr>
        <p:sp>
          <p:nvSpPr>
            <p:cNvPr name="Freeform 3" id="3"/>
            <p:cNvSpPr/>
            <p:nvPr/>
          </p:nvSpPr>
          <p:spPr>
            <a:xfrm flipH="false" flipV="false" rot="0">
              <a:off x="0" y="0"/>
              <a:ext cx="4572000" cy="101600"/>
            </a:xfrm>
            <a:custGeom>
              <a:avLst/>
              <a:gdLst/>
              <a:ahLst/>
              <a:cxnLst/>
              <a:rect r="r" b="b" t="t" l="l"/>
              <a:pathLst>
                <a:path h="101600" w="4572000">
                  <a:moveTo>
                    <a:pt x="0" y="0"/>
                  </a:moveTo>
                  <a:lnTo>
                    <a:pt x="4572000" y="0"/>
                  </a:lnTo>
                  <a:lnTo>
                    <a:pt x="4572000" y="101600"/>
                  </a:lnTo>
                  <a:lnTo>
                    <a:pt x="0" y="101600"/>
                  </a:lnTo>
                  <a:close/>
                </a:path>
              </a:pathLst>
            </a:custGeom>
            <a:solidFill>
              <a:srgbClr val="2E7D32"/>
            </a:solidFill>
            <a:ln cap="sq">
              <a:noFill/>
              <a:prstDash val="solid"/>
              <a:miter/>
            </a:ln>
          </p:spPr>
        </p:sp>
        <p:sp>
          <p:nvSpPr>
            <p:cNvPr name="TextBox 4" id="4"/>
            <p:cNvSpPr txBox="true"/>
            <p:nvPr/>
          </p:nvSpPr>
          <p:spPr>
            <a:xfrm>
              <a:off x="0" y="-38100"/>
              <a:ext cx="4572000" cy="1397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914400" y="1962150"/>
            <a:ext cx="16459200" cy="306705"/>
          </a:xfrm>
          <a:prstGeom prst="rect">
            <a:avLst/>
          </a:prstGeom>
        </p:spPr>
        <p:txBody>
          <a:bodyPr anchor="t" rtlCol="false" tIns="0" lIns="0" bIns="0" rIns="0">
            <a:spAutoFit/>
          </a:bodyPr>
          <a:lstStyle/>
          <a:p>
            <a:pPr algn="ctr">
              <a:lnSpc>
                <a:spcPts val="2520"/>
              </a:lnSpc>
            </a:pPr>
            <a:r>
              <a:rPr lang="en-US" b="true" sz="1800" spc="144">
                <a:solidFill>
                  <a:srgbClr val="B9D4EA"/>
                </a:solidFill>
                <a:latin typeface="Aptos Bold"/>
                <a:ea typeface="Aptos Bold"/>
                <a:cs typeface="Aptos Bold"/>
                <a:sym typeface="Aptos Bold"/>
              </a:rPr>
              <a:t>THANK YOU</a:t>
            </a:r>
          </a:p>
        </p:txBody>
      </p:sp>
      <p:sp>
        <p:nvSpPr>
          <p:cNvPr name="TextBox 6" id="6"/>
          <p:cNvSpPr txBox="true"/>
          <p:nvPr/>
        </p:nvSpPr>
        <p:spPr>
          <a:xfrm rot="0">
            <a:off x="1714500" y="3105150"/>
            <a:ext cx="14859000" cy="944880"/>
          </a:xfrm>
          <a:prstGeom prst="rect">
            <a:avLst/>
          </a:prstGeom>
        </p:spPr>
        <p:txBody>
          <a:bodyPr anchor="t" rtlCol="false" tIns="0" lIns="0" bIns="0" rIns="0">
            <a:spAutoFit/>
          </a:bodyPr>
          <a:lstStyle/>
          <a:p>
            <a:pPr algn="ctr">
              <a:lnSpc>
                <a:spcPts val="6930"/>
              </a:lnSpc>
            </a:pPr>
            <a:r>
              <a:rPr lang="en-US" sz="6600" b="true">
                <a:solidFill>
                  <a:srgbClr val="FFFFFF"/>
                </a:solidFill>
                <a:latin typeface="Arimo Bold"/>
                <a:ea typeface="Arimo Bold"/>
                <a:cs typeface="Arimo Bold"/>
                <a:sym typeface="Arimo Bold"/>
              </a:rPr>
              <a:t>Questions &amp; Discussion</a:t>
            </a:r>
          </a:p>
        </p:txBody>
      </p:sp>
      <p:sp>
        <p:nvSpPr>
          <p:cNvPr name="TextBox 7" id="7"/>
          <p:cNvSpPr txBox="true"/>
          <p:nvPr/>
        </p:nvSpPr>
        <p:spPr>
          <a:xfrm rot="0">
            <a:off x="2857500" y="5391150"/>
            <a:ext cx="12573000" cy="418147"/>
          </a:xfrm>
          <a:prstGeom prst="rect">
            <a:avLst/>
          </a:prstGeom>
        </p:spPr>
        <p:txBody>
          <a:bodyPr anchor="t" rtlCol="false" tIns="0" lIns="0" bIns="0" rIns="0">
            <a:spAutoFit/>
          </a:bodyPr>
          <a:lstStyle/>
          <a:p>
            <a:pPr algn="ctr">
              <a:lnSpc>
                <a:spcPts val="3442"/>
              </a:lnSpc>
            </a:pPr>
            <a:r>
              <a:rPr lang="en-US" sz="2550" b="true">
                <a:solidFill>
                  <a:srgbClr val="FFFFFF"/>
                </a:solidFill>
                <a:latin typeface="Aptos Bold"/>
                <a:ea typeface="Aptos Bold"/>
                <a:cs typeface="Aptos Bold"/>
                <a:sym typeface="Aptos Bold"/>
              </a:rPr>
              <a:t>Santosh Shrestha  •  Saroj Lamichhane</a:t>
            </a:r>
          </a:p>
        </p:txBody>
      </p:sp>
      <p:sp>
        <p:nvSpPr>
          <p:cNvPr name="TextBox 8" id="8"/>
          <p:cNvSpPr txBox="true"/>
          <p:nvPr/>
        </p:nvSpPr>
        <p:spPr>
          <a:xfrm rot="0">
            <a:off x="2857500" y="6257925"/>
            <a:ext cx="12573000" cy="658177"/>
          </a:xfrm>
          <a:prstGeom prst="rect">
            <a:avLst/>
          </a:prstGeom>
        </p:spPr>
        <p:txBody>
          <a:bodyPr anchor="t" rtlCol="false" tIns="0" lIns="0" bIns="0" rIns="0">
            <a:spAutoFit/>
          </a:bodyPr>
          <a:lstStyle/>
          <a:p>
            <a:pPr algn="ctr">
              <a:lnSpc>
                <a:spcPts val="2632"/>
              </a:lnSpc>
            </a:pPr>
            <a:r>
              <a:rPr lang="en-US" sz="1950">
                <a:solidFill>
                  <a:srgbClr val="DCE9F3"/>
                </a:solidFill>
                <a:latin typeface="Aptos"/>
                <a:ea typeface="Aptos"/>
                <a:cs typeface="Aptos"/>
                <a:sym typeface="Aptos"/>
              </a:rPr>
              <a:t>Supervisor: Sulav Shrestha</a:t>
            </a:r>
          </a:p>
          <a:p>
            <a:pPr algn="ctr">
              <a:lnSpc>
                <a:spcPts val="2632"/>
              </a:lnSpc>
            </a:pPr>
            <a:r>
              <a:rPr lang="en-US" sz="1950">
                <a:solidFill>
                  <a:srgbClr val="DCE9F3"/>
                </a:solidFill>
                <a:latin typeface="Aptos"/>
                <a:ea typeface="Aptos"/>
                <a:cs typeface="Aptos"/>
                <a:sym typeface="Aptos"/>
              </a:rPr>
              <a:t>Xavier International College, Tribhuvan University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DAHXQo0FQTA</dc:identifier>
  <dcterms:modified xsi:type="dcterms:W3CDTF">2011-08-01T06:04:30Z</dcterms:modified>
  <cp:revision>1</cp:revision>
  <dc:title>BCA Final-Year Defense</dc:title>
</cp:coreProperties>
</file>